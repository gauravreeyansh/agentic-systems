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</p:sldIdLst>
  <p:sldSz cy="6858000" cx="12191675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35" roundtripDataSignature="AMtx7mhTJpIH3rJI3mDIJjYWJpbC67+IH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FC9AE53D-8BBF-4BAA-92FD-234DDB861320}">
  <a:tblStyle styleId="{FC9AE53D-8BBF-4BAA-92FD-234DDB861320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11" Type="http://schemas.openxmlformats.org/officeDocument/2006/relationships/slide" Target="slides/slide5.xml"/><Relationship Id="rId33" Type="http://schemas.openxmlformats.org/officeDocument/2006/relationships/slide" Target="slides/slide27.xml"/><Relationship Id="rId10" Type="http://schemas.openxmlformats.org/officeDocument/2006/relationships/slide" Target="slides/slide4.xml"/><Relationship Id="rId32" Type="http://schemas.openxmlformats.org/officeDocument/2006/relationships/slide" Target="slides/slide26.xml"/><Relationship Id="rId13" Type="http://schemas.openxmlformats.org/officeDocument/2006/relationships/slide" Target="slides/slide7.xml"/><Relationship Id="rId35" Type="http://customschemas.google.com/relationships/presentationmetadata" Target="metadata"/><Relationship Id="rId12" Type="http://schemas.openxmlformats.org/officeDocument/2006/relationships/slide" Target="slides/slide6.xml"/><Relationship Id="rId34" Type="http://schemas.openxmlformats.org/officeDocument/2006/relationships/slide" Target="slides/slide28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3d1cd845773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" name="Google Shape;177;g3d1cd84577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1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1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1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2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p2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p2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p2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" name="Google Shape;267;p2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" name="Google Shape;273;p2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2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" name="Google Shape;289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9" name="Google Shape;299;p2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0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0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3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32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32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3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3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3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3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33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33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3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3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3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3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34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34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34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34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3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3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3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3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3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3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3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36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36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36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3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3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3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37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37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37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3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3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3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38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3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3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3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9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39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3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3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3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28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2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2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2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hyperlink" Target="http://linkedin.com/in/sakshamarora9575" TargetMode="Externa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hyperlink" Target="http://code.visualstudio.com/download" TargetMode="Externa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hyperlink" Target="http://python.org/downloads" TargetMode="Externa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1E2E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/>
          <p:nvPr/>
        </p:nvSpPr>
        <p:spPr>
          <a:xfrm>
            <a:off x="914400" y="1645920"/>
            <a:ext cx="1828800" cy="54864"/>
          </a:xfrm>
          <a:prstGeom prst="rect">
            <a:avLst/>
          </a:prstGeom>
          <a:solidFill>
            <a:srgbClr val="89B4F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"/>
          <p:cNvSpPr txBox="1"/>
          <p:nvPr/>
        </p:nvSpPr>
        <p:spPr>
          <a:xfrm>
            <a:off x="914400" y="1828800"/>
            <a:ext cx="100584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Introduction to Programming,</a:t>
            </a:r>
            <a:br>
              <a:rPr b="1" i="0" lang="en-US" sz="4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4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Python Basics &amp; Dev Environment Setup</a:t>
            </a:r>
            <a:endParaRPr/>
          </a:p>
        </p:txBody>
      </p:sp>
      <p:sp>
        <p:nvSpPr>
          <p:cNvPr id="86" name="Google Shape;86;p1"/>
          <p:cNvSpPr txBox="1"/>
          <p:nvPr/>
        </p:nvSpPr>
        <p:spPr>
          <a:xfrm>
            <a:off x="914400" y="3657600"/>
            <a:ext cx="100584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00" u="none" cap="none" strike="noStrike">
                <a:solidFill>
                  <a:srgbClr val="89B4FA"/>
                </a:solidFill>
                <a:latin typeface="Calibri"/>
                <a:ea typeface="Calibri"/>
                <a:cs typeface="Calibri"/>
                <a:sym typeface="Calibri"/>
              </a:rPr>
              <a:t>Session 01</a:t>
            </a:r>
            <a:endParaRPr/>
          </a:p>
        </p:txBody>
      </p:sp>
      <p:sp>
        <p:nvSpPr>
          <p:cNvPr id="87" name="Google Shape;87;p1"/>
          <p:cNvSpPr txBox="1"/>
          <p:nvPr/>
        </p:nvSpPr>
        <p:spPr>
          <a:xfrm>
            <a:off x="914400" y="4754880"/>
            <a:ext cx="10058400" cy="8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Saksham Arora</a:t>
            </a:r>
            <a:br>
              <a:rPr b="1" i="0" lang="en-US" sz="16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16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Software Engineer 2 @ Intuit  |  Ex - Microsoft  |  2x Intern @ Microsoft + 1x Intern @ Amazon</a:t>
            </a:r>
            <a:br>
              <a:rPr b="1" i="0" lang="en-US" sz="16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1600" u="sng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linkedin.com/in/sakshamarora9575</a:t>
            </a:r>
            <a:r>
              <a:rPr b="1" i="0" lang="en-US" sz="1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1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1E2E"/>
        </a:solidFill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"/>
          <p:cNvSpPr txBox="1"/>
          <p:nvPr/>
        </p:nvSpPr>
        <p:spPr>
          <a:xfrm>
            <a:off x="731520" y="457200"/>
            <a:ext cx="10058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89B4FA"/>
                </a:solidFill>
                <a:latin typeface="Calibri"/>
                <a:ea typeface="Calibri"/>
                <a:cs typeface="Calibri"/>
                <a:sym typeface="Calibri"/>
              </a:rPr>
              <a:t>Session Objective</a:t>
            </a:r>
            <a:endParaRPr/>
          </a:p>
        </p:txBody>
      </p:sp>
      <p:sp>
        <p:nvSpPr>
          <p:cNvPr id="93" name="Google Shape;93;p2"/>
          <p:cNvSpPr txBox="1"/>
          <p:nvPr/>
        </p:nvSpPr>
        <p:spPr>
          <a:xfrm>
            <a:off x="731520" y="1645920"/>
            <a:ext cx="10058400" cy="3657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✦  Configuring a professional local development environment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2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✦  Navigating the terminal confidently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2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✦  Executing your first Python script</a:t>
            </a:r>
            <a:endParaRPr/>
          </a:p>
        </p:txBody>
      </p:sp>
      <p:sp>
        <p:nvSpPr>
          <p:cNvPr id="94" name="Google Shape;94;p2"/>
          <p:cNvSpPr txBox="1"/>
          <p:nvPr/>
        </p:nvSpPr>
        <p:spPr>
          <a:xfrm>
            <a:off x="731520" y="3840480"/>
            <a:ext cx="100584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A6E3A1"/>
                </a:solidFill>
                <a:latin typeface="Calibri"/>
                <a:ea typeface="Calibri"/>
                <a:cs typeface="Calibri"/>
                <a:sym typeface="Calibri"/>
              </a:rPr>
              <a:t>Agenda</a:t>
            </a:r>
            <a:endParaRPr/>
          </a:p>
        </p:txBody>
      </p:sp>
      <p:sp>
        <p:nvSpPr>
          <p:cNvPr id="95" name="Google Shape;95;p2"/>
          <p:cNvSpPr txBox="1"/>
          <p:nvPr/>
        </p:nvSpPr>
        <p:spPr>
          <a:xfrm>
            <a:off x="731520" y="4754880"/>
            <a:ext cx="1005840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1.  Python Setup – Installing Python, VS Code, Terminal basics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2.  Core Fundamentals – Variables, Data Types, Operators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4243A"/>
        </a:solidFill>
      </p:bgPr>
    </p:bg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3"/>
          <p:cNvSpPr/>
          <p:nvPr/>
        </p:nvSpPr>
        <p:spPr>
          <a:xfrm>
            <a:off x="0" y="2926080"/>
            <a:ext cx="137160" cy="1005840"/>
          </a:xfrm>
          <a:prstGeom prst="rect">
            <a:avLst/>
          </a:prstGeom>
          <a:solidFill>
            <a:srgbClr val="89B4F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3"/>
          <p:cNvSpPr txBox="1"/>
          <p:nvPr/>
        </p:nvSpPr>
        <p:spPr>
          <a:xfrm>
            <a:off x="731520" y="2286000"/>
            <a:ext cx="100584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Development Environment Setup</a:t>
            </a:r>
            <a:endParaRPr/>
          </a:p>
        </p:txBody>
      </p:sp>
      <p:sp>
        <p:nvSpPr>
          <p:cNvPr id="102" name="Google Shape;102;p3"/>
          <p:cNvSpPr txBox="1"/>
          <p:nvPr/>
        </p:nvSpPr>
        <p:spPr>
          <a:xfrm>
            <a:off x="731520" y="3840480"/>
            <a:ext cx="10058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Installing VS Code • Installing Python • Terminal Basics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1E2E"/>
        </a:solidFill>
      </p:bgPr>
    </p:bg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"/>
          <p:cNvSpPr txBox="1"/>
          <p:nvPr/>
        </p:nvSpPr>
        <p:spPr>
          <a:xfrm>
            <a:off x="731520" y="457200"/>
            <a:ext cx="10058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89B4FA"/>
                </a:solidFill>
                <a:latin typeface="Calibri"/>
                <a:ea typeface="Calibri"/>
                <a:cs typeface="Calibri"/>
                <a:sym typeface="Calibri"/>
              </a:rPr>
              <a:t>Installing VS Code</a:t>
            </a:r>
            <a:endParaRPr/>
          </a:p>
        </p:txBody>
      </p:sp>
      <p:sp>
        <p:nvSpPr>
          <p:cNvPr id="108" name="Google Shape;108;p4"/>
          <p:cNvSpPr txBox="1"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Visual Studio Code – a free code editor used by developers worldwide.</a:t>
            </a:r>
            <a:br>
              <a:rPr b="0" i="0" lang="en-US" sz="20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20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Think of it like Microsoft Word, but for writing code.</a:t>
            </a:r>
            <a:endParaRPr/>
          </a:p>
        </p:txBody>
      </p:sp>
      <p:sp>
        <p:nvSpPr>
          <p:cNvPr id="109" name="Google Shape;109;p4"/>
          <p:cNvSpPr txBox="1"/>
          <p:nvPr/>
        </p:nvSpPr>
        <p:spPr>
          <a:xfrm>
            <a:off x="731520" y="2560320"/>
            <a:ext cx="10058400" cy="131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✦  Download: </a:t>
            </a:r>
            <a:r>
              <a:rPr b="0" i="0" lang="en-US" sz="2200" u="sng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code.visualstudio.com/download</a:t>
            </a:r>
            <a:r>
              <a:rPr b="0" i="0" lang="en-US" sz="2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>
              <a:solidFill>
                <a:schemeClr val="lt1"/>
              </a:solidFill>
            </a:endParaRPr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✦  Select installer for your OS (Windows / macOS / Linux)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✦  Run installer and follow the steps</a:t>
            </a:r>
            <a:endParaRPr/>
          </a:p>
        </p:txBody>
      </p:sp>
      <p:sp>
        <p:nvSpPr>
          <p:cNvPr id="110" name="Google Shape;110;p4"/>
          <p:cNvSpPr txBox="1"/>
          <p:nvPr/>
        </p:nvSpPr>
        <p:spPr>
          <a:xfrm>
            <a:off x="731520" y="4389120"/>
            <a:ext cx="100584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F9E2AF"/>
                </a:solidFill>
                <a:latin typeface="Calibri"/>
                <a:ea typeface="Calibri"/>
                <a:cs typeface="Calibri"/>
                <a:sym typeface="Calibri"/>
              </a:rPr>
              <a:t>Important Installation Options:</a:t>
            </a:r>
            <a:endParaRPr/>
          </a:p>
        </p:txBody>
      </p:sp>
      <p:graphicFrame>
        <p:nvGraphicFramePr>
          <p:cNvPr id="111" name="Google Shape;111;p4"/>
          <p:cNvGraphicFramePr/>
          <p:nvPr/>
        </p:nvGraphicFramePr>
        <p:xfrm>
          <a:off x="731520" y="50292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{FC9AE53D-8BBF-4BAA-92FD-234DDB861320}</a:tableStyleId>
              </a:tblPr>
              <a:tblGrid>
                <a:gridCol w="5029200"/>
                <a:gridCol w="5029200"/>
              </a:tblGrid>
              <a:tr h="500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 u="none" cap="none" strike="noStrike">
                          <a:solidFill>
                            <a:srgbClr val="1E1E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Option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89B4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 u="none" cap="none" strike="noStrike">
                          <a:solidFill>
                            <a:srgbClr val="1E1E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What it does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89B4FA"/>
                    </a:solidFill>
                  </a:tcPr>
                </a:tc>
              </a:tr>
              <a:tr h="500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CDD6F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Add "Open with Code" action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24243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CDD6F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Right-click any folder → open in VS Code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24243A"/>
                    </a:solidFill>
                  </a:tcPr>
                </a:tc>
              </a:tr>
              <a:tr h="500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CDD6F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Enable Auto Save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24243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CDD6F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File → Auto Save — code saves automatically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24243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1E2E"/>
        </a:solidFill>
      </p:bgPr>
    </p:bg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5"/>
          <p:cNvSpPr txBox="1"/>
          <p:nvPr/>
        </p:nvSpPr>
        <p:spPr>
          <a:xfrm>
            <a:off x="731520" y="457200"/>
            <a:ext cx="10058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89B4FA"/>
                </a:solidFill>
                <a:latin typeface="Calibri"/>
                <a:ea typeface="Calibri"/>
                <a:cs typeface="Calibri"/>
                <a:sym typeface="Calibri"/>
              </a:rPr>
              <a:t>Installing Python</a:t>
            </a:r>
            <a:endParaRPr/>
          </a:p>
        </p:txBody>
      </p:sp>
      <p:sp>
        <p:nvSpPr>
          <p:cNvPr id="117" name="Google Shape;117;p5"/>
          <p:cNvSpPr txBox="1"/>
          <p:nvPr/>
        </p:nvSpPr>
        <p:spPr>
          <a:xfrm>
            <a:off x="731520" y="1371600"/>
            <a:ext cx="10058400" cy="131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✦  Download: </a:t>
            </a:r>
            <a:r>
              <a:rPr b="0" i="0" lang="en-US" sz="2200" u="sng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python.org/downloads</a:t>
            </a:r>
            <a:r>
              <a:rPr b="0" i="0" lang="en-US" sz="2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>
              <a:solidFill>
                <a:schemeClr val="lt1"/>
              </a:solidFill>
            </a:endParaRPr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✦  Download latest stable version (e.g. Python 3.12 or 3.13)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✦  Run the installer</a:t>
            </a:r>
            <a:endParaRPr/>
          </a:p>
        </p:txBody>
      </p:sp>
      <p:sp>
        <p:nvSpPr>
          <p:cNvPr id="118" name="Google Shape;118;p5"/>
          <p:cNvSpPr/>
          <p:nvPr/>
        </p:nvSpPr>
        <p:spPr>
          <a:xfrm>
            <a:off x="731520" y="3200400"/>
            <a:ext cx="10058400" cy="1097280"/>
          </a:xfrm>
          <a:prstGeom prst="roundRect">
            <a:avLst>
              <a:gd fmla="val 16667" name="adj"/>
            </a:avLst>
          </a:prstGeom>
          <a:solidFill>
            <a:srgbClr val="452727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203200" spcFirstLastPara="1" rIns="91425" wrap="square" tIns="127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FAB387"/>
                </a:solidFill>
                <a:latin typeface="Calibri"/>
                <a:ea typeface="Calibri"/>
                <a:cs typeface="Calibri"/>
                <a:sym typeface="Calibri"/>
              </a:rPr>
              <a:t>⚠  CRITICAL: Check "Add Python to PATH" during installation!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Without this, you'll get errors when running Python from terminal.</a:t>
            </a:r>
            <a:endParaRPr/>
          </a:p>
        </p:txBody>
      </p:sp>
      <p:sp>
        <p:nvSpPr>
          <p:cNvPr id="119" name="Google Shape;119;p5"/>
          <p:cNvSpPr txBox="1"/>
          <p:nvPr/>
        </p:nvSpPr>
        <p:spPr>
          <a:xfrm>
            <a:off x="731520" y="4572000"/>
            <a:ext cx="100584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A6E3A1"/>
                </a:solidFill>
                <a:latin typeface="Calibri"/>
                <a:ea typeface="Calibri"/>
                <a:cs typeface="Calibri"/>
                <a:sym typeface="Calibri"/>
              </a:rPr>
              <a:t>Verify Installation:</a:t>
            </a:r>
            <a:endParaRPr/>
          </a:p>
        </p:txBody>
      </p:sp>
      <p:sp>
        <p:nvSpPr>
          <p:cNvPr id="120" name="Google Shape;120;p5"/>
          <p:cNvSpPr/>
          <p:nvPr/>
        </p:nvSpPr>
        <p:spPr>
          <a:xfrm>
            <a:off x="731520" y="5120640"/>
            <a:ext cx="5486400" cy="731520"/>
          </a:xfrm>
          <a:prstGeom prst="roundRect">
            <a:avLst>
              <a:gd fmla="val 16667" name="adj"/>
            </a:avLst>
          </a:prstGeom>
          <a:solidFill>
            <a:srgbClr val="313244"/>
          </a:solidFill>
          <a:ln>
            <a:noFill/>
          </a:ln>
        </p:spPr>
        <p:txBody>
          <a:bodyPr anchorCtr="0" anchor="ctr" bIns="152400" lIns="203200" spcFirstLastPara="1" rIns="203200" wrap="square" tIns="152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python3 --version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# Expected: Python 3.12.0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1E2E"/>
        </a:solidFill>
      </p:bgPr>
    </p:bg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6"/>
          <p:cNvSpPr txBox="1"/>
          <p:nvPr/>
        </p:nvSpPr>
        <p:spPr>
          <a:xfrm>
            <a:off x="731520" y="457200"/>
            <a:ext cx="10058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89B4FA"/>
                </a:solidFill>
                <a:latin typeface="Calibri"/>
                <a:ea typeface="Calibri"/>
                <a:cs typeface="Calibri"/>
                <a:sym typeface="Calibri"/>
              </a:rPr>
              <a:t>Working with the Terminal</a:t>
            </a:r>
            <a:endParaRPr/>
          </a:p>
        </p:txBody>
      </p:sp>
      <p:sp>
        <p:nvSpPr>
          <p:cNvPr id="126" name="Google Shape;126;p6"/>
          <p:cNvSpPr txBox="1"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The terminal (command line) is a window where you type text commands</a:t>
            </a:r>
            <a:br>
              <a:rPr b="0" i="0" lang="en-US" sz="20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20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instead of clicking buttons. It's like having a conversation with your computer.</a:t>
            </a:r>
            <a:endParaRPr/>
          </a:p>
        </p:txBody>
      </p:sp>
      <p:sp>
        <p:nvSpPr>
          <p:cNvPr id="127" name="Google Shape;127;p6"/>
          <p:cNvSpPr txBox="1"/>
          <p:nvPr/>
        </p:nvSpPr>
        <p:spPr>
          <a:xfrm>
            <a:off x="731520" y="2560320"/>
            <a:ext cx="45720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A6E3A1"/>
                </a:solidFill>
                <a:latin typeface="Calibri"/>
                <a:ea typeface="Calibri"/>
                <a:cs typeface="Calibri"/>
                <a:sym typeface="Calibri"/>
              </a:rPr>
              <a:t>Why Do We Need It?</a:t>
            </a:r>
            <a:endParaRPr/>
          </a:p>
        </p:txBody>
      </p:sp>
      <p:sp>
        <p:nvSpPr>
          <p:cNvPr id="128" name="Google Shape;128;p6"/>
          <p:cNvSpPr txBox="1"/>
          <p:nvPr/>
        </p:nvSpPr>
        <p:spPr>
          <a:xfrm>
            <a:off x="731520" y="3108960"/>
            <a:ext cx="457200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✦  Run Python programs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✦  Install packages and tools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✦  Used daily by professionals</a:t>
            </a:r>
            <a:endParaRPr/>
          </a:p>
        </p:txBody>
      </p:sp>
      <p:sp>
        <p:nvSpPr>
          <p:cNvPr id="129" name="Google Shape;129;p6"/>
          <p:cNvSpPr txBox="1"/>
          <p:nvPr/>
        </p:nvSpPr>
        <p:spPr>
          <a:xfrm>
            <a:off x="5943600" y="2560320"/>
            <a:ext cx="54864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F9E2AF"/>
                </a:solidFill>
                <a:latin typeface="Calibri"/>
                <a:ea typeface="Calibri"/>
                <a:cs typeface="Calibri"/>
                <a:sym typeface="Calibri"/>
              </a:rPr>
              <a:t>What happens when you run python3 index.py?</a:t>
            </a:r>
            <a:endParaRPr/>
          </a:p>
        </p:txBody>
      </p:sp>
      <p:sp>
        <p:nvSpPr>
          <p:cNvPr id="130" name="Google Shape;130;p6"/>
          <p:cNvSpPr txBox="1"/>
          <p:nvPr/>
        </p:nvSpPr>
        <p:spPr>
          <a:xfrm>
            <a:off x="5943600" y="3108960"/>
            <a:ext cx="5486400" cy="274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1.  Finds Python on your computer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2.  Opens your file index.py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3.  Runs the code line by line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4.  Shows output on screen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1E2E"/>
        </a:solidFill>
      </p:bgPr>
    </p:bg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7"/>
          <p:cNvSpPr txBox="1"/>
          <p:nvPr/>
        </p:nvSpPr>
        <p:spPr>
          <a:xfrm>
            <a:off x="731520" y="457200"/>
            <a:ext cx="10058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89B4FA"/>
                </a:solidFill>
                <a:latin typeface="Calibri"/>
                <a:ea typeface="Calibri"/>
                <a:cs typeface="Calibri"/>
                <a:sym typeface="Calibri"/>
              </a:rPr>
              <a:t>Your First Python Program</a:t>
            </a:r>
            <a:endParaRPr/>
          </a:p>
        </p:txBody>
      </p:sp>
      <p:sp>
        <p:nvSpPr>
          <p:cNvPr id="136" name="Google Shape;136;p7"/>
          <p:cNvSpPr txBox="1"/>
          <p:nvPr/>
        </p:nvSpPr>
        <p:spPr>
          <a:xfrm>
            <a:off x="731520" y="1463040"/>
            <a:ext cx="5486400" cy="3657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Step 1:  Open VS Code → create a new file → save as index.py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Step 2:  Type the code shown on the right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Step 3:  Save the file (or rely on Auto Save)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Step 4:  Open Terminal → New Terminal  (Ctrl+` or Cmd+`)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Step 5:  Run: python3 index.py</a:t>
            </a:r>
            <a:endParaRPr/>
          </a:p>
        </p:txBody>
      </p:sp>
      <p:sp>
        <p:nvSpPr>
          <p:cNvPr id="137" name="Google Shape;137;p7"/>
          <p:cNvSpPr/>
          <p:nvPr/>
        </p:nvSpPr>
        <p:spPr>
          <a:xfrm>
            <a:off x="6858000" y="1463040"/>
            <a:ext cx="4572000" cy="1097280"/>
          </a:xfrm>
          <a:prstGeom prst="roundRect">
            <a:avLst>
              <a:gd fmla="val 16667" name="adj"/>
            </a:avLst>
          </a:prstGeom>
          <a:solidFill>
            <a:srgbClr val="313244"/>
          </a:solidFill>
          <a:ln>
            <a:noFill/>
          </a:ln>
        </p:spPr>
        <p:txBody>
          <a:bodyPr anchorCtr="0" anchor="ctr" bIns="152400" lIns="203200" spcFirstLastPara="1" rIns="203200" wrap="square" tIns="152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print("Hello, World!")</a:t>
            </a:r>
            <a:endParaRPr/>
          </a:p>
        </p:txBody>
      </p:sp>
      <p:sp>
        <p:nvSpPr>
          <p:cNvPr id="138" name="Google Shape;138;p7"/>
          <p:cNvSpPr txBox="1"/>
          <p:nvPr/>
        </p:nvSpPr>
        <p:spPr>
          <a:xfrm>
            <a:off x="6858000" y="2926080"/>
            <a:ext cx="45720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A6E3A1"/>
                </a:solidFill>
                <a:latin typeface="Calibri"/>
                <a:ea typeface="Calibri"/>
                <a:cs typeface="Calibri"/>
                <a:sym typeface="Calibri"/>
              </a:rPr>
              <a:t>Output:</a:t>
            </a:r>
            <a:endParaRPr/>
          </a:p>
        </p:txBody>
      </p:sp>
      <p:sp>
        <p:nvSpPr>
          <p:cNvPr id="139" name="Google Shape;139;p7"/>
          <p:cNvSpPr/>
          <p:nvPr/>
        </p:nvSpPr>
        <p:spPr>
          <a:xfrm>
            <a:off x="6858000" y="3474720"/>
            <a:ext cx="4572000" cy="731520"/>
          </a:xfrm>
          <a:prstGeom prst="roundRect">
            <a:avLst>
              <a:gd fmla="val 16667" name="adj"/>
            </a:avLst>
          </a:prstGeom>
          <a:solidFill>
            <a:srgbClr val="313244"/>
          </a:solidFill>
          <a:ln>
            <a:noFill/>
          </a:ln>
        </p:spPr>
        <p:txBody>
          <a:bodyPr anchorCtr="0" anchor="ctr" bIns="152400" lIns="203200" spcFirstLastPara="1" rIns="203200" wrap="square" tIns="152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Hello, World!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1E2E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8"/>
          <p:cNvSpPr txBox="1"/>
          <p:nvPr/>
        </p:nvSpPr>
        <p:spPr>
          <a:xfrm>
            <a:off x="731520" y="457200"/>
            <a:ext cx="10058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89B4FA"/>
                </a:solidFill>
                <a:latin typeface="Calibri"/>
                <a:ea typeface="Calibri"/>
                <a:cs typeface="Calibri"/>
                <a:sym typeface="Calibri"/>
              </a:rPr>
              <a:t>Terminal: Do's and Don'ts</a:t>
            </a:r>
            <a:endParaRPr/>
          </a:p>
        </p:txBody>
      </p:sp>
      <p:sp>
        <p:nvSpPr>
          <p:cNvPr id="145" name="Google Shape;145;p8"/>
          <p:cNvSpPr txBox="1"/>
          <p:nvPr/>
        </p:nvSpPr>
        <p:spPr>
          <a:xfrm>
            <a:off x="731520" y="1371600"/>
            <a:ext cx="50292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 u="none" cap="none" strike="noStrike">
                <a:solidFill>
                  <a:srgbClr val="A6E3A1"/>
                </a:solidFill>
                <a:latin typeface="Calibri"/>
                <a:ea typeface="Calibri"/>
                <a:cs typeface="Calibri"/>
                <a:sym typeface="Calibri"/>
              </a:rPr>
              <a:t>Do's ✓</a:t>
            </a:r>
            <a:endParaRPr/>
          </a:p>
        </p:txBody>
      </p:sp>
      <p:sp>
        <p:nvSpPr>
          <p:cNvPr id="146" name="Google Shape;146;p8"/>
          <p:cNvSpPr txBox="1"/>
          <p:nvPr/>
        </p:nvSpPr>
        <p:spPr>
          <a:xfrm>
            <a:off x="731520" y="2011680"/>
            <a:ext cx="5029200" cy="3657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✦  Make sure terminal is in the right folder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✦  Use cd to move to your project folder first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✦  Open VS Code from the project folder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✦  Check the path shown in terminal</a:t>
            </a:r>
            <a:endParaRPr/>
          </a:p>
        </p:txBody>
      </p:sp>
      <p:sp>
        <p:nvSpPr>
          <p:cNvPr id="147" name="Google Shape;147;p8"/>
          <p:cNvSpPr txBox="1"/>
          <p:nvPr/>
        </p:nvSpPr>
        <p:spPr>
          <a:xfrm>
            <a:off x="6400800" y="1371600"/>
            <a:ext cx="50292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 u="none" cap="none" strike="noStrike">
                <a:solidFill>
                  <a:srgbClr val="FAB387"/>
                </a:solidFill>
                <a:latin typeface="Calibri"/>
                <a:ea typeface="Calibri"/>
                <a:cs typeface="Calibri"/>
                <a:sym typeface="Calibri"/>
              </a:rPr>
              <a:t>Don'ts ✗</a:t>
            </a:r>
            <a:endParaRPr/>
          </a:p>
        </p:txBody>
      </p:sp>
      <p:sp>
        <p:nvSpPr>
          <p:cNvPr id="148" name="Google Shape;148;p8"/>
          <p:cNvSpPr txBox="1"/>
          <p:nvPr/>
        </p:nvSpPr>
        <p:spPr>
          <a:xfrm>
            <a:off x="6400800" y="2011680"/>
            <a:ext cx="5029200" cy="3657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✗  Don't run python3 index.py from wrong folder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✗  Don't forget to save before running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✗  Don't use spaces in file names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✗  Don't mix up python and python3</a:t>
            </a:r>
            <a:endParaRPr/>
          </a:p>
        </p:txBody>
      </p:sp>
      <p:sp>
        <p:nvSpPr>
          <p:cNvPr id="149" name="Google Shape;149;p8"/>
          <p:cNvSpPr/>
          <p:nvPr/>
        </p:nvSpPr>
        <p:spPr>
          <a:xfrm>
            <a:off x="731520" y="4572000"/>
            <a:ext cx="10515600" cy="1828800"/>
          </a:xfrm>
          <a:prstGeom prst="roundRect">
            <a:avLst>
              <a:gd fmla="val 16667" name="adj"/>
            </a:avLst>
          </a:prstGeom>
          <a:solidFill>
            <a:srgbClr val="313244"/>
          </a:solidFill>
          <a:ln>
            <a:noFill/>
          </a:ln>
        </p:spPr>
        <p:txBody>
          <a:bodyPr anchorCtr="0" anchor="ctr" bIns="152400" lIns="203200" spcFirstLastPara="1" rIns="203200" wrap="square" tIns="152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# Wrong folder: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$ python3 index.py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python3: can't open file 'index.py': No such file or directory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500" u="none" cap="none" strike="noStrike">
              <a:solidFill>
                <a:srgbClr val="A6E3A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# Fix: Navigate first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$ cd Desktop/myproject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$ python3 index.py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Hello, World!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4243A"/>
        </a:solidFill>
      </p:bgPr>
    </p:bg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9"/>
          <p:cNvSpPr/>
          <p:nvPr/>
        </p:nvSpPr>
        <p:spPr>
          <a:xfrm>
            <a:off x="0" y="2926080"/>
            <a:ext cx="137160" cy="1005840"/>
          </a:xfrm>
          <a:prstGeom prst="rect">
            <a:avLst/>
          </a:prstGeom>
          <a:solidFill>
            <a:srgbClr val="89B4F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9"/>
          <p:cNvSpPr txBox="1"/>
          <p:nvPr/>
        </p:nvSpPr>
        <p:spPr>
          <a:xfrm>
            <a:off x="731520" y="2286000"/>
            <a:ext cx="100584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Understanding Syntax</a:t>
            </a:r>
            <a:endParaRPr/>
          </a:p>
        </p:txBody>
      </p:sp>
      <p:sp>
        <p:nvSpPr>
          <p:cNvPr id="156" name="Google Shape;156;p9"/>
          <p:cNvSpPr txBox="1"/>
          <p:nvPr/>
        </p:nvSpPr>
        <p:spPr>
          <a:xfrm>
            <a:off x="731520" y="3840480"/>
            <a:ext cx="10058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Rules for writing code • Common errors • Good vs Bad examples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4243A"/>
        </a:solidFill>
      </p:bgPr>
    </p:bg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11"/>
          <p:cNvSpPr/>
          <p:nvPr/>
        </p:nvSpPr>
        <p:spPr>
          <a:xfrm>
            <a:off x="0" y="2926080"/>
            <a:ext cx="137160" cy="1005840"/>
          </a:xfrm>
          <a:prstGeom prst="rect">
            <a:avLst/>
          </a:prstGeom>
          <a:solidFill>
            <a:srgbClr val="89B4F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11"/>
          <p:cNvSpPr txBox="1"/>
          <p:nvPr/>
        </p:nvSpPr>
        <p:spPr>
          <a:xfrm>
            <a:off x="731520" y="2286000"/>
            <a:ext cx="100584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Variables</a:t>
            </a:r>
            <a:endParaRPr/>
          </a:p>
        </p:txBody>
      </p:sp>
      <p:sp>
        <p:nvSpPr>
          <p:cNvPr id="163" name="Google Shape;163;p11"/>
          <p:cNvSpPr txBox="1"/>
          <p:nvPr/>
        </p:nvSpPr>
        <p:spPr>
          <a:xfrm>
            <a:off x="731520" y="3840480"/>
            <a:ext cx="10058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Named containers for storing values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1E2E"/>
        </a:solidFill>
      </p:bgPr>
    </p:bg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2"/>
          <p:cNvSpPr txBox="1"/>
          <p:nvPr/>
        </p:nvSpPr>
        <p:spPr>
          <a:xfrm>
            <a:off x="731520" y="457200"/>
            <a:ext cx="10058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89B4FA"/>
                </a:solidFill>
                <a:latin typeface="Calibri"/>
                <a:ea typeface="Calibri"/>
                <a:cs typeface="Calibri"/>
                <a:sym typeface="Calibri"/>
              </a:rPr>
              <a:t>Variables</a:t>
            </a:r>
            <a:endParaRPr/>
          </a:p>
        </p:txBody>
      </p:sp>
      <p:sp>
        <p:nvSpPr>
          <p:cNvPr id="169" name="Google Shape;169;p12"/>
          <p:cNvSpPr txBox="1"/>
          <p:nvPr/>
        </p:nvSpPr>
        <p:spPr>
          <a:xfrm>
            <a:off x="731520" y="1188720"/>
            <a:ext cx="100584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A variable is a named container that stores a value.</a:t>
            </a:r>
            <a:br>
              <a:rPr b="0" i="0" lang="en-US" sz="20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20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Think of it like a locker: the name is the label, the contents are the value.</a:t>
            </a:r>
            <a:endParaRPr/>
          </a:p>
        </p:txBody>
      </p:sp>
      <p:sp>
        <p:nvSpPr>
          <p:cNvPr id="170" name="Google Shape;170;p12"/>
          <p:cNvSpPr/>
          <p:nvPr/>
        </p:nvSpPr>
        <p:spPr>
          <a:xfrm>
            <a:off x="731525" y="2286000"/>
            <a:ext cx="5157000" cy="2050200"/>
          </a:xfrm>
          <a:prstGeom prst="roundRect">
            <a:avLst>
              <a:gd fmla="val 16667" name="adj"/>
            </a:avLst>
          </a:prstGeom>
          <a:solidFill>
            <a:srgbClr val="313244"/>
          </a:solidFill>
          <a:ln>
            <a:noFill/>
          </a:ln>
        </p:spPr>
        <p:txBody>
          <a:bodyPr anchorCtr="0" anchor="ctr" bIns="152400" lIns="203200" spcFirstLastPara="1" rIns="203200" wrap="square" tIns="152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score = 100        # Assignment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name = "Alice"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age = 25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700" u="none" cap="none" strike="noStrike">
              <a:solidFill>
                <a:srgbClr val="A6E3A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# Read as: "score is assigned 100"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# Variable on LEFT, value on RIGHT</a:t>
            </a:r>
            <a:endParaRPr/>
          </a:p>
        </p:txBody>
      </p:sp>
      <p:sp>
        <p:nvSpPr>
          <p:cNvPr id="171" name="Google Shape;171;p12"/>
          <p:cNvSpPr txBox="1"/>
          <p:nvPr/>
        </p:nvSpPr>
        <p:spPr>
          <a:xfrm>
            <a:off x="6400800" y="2286000"/>
            <a:ext cx="5029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A6E3A1"/>
                </a:solidFill>
                <a:latin typeface="Calibri"/>
                <a:ea typeface="Calibri"/>
                <a:cs typeface="Calibri"/>
                <a:sym typeface="Calibri"/>
              </a:rPr>
              <a:t>Changing Variables</a:t>
            </a:r>
            <a:endParaRPr/>
          </a:p>
        </p:txBody>
      </p:sp>
      <p:sp>
        <p:nvSpPr>
          <p:cNvPr id="172" name="Google Shape;172;p12"/>
          <p:cNvSpPr/>
          <p:nvPr/>
        </p:nvSpPr>
        <p:spPr>
          <a:xfrm>
            <a:off x="6400800" y="2834640"/>
            <a:ext cx="5029200" cy="1645920"/>
          </a:xfrm>
          <a:prstGeom prst="roundRect">
            <a:avLst>
              <a:gd fmla="val 16667" name="adj"/>
            </a:avLst>
          </a:prstGeom>
          <a:solidFill>
            <a:srgbClr val="313244"/>
          </a:solidFill>
          <a:ln>
            <a:noFill/>
          </a:ln>
        </p:spPr>
        <p:txBody>
          <a:bodyPr anchorCtr="0" anchor="ctr" bIns="152400" lIns="203200" spcFirstLastPara="1" rIns="203200" wrap="square" tIns="152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score = 100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print(score)  # 100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700" u="none" cap="none" strike="noStrike">
              <a:solidFill>
                <a:srgbClr val="A6E3A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score = 75    # Changed!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print(score)  # 75</a:t>
            </a:r>
            <a:endParaRPr/>
          </a:p>
        </p:txBody>
      </p:sp>
      <p:sp>
        <p:nvSpPr>
          <p:cNvPr id="173" name="Google Shape;173;p12"/>
          <p:cNvSpPr txBox="1"/>
          <p:nvPr/>
        </p:nvSpPr>
        <p:spPr>
          <a:xfrm>
            <a:off x="731520" y="4572000"/>
            <a:ext cx="5029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F9E2AF"/>
                </a:solidFill>
                <a:latin typeface="Calibri"/>
                <a:ea typeface="Calibri"/>
                <a:cs typeface="Calibri"/>
                <a:sym typeface="Calibri"/>
              </a:rPr>
              <a:t>Naming Rules</a:t>
            </a:r>
            <a:endParaRPr/>
          </a:p>
        </p:txBody>
      </p:sp>
      <p:sp>
        <p:nvSpPr>
          <p:cNvPr id="174" name="Google Shape;174;p12"/>
          <p:cNvSpPr txBox="1"/>
          <p:nvPr/>
        </p:nvSpPr>
        <p:spPr>
          <a:xfrm>
            <a:off x="731520" y="5029200"/>
            <a:ext cx="50292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✦  Start with letter or underscore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✦  Use only letters, numbers, underscores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✦  Use snake_case: student_name, total_score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9" name="Google Shape;179;g3d1cd845773_0_0" title="Screenshot 2026-03-23 at 21.11.40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11886879" cy="65296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4243A"/>
        </a:solidFill>
      </p:bgPr>
    </p:bg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13"/>
          <p:cNvSpPr/>
          <p:nvPr/>
        </p:nvSpPr>
        <p:spPr>
          <a:xfrm>
            <a:off x="0" y="2926080"/>
            <a:ext cx="137160" cy="1005840"/>
          </a:xfrm>
          <a:prstGeom prst="rect">
            <a:avLst/>
          </a:prstGeom>
          <a:solidFill>
            <a:srgbClr val="89B4F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13"/>
          <p:cNvSpPr txBox="1"/>
          <p:nvPr/>
        </p:nvSpPr>
        <p:spPr>
          <a:xfrm>
            <a:off x="731520" y="2286000"/>
            <a:ext cx="100584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Data Types</a:t>
            </a:r>
            <a:endParaRPr/>
          </a:p>
        </p:txBody>
      </p:sp>
      <p:sp>
        <p:nvSpPr>
          <p:cNvPr id="186" name="Google Shape;186;p13"/>
          <p:cNvSpPr txBox="1"/>
          <p:nvPr/>
        </p:nvSpPr>
        <p:spPr>
          <a:xfrm>
            <a:off x="731520" y="3840480"/>
            <a:ext cx="10058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int • float • str • bool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1E2E"/>
        </a:solidFill>
      </p:bgPr>
    </p:bg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14"/>
          <p:cNvSpPr txBox="1"/>
          <p:nvPr/>
        </p:nvSpPr>
        <p:spPr>
          <a:xfrm>
            <a:off x="731520" y="457200"/>
            <a:ext cx="10058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89B4FA"/>
                </a:solidFill>
                <a:latin typeface="Calibri"/>
                <a:ea typeface="Calibri"/>
                <a:cs typeface="Calibri"/>
                <a:sym typeface="Calibri"/>
              </a:rPr>
              <a:t>Why Different Data Types?</a:t>
            </a:r>
            <a:endParaRPr/>
          </a:p>
        </p:txBody>
      </p:sp>
      <p:sp>
        <p:nvSpPr>
          <p:cNvPr id="192" name="Google Shape;192;p14"/>
          <p:cNvSpPr txBox="1"/>
          <p:nvPr/>
        </p:nvSpPr>
        <p:spPr>
          <a:xfrm>
            <a:off x="731520" y="1371600"/>
            <a:ext cx="10058400" cy="274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✦  Numbers need math — multiply price × quantity, add tax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✦  Text needs different handling — join strings, get length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✦  "19" × 3 = "191919" (text)  vs  19 × 3 = 57 (number)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✦  Types tell the computer HOW to use each value correctly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b="0" i="0" sz="22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✦  int (integers) → counting: 3 apples, 10 students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✦  float → measurements: 19.99 rupees, 5.5 feet</a:t>
            </a:r>
            <a:endParaRPr/>
          </a:p>
        </p:txBody>
      </p:sp>
      <p:graphicFrame>
        <p:nvGraphicFramePr>
          <p:cNvPr id="193" name="Google Shape;193;p14"/>
          <p:cNvGraphicFramePr/>
          <p:nvPr/>
        </p:nvGraphicFramePr>
        <p:xfrm>
          <a:off x="731520" y="45720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{FC9AE53D-8BBF-4BAA-92FD-234DDB861320}</a:tableStyleId>
              </a:tblPr>
              <a:tblGrid>
                <a:gridCol w="2514600"/>
                <a:gridCol w="2514600"/>
                <a:gridCol w="2514600"/>
                <a:gridCol w="2514600"/>
              </a:tblGrid>
              <a:tr h="450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 u="none" cap="none" strike="noStrike">
                          <a:solidFill>
                            <a:srgbClr val="1E1E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Type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89B4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 u="none" cap="none" strike="noStrike">
                          <a:solidFill>
                            <a:srgbClr val="1E1E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Example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89B4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 u="none" cap="none" strike="noStrike">
                          <a:solidFill>
                            <a:srgbClr val="1E1E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Use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89B4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 u="none" cap="none" strike="noStrike">
                          <a:solidFill>
                            <a:srgbClr val="1E1E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Python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89B4FA"/>
                    </a:solidFill>
                  </a:tcPr>
                </a:tc>
              </a:tr>
              <a:tr h="450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CDD6F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int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24243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CDD6F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25, -10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24243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CDD6F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Whole numbers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24243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CDD6F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age = 25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24243A"/>
                    </a:solidFill>
                  </a:tcPr>
                </a:tc>
              </a:tr>
              <a:tr h="450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CDD6F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float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24243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CDD6F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19.99, 3.14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24243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CDD6F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Decimals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24243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CDD6F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price = 19.99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24243A"/>
                    </a:solidFill>
                  </a:tcPr>
                </a:tc>
              </a:tr>
              <a:tr h="450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CDD6F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str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24243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CDD6F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"Hello"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24243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CDD6F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Text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24243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CDD6F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name = "Alice"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24243A"/>
                    </a:solidFill>
                  </a:tcPr>
                </a:tc>
              </a:tr>
              <a:tr h="450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CDD6F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bool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24243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CDD6F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True, False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24243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CDD6F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Yes/No logic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24243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CDD6F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is_active = True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24243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1E2E"/>
        </a:solidFill>
      </p:bgPr>
    </p:bg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5"/>
          <p:cNvSpPr txBox="1"/>
          <p:nvPr/>
        </p:nvSpPr>
        <p:spPr>
          <a:xfrm>
            <a:off x="731520" y="457200"/>
            <a:ext cx="10058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89B4FA"/>
                </a:solidFill>
                <a:latin typeface="Calibri"/>
                <a:ea typeface="Calibri"/>
                <a:cs typeface="Calibri"/>
                <a:sym typeface="Calibri"/>
              </a:rPr>
              <a:t>Data Types: Examples</a:t>
            </a:r>
            <a:endParaRPr/>
          </a:p>
        </p:txBody>
      </p:sp>
      <p:sp>
        <p:nvSpPr>
          <p:cNvPr id="199" name="Google Shape;199;p15"/>
          <p:cNvSpPr txBox="1"/>
          <p:nvPr/>
        </p:nvSpPr>
        <p:spPr>
          <a:xfrm>
            <a:off x="731520" y="1280160"/>
            <a:ext cx="5029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A6E3A1"/>
                </a:solidFill>
                <a:latin typeface="Calibri"/>
                <a:ea typeface="Calibri"/>
                <a:cs typeface="Calibri"/>
                <a:sym typeface="Calibri"/>
              </a:rPr>
              <a:t>int &amp; float</a:t>
            </a:r>
            <a:endParaRPr/>
          </a:p>
        </p:txBody>
      </p:sp>
      <p:sp>
        <p:nvSpPr>
          <p:cNvPr id="200" name="Google Shape;200;p15"/>
          <p:cNvSpPr/>
          <p:nvPr/>
        </p:nvSpPr>
        <p:spPr>
          <a:xfrm>
            <a:off x="731525" y="1737349"/>
            <a:ext cx="5157000" cy="2166600"/>
          </a:xfrm>
          <a:prstGeom prst="roundRect">
            <a:avLst>
              <a:gd fmla="val 16667" name="adj"/>
            </a:avLst>
          </a:prstGeom>
          <a:solidFill>
            <a:srgbClr val="313244"/>
          </a:solidFill>
          <a:ln>
            <a:noFill/>
          </a:ln>
        </p:spPr>
        <p:txBody>
          <a:bodyPr anchorCtr="0" anchor="ctr" bIns="152400" lIns="203200" spcFirstLastPara="1" rIns="203200" wrap="square" tIns="152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age = 25          # int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price = 19.99     # float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>
              <a:solidFill>
                <a:srgbClr val="A6E3A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# Division always returns float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print(10 / 2)     # 5.0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>
              <a:solidFill>
                <a:srgbClr val="A6E3A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# Mixing: result is always float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# 25 + 5.8 → 30.8</a:t>
            </a:r>
            <a:endParaRPr/>
          </a:p>
        </p:txBody>
      </p:sp>
      <p:sp>
        <p:nvSpPr>
          <p:cNvPr id="201" name="Google Shape;201;p15"/>
          <p:cNvSpPr txBox="1"/>
          <p:nvPr/>
        </p:nvSpPr>
        <p:spPr>
          <a:xfrm>
            <a:off x="6400800" y="1280160"/>
            <a:ext cx="5029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A6E3A1"/>
                </a:solidFill>
                <a:latin typeface="Calibri"/>
                <a:ea typeface="Calibri"/>
                <a:cs typeface="Calibri"/>
                <a:sym typeface="Calibri"/>
              </a:rPr>
              <a:t>str (strings)</a:t>
            </a:r>
            <a:endParaRPr/>
          </a:p>
        </p:txBody>
      </p:sp>
      <p:sp>
        <p:nvSpPr>
          <p:cNvPr id="202" name="Google Shape;202;p15"/>
          <p:cNvSpPr/>
          <p:nvPr/>
        </p:nvSpPr>
        <p:spPr>
          <a:xfrm>
            <a:off x="6400800" y="1737349"/>
            <a:ext cx="5157000" cy="2218800"/>
          </a:xfrm>
          <a:prstGeom prst="roundRect">
            <a:avLst>
              <a:gd fmla="val 16667" name="adj"/>
            </a:avLst>
          </a:prstGeom>
          <a:solidFill>
            <a:srgbClr val="313244"/>
          </a:solidFill>
          <a:ln>
            <a:noFill/>
          </a:ln>
        </p:spPr>
        <p:txBody>
          <a:bodyPr anchorCtr="0" anchor="ctr" bIns="152400" lIns="203200" spcFirstLastPara="1" rIns="203200" wrap="square" tIns="152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name = "Alice"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message = 'Hello, World!'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>
              <a:solidFill>
                <a:srgbClr val="A6E3A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# Joining strings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greeting = "Hello, " + name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print(greeting)  # Hello, Alice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>
              <a:solidFill>
                <a:srgbClr val="A6E3A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# Cannot mix: "Age: " + 25 → Error!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# Fix: "Age: " + str(25)</a:t>
            </a:r>
            <a:endParaRPr/>
          </a:p>
        </p:txBody>
      </p:sp>
      <p:sp>
        <p:nvSpPr>
          <p:cNvPr id="203" name="Google Shape;203;p15"/>
          <p:cNvSpPr txBox="1"/>
          <p:nvPr/>
        </p:nvSpPr>
        <p:spPr>
          <a:xfrm>
            <a:off x="731520" y="4023360"/>
            <a:ext cx="5029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A6E3A1"/>
                </a:solidFill>
                <a:latin typeface="Calibri"/>
                <a:ea typeface="Calibri"/>
                <a:cs typeface="Calibri"/>
                <a:sym typeface="Calibri"/>
              </a:rPr>
              <a:t>bool (booleans)</a:t>
            </a:r>
            <a:endParaRPr/>
          </a:p>
        </p:txBody>
      </p:sp>
      <p:sp>
        <p:nvSpPr>
          <p:cNvPr id="204" name="Google Shape;204;p15"/>
          <p:cNvSpPr/>
          <p:nvPr/>
        </p:nvSpPr>
        <p:spPr>
          <a:xfrm>
            <a:off x="731525" y="4480549"/>
            <a:ext cx="5157000" cy="1571700"/>
          </a:xfrm>
          <a:prstGeom prst="roundRect">
            <a:avLst>
              <a:gd fmla="val 16667" name="adj"/>
            </a:avLst>
          </a:prstGeom>
          <a:solidFill>
            <a:srgbClr val="313244"/>
          </a:solidFill>
          <a:ln>
            <a:noFill/>
          </a:ln>
        </p:spPr>
        <p:txBody>
          <a:bodyPr anchorCtr="0" anchor="ctr" bIns="152400" lIns="203200" spcFirstLastPara="1" rIns="203200" wrap="square" tIns="152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is_active = True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is_passing = False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# Only two values: True or False</a:t>
            </a:r>
            <a:endParaRPr/>
          </a:p>
        </p:txBody>
      </p:sp>
      <p:sp>
        <p:nvSpPr>
          <p:cNvPr id="205" name="Google Shape;205;p15"/>
          <p:cNvSpPr txBox="1"/>
          <p:nvPr/>
        </p:nvSpPr>
        <p:spPr>
          <a:xfrm>
            <a:off x="6400800" y="4023360"/>
            <a:ext cx="5029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A6E3A1"/>
                </a:solidFill>
                <a:latin typeface="Calibri"/>
                <a:ea typeface="Calibri"/>
                <a:cs typeface="Calibri"/>
                <a:sym typeface="Calibri"/>
              </a:rPr>
              <a:t>Checking type with type()</a:t>
            </a:r>
            <a:endParaRPr/>
          </a:p>
        </p:txBody>
      </p:sp>
      <p:sp>
        <p:nvSpPr>
          <p:cNvPr id="206" name="Google Shape;206;p15"/>
          <p:cNvSpPr/>
          <p:nvPr/>
        </p:nvSpPr>
        <p:spPr>
          <a:xfrm>
            <a:off x="6400800" y="4480560"/>
            <a:ext cx="5029200" cy="1371600"/>
          </a:xfrm>
          <a:prstGeom prst="roundRect">
            <a:avLst>
              <a:gd fmla="val 16667" name="adj"/>
            </a:avLst>
          </a:prstGeom>
          <a:solidFill>
            <a:srgbClr val="313244"/>
          </a:solidFill>
          <a:ln>
            <a:noFill/>
          </a:ln>
        </p:spPr>
        <p:txBody>
          <a:bodyPr anchorCtr="0" anchor="ctr" bIns="152400" lIns="203200" spcFirstLastPara="1" rIns="203200" wrap="square" tIns="152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score = 100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print(type(score))  # &lt;class 'int'&gt;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>
              <a:solidFill>
                <a:srgbClr val="A6E3A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name = "Alice"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print(type(name))   # &lt;class 'str'&gt;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4243A"/>
        </a:solidFill>
      </p:bgPr>
    </p:bg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16"/>
          <p:cNvSpPr/>
          <p:nvPr/>
        </p:nvSpPr>
        <p:spPr>
          <a:xfrm>
            <a:off x="0" y="2926080"/>
            <a:ext cx="137160" cy="1005840"/>
          </a:xfrm>
          <a:prstGeom prst="rect">
            <a:avLst/>
          </a:prstGeom>
          <a:solidFill>
            <a:srgbClr val="89B4F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16"/>
          <p:cNvSpPr txBox="1"/>
          <p:nvPr/>
        </p:nvSpPr>
        <p:spPr>
          <a:xfrm>
            <a:off x="731520" y="2286000"/>
            <a:ext cx="100584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Arithmetic Operators</a:t>
            </a:r>
            <a:endParaRPr/>
          </a:p>
        </p:txBody>
      </p:sp>
      <p:sp>
        <p:nvSpPr>
          <p:cNvPr id="213" name="Google Shape;213;p16"/>
          <p:cNvSpPr txBox="1"/>
          <p:nvPr/>
        </p:nvSpPr>
        <p:spPr>
          <a:xfrm>
            <a:off x="731520" y="3840480"/>
            <a:ext cx="10058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Addition • Subtraction • Multiplication • Division • Modulo • Power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1E2E"/>
        </a:solidFill>
      </p:bgPr>
    </p:bg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17"/>
          <p:cNvSpPr txBox="1"/>
          <p:nvPr/>
        </p:nvSpPr>
        <p:spPr>
          <a:xfrm>
            <a:off x="731520" y="457200"/>
            <a:ext cx="10058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89B4FA"/>
                </a:solidFill>
                <a:latin typeface="Calibri"/>
                <a:ea typeface="Calibri"/>
                <a:cs typeface="Calibri"/>
                <a:sym typeface="Calibri"/>
              </a:rPr>
              <a:t>Arithmetic Operators</a:t>
            </a:r>
            <a:endParaRPr/>
          </a:p>
        </p:txBody>
      </p:sp>
      <p:graphicFrame>
        <p:nvGraphicFramePr>
          <p:cNvPr id="219" name="Google Shape;219;p17"/>
          <p:cNvGraphicFramePr/>
          <p:nvPr/>
        </p:nvGraphicFramePr>
        <p:xfrm>
          <a:off x="731520" y="13716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{FC9AE53D-8BBF-4BAA-92FD-234DDB861320}</a:tableStyleId>
              </a:tblPr>
              <a:tblGrid>
                <a:gridCol w="1714375"/>
                <a:gridCol w="1714375"/>
                <a:gridCol w="1714375"/>
              </a:tblGrid>
              <a:tr h="4938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 u="none" cap="none" strike="noStrike">
                          <a:solidFill>
                            <a:srgbClr val="1E1E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Operator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89B4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 u="none" cap="none" strike="noStrike">
                          <a:solidFill>
                            <a:srgbClr val="1E1E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Name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89B4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 u="none" cap="none" strike="noStrike">
                          <a:solidFill>
                            <a:srgbClr val="1E1E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Example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89B4FA"/>
                    </a:solidFill>
                  </a:tcPr>
                </a:tc>
              </a:tr>
              <a:tr h="4938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CDD6F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+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24243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CDD6F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Addition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24243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CDD6F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 + 3 → 8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24243A"/>
                    </a:solidFill>
                  </a:tcPr>
                </a:tc>
              </a:tr>
              <a:tr h="4938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CDD6F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24243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CDD6F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Subtraction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24243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CDD6F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5 - 3 → 2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24243A"/>
                    </a:solidFill>
                  </a:tcPr>
                </a:tc>
              </a:tr>
              <a:tr h="4938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CDD6F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*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24243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CDD6F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Multiplication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24243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CDD6F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 * 3 → 15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24243A"/>
                    </a:solidFill>
                  </a:tcPr>
                </a:tc>
              </a:tr>
              <a:tr h="4938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CDD6F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/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24243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CDD6F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Division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24243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CDD6F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 / 2 → 5.0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24243A"/>
                    </a:solidFill>
                  </a:tcPr>
                </a:tc>
              </a:tr>
              <a:tr h="4938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CDD6F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//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24243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CDD6F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Integer Division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24243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CDD6F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 // 3 → 3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24243A"/>
                    </a:solidFill>
                  </a:tcPr>
                </a:tc>
              </a:tr>
              <a:tr h="5958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CDD6F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%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24243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CDD6F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Remainder (Modulo)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24243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CDD6F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10 % 3 → 1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24243A"/>
                    </a:solidFill>
                  </a:tcPr>
                </a:tc>
              </a:tr>
              <a:tr h="4938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CDD6F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**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24243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CDD6F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Power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24243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CDD6F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 ** 3 → 8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24243A"/>
                    </a:solidFill>
                  </a:tcPr>
                </a:tc>
              </a:tr>
            </a:tbl>
          </a:graphicData>
        </a:graphic>
      </p:graphicFrame>
      <p:sp>
        <p:nvSpPr>
          <p:cNvPr id="220" name="Google Shape;220;p17"/>
          <p:cNvSpPr/>
          <p:nvPr/>
        </p:nvSpPr>
        <p:spPr>
          <a:xfrm>
            <a:off x="6400800" y="1371600"/>
            <a:ext cx="5029200" cy="2743200"/>
          </a:xfrm>
          <a:prstGeom prst="roundRect">
            <a:avLst>
              <a:gd fmla="val 16667" name="adj"/>
            </a:avLst>
          </a:prstGeom>
          <a:solidFill>
            <a:srgbClr val="313244"/>
          </a:solidFill>
          <a:ln>
            <a:noFill/>
          </a:ln>
        </p:spPr>
        <p:txBody>
          <a:bodyPr anchorCtr="0" anchor="ctr" bIns="152400" lIns="203200" spcFirstLastPara="1" rIns="203200" wrap="square" tIns="152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score = 100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bonus = 50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total = score + bonus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print(total)      # 150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700" u="none" cap="none" strike="noStrike">
              <a:solidFill>
                <a:srgbClr val="A6E3A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price = 50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quantity = 3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subtotal = price * quantity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print(subtotal)   # 150</a:t>
            </a:r>
            <a:endParaRPr/>
          </a:p>
        </p:txBody>
      </p:sp>
      <p:sp>
        <p:nvSpPr>
          <p:cNvPr id="221" name="Google Shape;221;p17"/>
          <p:cNvSpPr txBox="1"/>
          <p:nvPr/>
        </p:nvSpPr>
        <p:spPr>
          <a:xfrm>
            <a:off x="663170" y="5424600"/>
            <a:ext cx="10058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F9E2AF"/>
                </a:solidFill>
                <a:latin typeface="Calibri"/>
                <a:ea typeface="Calibri"/>
                <a:cs typeface="Calibri"/>
                <a:sym typeface="Calibri"/>
              </a:rPr>
              <a:t>Key Points:</a:t>
            </a:r>
            <a:endParaRPr/>
          </a:p>
        </p:txBody>
      </p:sp>
      <p:sp>
        <p:nvSpPr>
          <p:cNvPr id="222" name="Google Shape;222;p17"/>
          <p:cNvSpPr txBox="1"/>
          <p:nvPr/>
        </p:nvSpPr>
        <p:spPr>
          <a:xfrm>
            <a:off x="526470" y="5782575"/>
            <a:ext cx="10058400" cy="749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✦  Division (/) always gives a float       ✦  Integer division (//) drops the decimal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✦  Modulo (%) gives the remainder — useful for checking even/odd: number % 2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1E2E"/>
        </a:solidFill>
      </p:bgPr>
    </p:bg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18"/>
          <p:cNvSpPr txBox="1"/>
          <p:nvPr/>
        </p:nvSpPr>
        <p:spPr>
          <a:xfrm>
            <a:off x="731520" y="457200"/>
            <a:ext cx="10058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89B4FA"/>
                </a:solidFill>
                <a:latin typeface="Calibri"/>
                <a:ea typeface="Calibri"/>
                <a:cs typeface="Calibri"/>
                <a:sym typeface="Calibri"/>
              </a:rPr>
              <a:t>Division Deep Dive: / vs // vs %</a:t>
            </a:r>
            <a:endParaRPr/>
          </a:p>
        </p:txBody>
      </p:sp>
      <p:sp>
        <p:nvSpPr>
          <p:cNvPr id="228" name="Google Shape;228;p18"/>
          <p:cNvSpPr/>
          <p:nvPr/>
        </p:nvSpPr>
        <p:spPr>
          <a:xfrm>
            <a:off x="731525" y="1371600"/>
            <a:ext cx="5306400" cy="2763600"/>
          </a:xfrm>
          <a:prstGeom prst="roundRect">
            <a:avLst>
              <a:gd fmla="val 16667" name="adj"/>
            </a:avLst>
          </a:prstGeom>
          <a:solidFill>
            <a:srgbClr val="313244"/>
          </a:solidFill>
          <a:ln>
            <a:noFill/>
          </a:ln>
        </p:spPr>
        <p:txBody>
          <a:bodyPr anchorCtr="0" anchor="ctr" bIns="152400" lIns="203200" spcFirstLastPara="1" rIns="203200" wrap="square" tIns="152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# Division vs Integer Division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print(10 / 3)    # 3.333... (float)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print(10 // 3)   # 3 (drops decimal)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700" u="none" cap="none" strike="noStrike">
              <a:solidFill>
                <a:srgbClr val="A6E3A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# Use / for averages, precise calculations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# Use // for whole parts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# e.g. 100 rupees ÷ 3 people = 33 each</a:t>
            </a:r>
            <a:endParaRPr/>
          </a:p>
        </p:txBody>
      </p:sp>
      <p:sp>
        <p:nvSpPr>
          <p:cNvPr id="229" name="Google Shape;229;p18"/>
          <p:cNvSpPr/>
          <p:nvPr/>
        </p:nvSpPr>
        <p:spPr>
          <a:xfrm>
            <a:off x="6400800" y="1371600"/>
            <a:ext cx="5401200" cy="2877600"/>
          </a:xfrm>
          <a:prstGeom prst="roundRect">
            <a:avLst>
              <a:gd fmla="val 16667" name="adj"/>
            </a:avLst>
          </a:prstGeom>
          <a:solidFill>
            <a:srgbClr val="313244"/>
          </a:solidFill>
          <a:ln>
            <a:noFill/>
          </a:ln>
        </p:spPr>
        <p:txBody>
          <a:bodyPr anchorCtr="0" anchor="ctr" bIns="152400" lIns="203200" spcFirstLastPara="1" rIns="203200" wrap="square" tIns="152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# Modulo — gives the remainder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number = 10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print(number % 2)  # 0 → even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700" u="none" cap="none" strike="noStrike">
              <a:solidFill>
                <a:srgbClr val="A6E3A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number = 7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print(number % 2)  # 1 → odd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700" u="none" cap="none" strike="noStrike">
              <a:solidFill>
                <a:srgbClr val="A6E3A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# Great for: even/odd, wrapping, cycles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1E2E"/>
        </a:solidFill>
      </p:bgPr>
    </p:bg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19"/>
          <p:cNvSpPr txBox="1"/>
          <p:nvPr/>
        </p:nvSpPr>
        <p:spPr>
          <a:xfrm>
            <a:off x="731520" y="457200"/>
            <a:ext cx="10058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89B4FA"/>
                </a:solidFill>
                <a:latin typeface="Calibri"/>
                <a:ea typeface="Calibri"/>
                <a:cs typeface="Calibri"/>
                <a:sym typeface="Calibri"/>
              </a:rPr>
              <a:t>Operator Precedence (PEMDAS)</a:t>
            </a:r>
            <a:endParaRPr/>
          </a:p>
        </p:txBody>
      </p:sp>
      <p:sp>
        <p:nvSpPr>
          <p:cNvPr id="235" name="Google Shape;235;p19"/>
          <p:cNvSpPr txBox="1"/>
          <p:nvPr/>
        </p:nvSpPr>
        <p:spPr>
          <a:xfrm>
            <a:off x="731520" y="1371600"/>
            <a:ext cx="502920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 — Parentheses  ()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 — Exponents  **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M/D — Multiplication, Division  *, /, //, %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A/S — Addition, Subtraction  +, -</a:t>
            </a:r>
            <a:endParaRPr/>
          </a:p>
        </p:txBody>
      </p:sp>
      <p:sp>
        <p:nvSpPr>
          <p:cNvPr id="236" name="Google Shape;236;p19"/>
          <p:cNvSpPr/>
          <p:nvPr/>
        </p:nvSpPr>
        <p:spPr>
          <a:xfrm>
            <a:off x="6400800" y="1371600"/>
            <a:ext cx="5503800" cy="4114800"/>
          </a:xfrm>
          <a:prstGeom prst="roundRect">
            <a:avLst>
              <a:gd fmla="val 16667" name="adj"/>
            </a:avLst>
          </a:prstGeom>
          <a:solidFill>
            <a:srgbClr val="313244"/>
          </a:solidFill>
          <a:ln>
            <a:noFill/>
          </a:ln>
        </p:spPr>
        <p:txBody>
          <a:bodyPr anchorCtr="0" anchor="ctr" bIns="152400" lIns="203200" spcFirstLastPara="1" rIns="203200" wrap="square" tIns="152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# Multiplication before addition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result = 2 + 3 * 4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# 3*4=12, then 2+12=14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print(result)  # 14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700" u="none" cap="none" strike="noStrike">
              <a:solidFill>
                <a:srgbClr val="A6E3A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# Parentheses change the order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result = (2 + 3) * 4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# 2+3=5, then 5*4=20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print(result)  # 20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700" u="none" cap="none" strike="noStrike">
              <a:solidFill>
                <a:srgbClr val="A6E3A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# Exponents first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result = 2 + 3 ** 2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# 3**2=9, then 2+9=11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print(result)  # 11</a:t>
            </a:r>
            <a:endParaRPr/>
          </a:p>
        </p:txBody>
      </p:sp>
      <p:sp>
        <p:nvSpPr>
          <p:cNvPr id="237" name="Google Shape;237;p19"/>
          <p:cNvSpPr txBox="1"/>
          <p:nvPr/>
        </p:nvSpPr>
        <p:spPr>
          <a:xfrm>
            <a:off x="731520" y="4114800"/>
            <a:ext cx="502920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F9E2AF"/>
                </a:solidFill>
                <a:latin typeface="Calibri"/>
                <a:ea typeface="Calibri"/>
                <a:cs typeface="Calibri"/>
                <a:sym typeface="Calibri"/>
              </a:rPr>
              <a:t>Tip: When unsure, use parentheses</a:t>
            </a:r>
            <a:br>
              <a:rPr b="0" i="0" lang="en-US" sz="2000" u="none" cap="none" strike="noStrike">
                <a:solidFill>
                  <a:srgbClr val="F9E2A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2000" u="none" cap="none" strike="noStrike">
                <a:solidFill>
                  <a:srgbClr val="F9E2AF"/>
                </a:solidFill>
                <a:latin typeface="Calibri"/>
                <a:ea typeface="Calibri"/>
                <a:cs typeface="Calibri"/>
                <a:sym typeface="Calibri"/>
              </a:rPr>
              <a:t>to make your intent clear:</a:t>
            </a:r>
            <a:br>
              <a:rPr b="0" i="0" lang="en-US" sz="2000" u="none" cap="none" strike="noStrike">
                <a:solidFill>
                  <a:srgbClr val="F9E2A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b="0" i="0" lang="en-US" sz="2000" u="none" cap="none" strike="noStrike">
                <a:solidFill>
                  <a:srgbClr val="F9E2A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2000" u="none" cap="none" strike="noStrike">
                <a:solidFill>
                  <a:srgbClr val="F9E2AF"/>
                </a:solidFill>
                <a:latin typeface="Calibri"/>
                <a:ea typeface="Calibri"/>
                <a:cs typeface="Calibri"/>
                <a:sym typeface="Calibri"/>
              </a:rPr>
              <a:t>total = (price * quantity) + tax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4243A"/>
        </a:solidFill>
      </p:bgPr>
    </p:bg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20"/>
          <p:cNvSpPr/>
          <p:nvPr/>
        </p:nvSpPr>
        <p:spPr>
          <a:xfrm>
            <a:off x="0" y="2926080"/>
            <a:ext cx="137160" cy="1005840"/>
          </a:xfrm>
          <a:prstGeom prst="rect">
            <a:avLst/>
          </a:prstGeom>
          <a:solidFill>
            <a:srgbClr val="89B4F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20"/>
          <p:cNvSpPr txBox="1"/>
          <p:nvPr/>
        </p:nvSpPr>
        <p:spPr>
          <a:xfrm>
            <a:off x="731520" y="2286000"/>
            <a:ext cx="100584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Comparison Operators</a:t>
            </a:r>
            <a:endParaRPr/>
          </a:p>
        </p:txBody>
      </p:sp>
      <p:sp>
        <p:nvSpPr>
          <p:cNvPr id="244" name="Google Shape;244;p20"/>
          <p:cNvSpPr txBox="1"/>
          <p:nvPr/>
        </p:nvSpPr>
        <p:spPr>
          <a:xfrm>
            <a:off x="731520" y="3840480"/>
            <a:ext cx="10058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The foundation of decision-making in programs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1E2E"/>
        </a:solidFill>
      </p:bgPr>
    </p:bg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21"/>
          <p:cNvSpPr txBox="1"/>
          <p:nvPr/>
        </p:nvSpPr>
        <p:spPr>
          <a:xfrm>
            <a:off x="731520" y="457200"/>
            <a:ext cx="10058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89B4FA"/>
                </a:solidFill>
                <a:latin typeface="Calibri"/>
                <a:ea typeface="Calibri"/>
                <a:cs typeface="Calibri"/>
                <a:sym typeface="Calibri"/>
              </a:rPr>
              <a:t>The Six Comparison Operators</a:t>
            </a:r>
            <a:endParaRPr/>
          </a:p>
        </p:txBody>
      </p:sp>
      <p:graphicFrame>
        <p:nvGraphicFramePr>
          <p:cNvPr id="250" name="Google Shape;250;p21"/>
          <p:cNvGraphicFramePr/>
          <p:nvPr/>
        </p:nvGraphicFramePr>
        <p:xfrm>
          <a:off x="731520" y="13716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{FC9AE53D-8BBF-4BAA-92FD-234DDB861320}</a:tableStyleId>
              </a:tblPr>
              <a:tblGrid>
                <a:gridCol w="1676400"/>
                <a:gridCol w="1676400"/>
                <a:gridCol w="1676400"/>
              </a:tblGrid>
              <a:tr h="450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 u="none" cap="none" strike="noStrike">
                          <a:solidFill>
                            <a:srgbClr val="1E1E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Operator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89B4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 u="none" cap="none" strike="noStrike">
                          <a:solidFill>
                            <a:srgbClr val="1E1E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Meaning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89B4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 u="none" cap="none" strike="noStrike">
                          <a:solidFill>
                            <a:srgbClr val="1E1E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Example → Result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89B4FA"/>
                    </a:solidFill>
                  </a:tcPr>
                </a:tc>
              </a:tr>
              <a:tr h="450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CDD6F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==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24243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CDD6F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Equal to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24243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CDD6F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 == 5 → True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24243A"/>
                    </a:solidFill>
                  </a:tcPr>
                </a:tc>
              </a:tr>
              <a:tr h="450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CDD6F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!=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24243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CDD6F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Not equal to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24243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CDD6F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 != 3 → True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24243A"/>
                    </a:solidFill>
                  </a:tcPr>
                </a:tc>
              </a:tr>
              <a:tr h="450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CDD6F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&gt;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24243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CDD6F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Greater than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24243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CDD6F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 &gt; 3 → True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24243A"/>
                    </a:solidFill>
                  </a:tcPr>
                </a:tc>
              </a:tr>
              <a:tr h="450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CDD6F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&lt;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24243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CDD6F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Less than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24243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CDD6F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 &lt; 5 → True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24243A"/>
                    </a:solidFill>
                  </a:tcPr>
                </a:tc>
              </a:tr>
              <a:tr h="450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CDD6F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&gt;=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24243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CDD6F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Greater or equal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24243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CDD6F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 &gt;= 5 → True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24243A"/>
                    </a:solidFill>
                  </a:tcPr>
                </a:tc>
              </a:tr>
              <a:tr h="450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CDD6F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&lt;=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24243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CDD6F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Less or equal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24243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CDD6F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 &lt;= 5 → True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24243A"/>
                    </a:solidFill>
                  </a:tcPr>
                </a:tc>
              </a:tr>
            </a:tbl>
          </a:graphicData>
        </a:graphic>
      </p:graphicFrame>
      <p:sp>
        <p:nvSpPr>
          <p:cNvPr id="251" name="Google Shape;251;p21"/>
          <p:cNvSpPr/>
          <p:nvPr/>
        </p:nvSpPr>
        <p:spPr>
          <a:xfrm>
            <a:off x="6400800" y="1371600"/>
            <a:ext cx="5029200" cy="3657600"/>
          </a:xfrm>
          <a:prstGeom prst="roundRect">
            <a:avLst>
              <a:gd fmla="val 16667" name="adj"/>
            </a:avLst>
          </a:prstGeom>
          <a:solidFill>
            <a:srgbClr val="313244"/>
          </a:solidFill>
          <a:ln>
            <a:noFill/>
          </a:ln>
        </p:spPr>
        <p:txBody>
          <a:bodyPr anchorCtr="0" anchor="ctr" bIns="152400" lIns="203200" spcFirstLastPara="1" rIns="203200" wrap="square" tIns="152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age = 18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print(age == 18)  # True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print(age == 20)  # False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>
              <a:solidFill>
                <a:srgbClr val="A6E3A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score = 85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print(score &gt; 75)   # True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print(score &gt;= 85)  # True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>
              <a:solidFill>
                <a:srgbClr val="A6E3A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# Store results in variables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is_adult = age &gt;= 18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print(is_adult)     # True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print(type(is_adult))  # &lt;class 'bool'&gt;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1E2E"/>
        </a:solidFill>
      </p:bgPr>
    </p:bg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22"/>
          <p:cNvSpPr txBox="1"/>
          <p:nvPr/>
        </p:nvSpPr>
        <p:spPr>
          <a:xfrm>
            <a:off x="731520" y="457200"/>
            <a:ext cx="100584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89B4FA"/>
                </a:solidFill>
                <a:latin typeface="Calibri"/>
                <a:ea typeface="Calibri"/>
                <a:cs typeface="Calibri"/>
                <a:sym typeface="Calibri"/>
              </a:rPr>
              <a:t>Comparisons: Types</a:t>
            </a:r>
            <a:endParaRPr/>
          </a:p>
        </p:txBody>
      </p:sp>
      <p:sp>
        <p:nvSpPr>
          <p:cNvPr id="257" name="Google Shape;257;p22"/>
          <p:cNvSpPr txBox="1"/>
          <p:nvPr/>
        </p:nvSpPr>
        <p:spPr>
          <a:xfrm>
            <a:off x="731520" y="1371600"/>
            <a:ext cx="5029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A6E3A1"/>
                </a:solidFill>
                <a:latin typeface="Calibri"/>
                <a:ea typeface="Calibri"/>
                <a:cs typeface="Calibri"/>
                <a:sym typeface="Calibri"/>
              </a:rPr>
              <a:t>Comparing Different Types</a:t>
            </a:r>
            <a:endParaRPr/>
          </a:p>
        </p:txBody>
      </p:sp>
      <p:sp>
        <p:nvSpPr>
          <p:cNvPr id="258" name="Google Shape;258;p22"/>
          <p:cNvSpPr/>
          <p:nvPr/>
        </p:nvSpPr>
        <p:spPr>
          <a:xfrm>
            <a:off x="731525" y="1920252"/>
            <a:ext cx="5158200" cy="2651700"/>
          </a:xfrm>
          <a:prstGeom prst="roundRect">
            <a:avLst>
              <a:gd fmla="val 16667" name="adj"/>
            </a:avLst>
          </a:prstGeom>
          <a:solidFill>
            <a:srgbClr val="313244"/>
          </a:solidFill>
          <a:ln>
            <a:noFill/>
          </a:ln>
        </p:spPr>
        <p:txBody>
          <a:bodyPr anchorCtr="0" anchor="ctr" bIns="152400" lIns="203200" spcFirstLastPara="1" rIns="203200" wrap="square" tIns="152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# Numbers: int vs float works fine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print(5 == 5.0)     # True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print(10 &gt; 9.5)     # True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>
              <a:solidFill>
                <a:srgbClr val="A6E3A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# Strings: compared alphabetically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# Case matters: "ABC" != "abc"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>
              <a:solidFill>
                <a:srgbClr val="A6E3A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# Type mismatch: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print(5 == "5")     # False!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# print(10 &lt; "20")  # TypeError!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1E2E"/>
        </a:solidFill>
      </p:bgPr>
    </p:bg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23"/>
          <p:cNvSpPr txBox="1"/>
          <p:nvPr/>
        </p:nvSpPr>
        <p:spPr>
          <a:xfrm>
            <a:off x="731520" y="457200"/>
            <a:ext cx="10058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89B4FA"/>
                </a:solidFill>
                <a:latin typeface="Calibri"/>
                <a:ea typeface="Calibri"/>
                <a:cs typeface="Calibri"/>
                <a:sym typeface="Calibri"/>
              </a:rPr>
              <a:t>Common Mistakes &amp; How to Fix Them</a:t>
            </a:r>
            <a:endParaRPr/>
          </a:p>
        </p:txBody>
      </p:sp>
      <p:graphicFrame>
        <p:nvGraphicFramePr>
          <p:cNvPr id="264" name="Google Shape;264;p23"/>
          <p:cNvGraphicFramePr/>
          <p:nvPr/>
        </p:nvGraphicFramePr>
        <p:xfrm>
          <a:off x="731520" y="13716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{FC9AE53D-8BBF-4BAA-92FD-234DDB861320}</a:tableStyleId>
              </a:tblPr>
              <a:tblGrid>
                <a:gridCol w="3505200"/>
                <a:gridCol w="3505200"/>
                <a:gridCol w="3505200"/>
              </a:tblGrid>
              <a:tr h="520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 u="none" cap="none" strike="noStrike">
                          <a:solidFill>
                            <a:srgbClr val="1E1E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Mistake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89B4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 u="none" cap="none" strike="noStrike">
                          <a:solidFill>
                            <a:srgbClr val="1E1E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What Happens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89B4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 u="none" cap="none" strike="noStrike">
                          <a:solidFill>
                            <a:srgbClr val="1E1E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Fix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89B4FA"/>
                    </a:solidFill>
                  </a:tcPr>
                </a:tc>
              </a:tr>
              <a:tr h="520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CDD6F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= vs ==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24243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CDD6F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SyntaxError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24243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CDD6F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Use == for comparison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24243A"/>
                    </a:solidFill>
                  </a:tcPr>
                </a:tc>
              </a:tr>
              <a:tr h="520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CDD6F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Wrong folder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24243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CDD6F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No such file or directory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24243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CDD6F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cd to project folder first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24243A"/>
                    </a:solidFill>
                  </a:tcPr>
                </a:tc>
              </a:tr>
              <a:tr h="520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CDD6F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Unquoted text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24243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CDD6F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name = Alice → NameError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24243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CDD6F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Use quotes: name = "Alice"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24243A"/>
                    </a:solidFill>
                  </a:tcPr>
                </a:tc>
              </a:tr>
              <a:tr h="520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CDD6F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Mixing str + int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24243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CDD6F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"Total: " + 100 → TypeError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24243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CDD6F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Convert: str(100)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24243A"/>
                    </a:solidFill>
                  </a:tcPr>
                </a:tc>
              </a:tr>
              <a:tr h="520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CDD6F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Wrong precedence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24243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CDD6F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2+3*4 gives 14, not 20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24243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CDD6F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Use parentheses: (2+3)*4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24243A"/>
                    </a:solidFill>
                  </a:tcPr>
                </a:tc>
              </a:tr>
              <a:tr h="520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CDD6F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Forgot to save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24243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CDD6F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Old code runs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24243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CDD6F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Ctrl+S / Cmd+S before running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24243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1E2E"/>
        </a:solidFill>
      </p:bgPr>
    </p:bg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24"/>
          <p:cNvSpPr txBox="1"/>
          <p:nvPr/>
        </p:nvSpPr>
        <p:spPr>
          <a:xfrm>
            <a:off x="731520" y="457200"/>
            <a:ext cx="10058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89B4FA"/>
                </a:solidFill>
                <a:latin typeface="Calibri"/>
                <a:ea typeface="Calibri"/>
                <a:cs typeface="Calibri"/>
                <a:sym typeface="Calibri"/>
              </a:rPr>
              <a:t>Key Takeaways</a:t>
            </a:r>
            <a:endParaRPr/>
          </a:p>
        </p:txBody>
      </p:sp>
      <p:sp>
        <p:nvSpPr>
          <p:cNvPr id="270" name="Google Shape;270;p24"/>
          <p:cNvSpPr txBox="1"/>
          <p:nvPr/>
        </p:nvSpPr>
        <p:spPr>
          <a:xfrm>
            <a:off x="731520" y="1371600"/>
            <a:ext cx="1005840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1.  Setup — Install VS Code + Python. Add Python to PATH. Enable Auto Save.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2.  Terminal — Use it to run python3 index.py and see output.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3.  Variables — Named containers. Use = to assign. snake_case naming.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4.  Data Types — int, float, str, bool — each has a purpose.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5.  Arithmetic — +  -  *  /  //  %  **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6.  Comparison — ==  !=  &gt;  &lt;  &gt;=  &lt;= — return True or False.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7.  Precedence — PEMDAS. Use parentheses when order matters.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8.  Syntax — Quotes for strings, indentation matters, case-sensitive.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1E2E"/>
        </a:solidFill>
      </p:bgPr>
    </p:bg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25"/>
          <p:cNvSpPr txBox="1"/>
          <p:nvPr/>
        </p:nvSpPr>
        <p:spPr>
          <a:xfrm>
            <a:off x="731520" y="457200"/>
            <a:ext cx="10058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89B4FA"/>
                </a:solidFill>
                <a:latin typeface="Calibri"/>
                <a:ea typeface="Calibri"/>
                <a:cs typeface="Calibri"/>
                <a:sym typeface="Calibri"/>
              </a:rPr>
              <a:t>Debugging Tips</a:t>
            </a:r>
            <a:endParaRPr/>
          </a:p>
        </p:txBody>
      </p:sp>
      <p:graphicFrame>
        <p:nvGraphicFramePr>
          <p:cNvPr id="276" name="Google Shape;276;p25"/>
          <p:cNvGraphicFramePr/>
          <p:nvPr/>
        </p:nvGraphicFramePr>
        <p:xfrm>
          <a:off x="731520" y="13716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{FC9AE53D-8BBF-4BAA-92FD-234DDB861320}</a:tableStyleId>
              </a:tblPr>
              <a:tblGrid>
                <a:gridCol w="5257800"/>
                <a:gridCol w="5257800"/>
              </a:tblGrid>
              <a:tr h="550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 u="none" cap="none" strike="noStrike">
                          <a:solidFill>
                            <a:srgbClr val="1E1E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Problem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89B4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 u="none" cap="none" strike="noStrike">
                          <a:solidFill>
                            <a:srgbClr val="1E1E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What to Check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89B4FA"/>
                    </a:solidFill>
                  </a:tcPr>
                </a:tc>
              </a:tr>
              <a:tr h="550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CDD6F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"No such file or directory"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24243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CDD6F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Terminal is in the wrong folder → use cd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24243A"/>
                    </a:solidFill>
                  </a:tcPr>
                </a:tc>
              </a:tr>
              <a:tr h="550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CDD6F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"python3 is not recognized"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24243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CDD6F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Reinstall Python with "Add to PATH" checked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24243A"/>
                    </a:solidFill>
                  </a:tcPr>
                </a:tc>
              </a:tr>
              <a:tr h="550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CDD6F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SyntaxError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24243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CDD6F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Missing quote, wrong indentation, typo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24243A"/>
                    </a:solidFill>
                  </a:tcPr>
                </a:tc>
              </a:tr>
              <a:tr h="550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CDD6F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TypeError (str + int)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24243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CDD6F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Mixing types → use str() or int() to convert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24243A"/>
                    </a:solidFill>
                  </a:tcPr>
                </a:tc>
              </a:tr>
              <a:tr h="550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CDD6F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Wrong calculation result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24243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CDD6F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Check precedence → add parentheses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24243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1E2E"/>
        </a:solidFill>
      </p:bgPr>
    </p:bg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26"/>
          <p:cNvSpPr txBox="1"/>
          <p:nvPr/>
        </p:nvSpPr>
        <p:spPr>
          <a:xfrm>
            <a:off x="731520" y="457200"/>
            <a:ext cx="10058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89B4FA"/>
                </a:solidFill>
                <a:latin typeface="Calibri"/>
                <a:ea typeface="Calibri"/>
                <a:cs typeface="Calibri"/>
                <a:sym typeface="Calibri"/>
              </a:rPr>
              <a:t>Practice Exercise</a:t>
            </a:r>
            <a:endParaRPr/>
          </a:p>
        </p:txBody>
      </p:sp>
      <p:sp>
        <p:nvSpPr>
          <p:cNvPr id="282" name="Google Shape;282;p26"/>
          <p:cNvSpPr/>
          <p:nvPr/>
        </p:nvSpPr>
        <p:spPr>
          <a:xfrm>
            <a:off x="731520" y="1371600"/>
            <a:ext cx="5029200" cy="2743200"/>
          </a:xfrm>
          <a:prstGeom prst="roundRect">
            <a:avLst>
              <a:gd fmla="val 16667" name="adj"/>
            </a:avLst>
          </a:prstGeom>
          <a:solidFill>
            <a:srgbClr val="313244"/>
          </a:solidFill>
          <a:ln>
            <a:noFill/>
          </a:ln>
        </p:spPr>
        <p:txBody>
          <a:bodyPr anchorCtr="0" anchor="ctr" bIns="152400" lIns="203200" spcFirstLastPara="1" rIns="203200" wrap="square" tIns="152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score = 80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bonus = 20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total = score + bonus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rgbClr val="A6E3A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print("Total score:", total)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print("Passing?", total &gt;= 60)</a:t>
            </a:r>
            <a:endParaRPr/>
          </a:p>
        </p:txBody>
      </p:sp>
      <p:sp>
        <p:nvSpPr>
          <p:cNvPr id="283" name="Google Shape;283;p26"/>
          <p:cNvSpPr txBox="1"/>
          <p:nvPr/>
        </p:nvSpPr>
        <p:spPr>
          <a:xfrm>
            <a:off x="6400800" y="1371600"/>
            <a:ext cx="5029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A6E3A1"/>
                </a:solidFill>
                <a:latin typeface="Calibri"/>
                <a:ea typeface="Calibri"/>
                <a:cs typeface="Calibri"/>
                <a:sym typeface="Calibri"/>
              </a:rPr>
              <a:t>Expected Output:</a:t>
            </a:r>
            <a:endParaRPr/>
          </a:p>
        </p:txBody>
      </p:sp>
      <p:sp>
        <p:nvSpPr>
          <p:cNvPr id="284" name="Google Shape;284;p26"/>
          <p:cNvSpPr/>
          <p:nvPr/>
        </p:nvSpPr>
        <p:spPr>
          <a:xfrm>
            <a:off x="6400800" y="1920240"/>
            <a:ext cx="5029200" cy="1097280"/>
          </a:xfrm>
          <a:prstGeom prst="roundRect">
            <a:avLst>
              <a:gd fmla="val 16667" name="adj"/>
            </a:avLst>
          </a:prstGeom>
          <a:solidFill>
            <a:srgbClr val="313244"/>
          </a:solidFill>
          <a:ln>
            <a:noFill/>
          </a:ln>
        </p:spPr>
        <p:txBody>
          <a:bodyPr anchorCtr="0" anchor="ctr" bIns="152400" lIns="203200" spcFirstLastPara="1" rIns="203200" wrap="square" tIns="152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Total score: 100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Passing? True</a:t>
            </a:r>
            <a:endParaRPr/>
          </a:p>
        </p:txBody>
      </p:sp>
      <p:sp>
        <p:nvSpPr>
          <p:cNvPr id="285" name="Google Shape;285;p26"/>
          <p:cNvSpPr txBox="1"/>
          <p:nvPr/>
        </p:nvSpPr>
        <p:spPr>
          <a:xfrm>
            <a:off x="6400800" y="3474720"/>
            <a:ext cx="5029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F9E2AF"/>
                </a:solidFill>
                <a:latin typeface="Calibri"/>
                <a:ea typeface="Calibri"/>
                <a:cs typeface="Calibri"/>
                <a:sym typeface="Calibri"/>
              </a:rPr>
              <a:t>Challenge:</a:t>
            </a:r>
            <a:endParaRPr/>
          </a:p>
        </p:txBody>
      </p:sp>
      <p:sp>
        <p:nvSpPr>
          <p:cNvPr id="286" name="Google Shape;286;p26"/>
          <p:cNvSpPr txBox="1"/>
          <p:nvPr/>
        </p:nvSpPr>
        <p:spPr>
          <a:xfrm>
            <a:off x="6400800" y="4023360"/>
            <a:ext cx="502920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Try 2 + 3 * 4 in a variable — print it.</a:t>
            </a:r>
            <a:b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Then try (2 + 3) * 4 — see the difference!</a:t>
            </a:r>
            <a:b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This reinforces operator precedence.</a:t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1E2E"/>
        </a:solidFill>
      </p:bgPr>
    </p:bg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10"/>
          <p:cNvSpPr txBox="1"/>
          <p:nvPr/>
        </p:nvSpPr>
        <p:spPr>
          <a:xfrm>
            <a:off x="731520" y="457200"/>
            <a:ext cx="10058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89B4FA"/>
                </a:solidFill>
                <a:latin typeface="Calibri"/>
                <a:ea typeface="Calibri"/>
                <a:cs typeface="Calibri"/>
                <a:sym typeface="Calibri"/>
              </a:rPr>
              <a:t>Syntax: Good vs Bad Examples</a:t>
            </a:r>
            <a:endParaRPr/>
          </a:p>
        </p:txBody>
      </p:sp>
      <p:sp>
        <p:nvSpPr>
          <p:cNvPr id="292" name="Google Shape;292;p10"/>
          <p:cNvSpPr txBox="1"/>
          <p:nvPr/>
        </p:nvSpPr>
        <p:spPr>
          <a:xfrm>
            <a:off x="731520" y="1188720"/>
            <a:ext cx="100584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Syntax = rules for writing code. Break the rules → SyntaxError.</a:t>
            </a:r>
            <a:endParaRPr/>
          </a:p>
        </p:txBody>
      </p:sp>
      <p:sp>
        <p:nvSpPr>
          <p:cNvPr id="293" name="Google Shape;293;p10"/>
          <p:cNvSpPr txBox="1"/>
          <p:nvPr/>
        </p:nvSpPr>
        <p:spPr>
          <a:xfrm>
            <a:off x="731520" y="2011680"/>
            <a:ext cx="5029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A6E3A1"/>
                </a:solidFill>
                <a:latin typeface="Calibri"/>
                <a:ea typeface="Calibri"/>
                <a:cs typeface="Calibri"/>
                <a:sym typeface="Calibri"/>
              </a:rPr>
              <a:t>Good ✓</a:t>
            </a:r>
            <a:endParaRPr/>
          </a:p>
        </p:txBody>
      </p:sp>
      <p:sp>
        <p:nvSpPr>
          <p:cNvPr id="294" name="Google Shape;294;p10"/>
          <p:cNvSpPr/>
          <p:nvPr/>
        </p:nvSpPr>
        <p:spPr>
          <a:xfrm>
            <a:off x="731525" y="2560324"/>
            <a:ext cx="5058900" cy="2974500"/>
          </a:xfrm>
          <a:prstGeom prst="roundRect">
            <a:avLst>
              <a:gd fmla="val 16667" name="adj"/>
            </a:avLst>
          </a:prstGeom>
          <a:solidFill>
            <a:srgbClr val="313244"/>
          </a:solidFill>
          <a:ln>
            <a:noFill/>
          </a:ln>
        </p:spPr>
        <p:txBody>
          <a:bodyPr anchorCtr="0" anchor="ctr" bIns="152400" lIns="203200" spcFirstLastPara="1" rIns="203200" wrap="square" tIns="152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name = "Alice"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message = 'Hello'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>
              <a:solidFill>
                <a:srgbClr val="A6E3A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score = 100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age = 25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>
              <a:solidFill>
                <a:srgbClr val="A6E3A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if score &gt; 50: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    print("Passed")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>
              <a:solidFill>
                <a:srgbClr val="A6E3A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print("Hello")</a:t>
            </a:r>
            <a:endParaRPr/>
          </a:p>
        </p:txBody>
      </p:sp>
      <p:sp>
        <p:nvSpPr>
          <p:cNvPr id="295" name="Google Shape;295;p10"/>
          <p:cNvSpPr txBox="1"/>
          <p:nvPr/>
        </p:nvSpPr>
        <p:spPr>
          <a:xfrm>
            <a:off x="6400800" y="2011680"/>
            <a:ext cx="5029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FAB387"/>
                </a:solidFill>
                <a:latin typeface="Calibri"/>
                <a:ea typeface="Calibri"/>
                <a:cs typeface="Calibri"/>
                <a:sym typeface="Calibri"/>
              </a:rPr>
              <a:t>Bad ✗</a:t>
            </a:r>
            <a:endParaRPr/>
          </a:p>
        </p:txBody>
      </p:sp>
      <p:sp>
        <p:nvSpPr>
          <p:cNvPr id="296" name="Google Shape;296;p10"/>
          <p:cNvSpPr/>
          <p:nvPr/>
        </p:nvSpPr>
        <p:spPr>
          <a:xfrm>
            <a:off x="6400800" y="2560325"/>
            <a:ext cx="5697300" cy="3474600"/>
          </a:xfrm>
          <a:prstGeom prst="roundRect">
            <a:avLst>
              <a:gd fmla="val 16667" name="adj"/>
            </a:avLst>
          </a:prstGeom>
          <a:solidFill>
            <a:srgbClr val="313244"/>
          </a:solidFill>
          <a:ln>
            <a:noFill/>
          </a:ln>
        </p:spPr>
        <p:txBody>
          <a:bodyPr anchorCtr="0" anchor="ctr" bIns="152400" lIns="203200" spcFirstLastPara="1" rIns="203200" wrap="square" tIns="152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name = Alice        # Missing</a:t>
            </a:r>
            <a:r>
              <a:rPr lang="en-US" sz="1600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0" i="0" lang="en-US" sz="16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quotes!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message = "Hello    # No closing quote!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>
              <a:solidFill>
                <a:srgbClr val="A6E3A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100 = score         # Value on left!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25 = age            # Same mistake!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>
              <a:solidFill>
                <a:srgbClr val="A6E3A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if score &gt; 50: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print("Passed")     # Not indented!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>
              <a:solidFill>
                <a:srgbClr val="A6E3A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Print("Hello")      # Case-sensitive!</a:t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1E2E"/>
        </a:solidFill>
      </p:bgPr>
    </p:bg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27"/>
          <p:cNvSpPr/>
          <p:nvPr/>
        </p:nvSpPr>
        <p:spPr>
          <a:xfrm>
            <a:off x="4937760" y="2286000"/>
            <a:ext cx="2286000" cy="54864"/>
          </a:xfrm>
          <a:prstGeom prst="rect">
            <a:avLst/>
          </a:prstGeom>
          <a:solidFill>
            <a:srgbClr val="89B4F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27"/>
          <p:cNvSpPr txBox="1"/>
          <p:nvPr/>
        </p:nvSpPr>
        <p:spPr>
          <a:xfrm>
            <a:off x="914400" y="2468880"/>
            <a:ext cx="1033272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Thank You!</a:t>
            </a:r>
            <a:endParaRPr/>
          </a:p>
        </p:txBody>
      </p:sp>
      <p:sp>
        <p:nvSpPr>
          <p:cNvPr id="303" name="Google Shape;303;p27"/>
          <p:cNvSpPr txBox="1"/>
          <p:nvPr/>
        </p:nvSpPr>
        <p:spPr>
          <a:xfrm>
            <a:off x="914400" y="3840480"/>
            <a:ext cx="1033272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Saksham Arora</a:t>
            </a:r>
            <a:b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Software Engineer 2 @ Intuit  |  Ex - Microsoft</a:t>
            </a:r>
            <a:b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linkedin.com/in/sakshamarora9575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</cp:coreProperties>
</file>