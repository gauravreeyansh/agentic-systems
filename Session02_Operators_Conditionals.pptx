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3" roundtripDataSignature="AMtx7mgsHxpYLEOIV3Gj9Ex0SatTUPg4S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C6EACB9-7A70-45A3-948B-BEA2EAD31421}">
  <a:tblStyle styleId="{FC6EACB9-7A70-45A3-948B-BEA2EAD314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customschemas.google.com/relationships/presentationmetadata" Target="meta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4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://linkedin.com/in/sakshamarora9575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Operators &amp;</a:t>
            </a:r>
            <a:b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Conditional Statements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02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754880"/>
            <a:ext cx="10058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Objective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Combine conditions with logical operators (and, or, not)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Control program flow with if / elif / else</a:t>
            </a:r>
            <a:endParaRPr/>
          </a:p>
          <a:p>
            <a:pPr indent="0" lvl="0" marL="0" marR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Read user input and format output with f-strings</a:t>
            </a:r>
            <a:endParaRPr/>
          </a:p>
        </p:txBody>
      </p:sp>
      <p:sp>
        <p:nvSpPr>
          <p:cNvPr id="94" name="Google Shape;94;p2"/>
          <p:cNvSpPr txBox="1"/>
          <p:nvPr/>
        </p:nvSpPr>
        <p:spPr>
          <a:xfrm>
            <a:off x="731520" y="38404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731520" y="466344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Logical Operators — and, or, not, precedence, short-circuit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Conditionals — if, elif, else, nesting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Input / Output — input(), print(), f-strings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and  •  or  •  not  —  combining boolean conditions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Three Logical Operators</a:t>
            </a:r>
            <a:endParaRPr/>
          </a:p>
        </p:txBody>
      </p:sp>
      <p:sp>
        <p:nvSpPr>
          <p:cNvPr id="108" name="Google Shape;108;p4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Comparisons give True / False.  Logical operators glue conditions together.</a:t>
            </a:r>
            <a:endParaRPr/>
          </a:p>
        </p:txBody>
      </p:sp>
      <p:graphicFrame>
        <p:nvGraphicFramePr>
          <p:cNvPr id="109" name="Google Shape;109;p4"/>
          <p:cNvGraphicFramePr/>
          <p:nvPr/>
        </p:nvGraphicFramePr>
        <p:xfrm>
          <a:off x="73152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3352800"/>
                <a:gridCol w="3352800"/>
                <a:gridCol w="33528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 when …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must hold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Both sides are 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 least one holds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or both are 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Negation / flip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Operand is 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10" name="Google Shape;110;p4"/>
          <p:cNvSpPr txBox="1"/>
          <p:nvPr/>
        </p:nvSpPr>
        <p:spPr>
          <a:xfrm>
            <a:off x="731520" y="47548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Analogies</a:t>
            </a:r>
            <a:endParaRPr/>
          </a:p>
        </p:txBody>
      </p:sp>
      <p:sp>
        <p:nvSpPr>
          <p:cNvPr id="111" name="Google Shape;111;p4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= all requirements (license and age and vehicle)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  = any option works  (cash or card)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= the opposite       (not raining → sunny)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and  —  Both Must Be True</a:t>
            </a:r>
            <a:endParaRPr/>
          </a:p>
        </p:txBody>
      </p:sp>
      <p:graphicFrame>
        <p:nvGraphicFramePr>
          <p:cNvPr id="117" name="Google Shape;117;p5"/>
          <p:cNvGraphicFramePr/>
          <p:nvPr/>
        </p:nvGraphicFramePr>
        <p:xfrm>
          <a:off x="7315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1524000"/>
                <a:gridCol w="1524000"/>
                <a:gridCol w="15240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and B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18" name="Google Shape;118;p5"/>
          <p:cNvSpPr/>
          <p:nvPr/>
        </p:nvSpPr>
        <p:spPr>
          <a:xfrm>
            <a:off x="5943600" y="1463040"/>
            <a:ext cx="5486400" cy="4114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age, has_license = 20,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can_drive = age &gt;= 18 and has_license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print(can_drive)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score, submitted = 85,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can_pass = score &gt;= 60 and submitted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print(can_pass)   #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One False → entire result is False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or  —  At Least One Must Be True</a:t>
            </a:r>
            <a:endParaRPr/>
          </a:p>
        </p:txBody>
      </p:sp>
      <p:graphicFrame>
        <p:nvGraphicFramePr>
          <p:cNvPr id="124" name="Google Shape;124;p6"/>
          <p:cNvGraphicFramePr/>
          <p:nvPr/>
        </p:nvGraphicFramePr>
        <p:xfrm>
          <a:off x="7315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1524000"/>
                <a:gridCol w="1524000"/>
                <a:gridCol w="15240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or B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25" name="Google Shape;125;p6"/>
          <p:cNvSpPr/>
          <p:nvPr/>
        </p:nvSpPr>
        <p:spPr>
          <a:xfrm>
            <a:off x="5943600" y="1463040"/>
            <a:ext cx="5486400" cy="4114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is_weekend =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is_holiday =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can_sleep_in = is_weekend or is_holiday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print(can_sleep_in)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is_rain =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is_snow =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bad_weather = is_rain or is_snow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print(bad_weather)   #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Both False → result is False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not  —  Flip the Boolean</a:t>
            </a:r>
            <a:endParaRPr/>
          </a:p>
        </p:txBody>
      </p:sp>
      <p:graphicFrame>
        <p:nvGraphicFramePr>
          <p:cNvPr id="131" name="Google Shape;131;p7"/>
          <p:cNvGraphicFramePr/>
          <p:nvPr/>
        </p:nvGraphicFramePr>
        <p:xfrm>
          <a:off x="7315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1828800"/>
                <a:gridCol w="1828800"/>
              </a:tblGrid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A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False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32" name="Google Shape;132;p7"/>
          <p:cNvSpPr/>
          <p:nvPr/>
        </p:nvSpPr>
        <p:spPr>
          <a:xfrm>
            <a:off x="5029200" y="1463040"/>
            <a:ext cx="64008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form_submitted =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can_edit = not form_submitted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print(can_edit)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is_sunny = not False 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is_adult = not (16 &lt; 18)  # False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731520" y="4572000"/>
            <a:ext cx="10515600" cy="164592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Tip:  not reverses any boolean expression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"not raining" = sunny  •  "not form_submitted" = can still edit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Combining Operators &amp; Precedence</a:t>
            </a:r>
            <a:endParaRPr/>
          </a:p>
        </p:txBody>
      </p:sp>
      <p:sp>
        <p:nvSpPr>
          <p:cNvPr id="139" name="Google Shape;139;p8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Precedence Order (high → low)</a:t>
            </a:r>
            <a:endParaRPr/>
          </a:p>
        </p:txBody>
      </p:sp>
      <p:sp>
        <p:nvSpPr>
          <p:cNvPr id="140" name="Google Shape;140;p8"/>
          <p:cNvSpPr txBox="1"/>
          <p:nvPr/>
        </p:nvSpPr>
        <p:spPr>
          <a:xfrm>
            <a:off x="731525" y="2011674"/>
            <a:ext cx="50292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Parentheses  ( 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not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and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or</a:t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6217920" y="1371600"/>
            <a:ext cx="530352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and binds tighter than 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or True and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→ True or (True and False)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→ True or False →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(True or True) and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→ True and False → False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731525" y="4389125"/>
            <a:ext cx="10631700" cy="2190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Registration example — use parentheses for clarity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17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has_parent_consent, has_id = True,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can_register = (age &gt;= 18) or (age &lt; 18 and has_parent_consent and has_id)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print(can_register)  # True — minor with consent and id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Short-Circuit Evaluation</a:t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731520" y="137160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Python evaluates left-to-right and stops as soon as the result is decided.</a:t>
            </a:r>
            <a:endParaRPr/>
          </a:p>
        </p:txBody>
      </p:sp>
      <p:sp>
        <p:nvSpPr>
          <p:cNvPr id="149" name="Google Shape;149;p9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and  — stops on first False</a:t>
            </a:r>
            <a:endParaRPr/>
          </a:p>
        </p:txBody>
      </p:sp>
      <p:sp>
        <p:nvSpPr>
          <p:cNvPr id="150" name="Google Shape;150;p9"/>
          <p:cNvSpPr/>
          <p:nvPr/>
        </p:nvSpPr>
        <p:spPr>
          <a:xfrm>
            <a:off x="731520" y="292608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16 &gt;= 18 and expensive_check()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False and ... → skip right side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expensive_check() never runs</a:t>
            </a:r>
            <a:endParaRPr/>
          </a:p>
        </p:txBody>
      </p:sp>
      <p:sp>
        <p:nvSpPr>
          <p:cNvPr id="151" name="Google Shape;151;p9"/>
          <p:cNvSpPr txBox="1"/>
          <p:nvPr/>
        </p:nvSpPr>
        <p:spPr>
          <a:xfrm>
            <a:off x="6217920" y="22860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or  — stops on first True</a:t>
            </a:r>
            <a:endParaRPr/>
          </a:p>
        </p:txBody>
      </p:sp>
      <p:sp>
        <p:nvSpPr>
          <p:cNvPr id="152" name="Google Shape;152;p9"/>
          <p:cNvSpPr/>
          <p:nvPr/>
        </p:nvSpPr>
        <p:spPr>
          <a:xfrm>
            <a:off x="6217920" y="2926080"/>
            <a:ext cx="530352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or expensive_check()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True or ... → skip right side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expensive_check() never runs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/>
        </p:nvSpPr>
        <p:spPr>
          <a:xfrm>
            <a:off x="731520" y="457200"/>
            <a:ext cx="1005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Logical Operators — Patterns</a:t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Common Patterns</a:t>
            </a:r>
            <a:endParaRPr/>
          </a:p>
        </p:txBody>
      </p:sp>
      <p:sp>
        <p:nvSpPr>
          <p:cNvPr id="159" name="Google Shape;159;p10"/>
          <p:cNvSpPr/>
          <p:nvPr/>
        </p:nvSpPr>
        <p:spPr>
          <a:xfrm>
            <a:off x="731525" y="2011675"/>
            <a:ext cx="5368200" cy="346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Range check (Python chaining)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30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18 &lt;= age &lt;= 65  #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Default with 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"" or "Guest"  # "Guest"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first thing which is not empty</a:t>
            </a:r>
            <a:endParaRPr sz="17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731520" y="6260305"/>
            <a:ext cx="1051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Tip:  When mixing and / or, always use parentheses to show your intent.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Practice — Predict the Output</a:t>
            </a:r>
            <a:endParaRPr/>
          </a:p>
        </p:txBody>
      </p:sp>
      <p:sp>
        <p:nvSpPr>
          <p:cNvPr id="166" name="Google Shape;166;p11"/>
          <p:cNvSpPr/>
          <p:nvPr/>
        </p:nvSpPr>
        <p:spPr>
          <a:xfrm>
            <a:off x="731520" y="1508753"/>
            <a:ext cx="5029200" cy="4114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a, b, c = True, False,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 and b)       # 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 or b)        # 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print(not b)         # 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 and b or c)  # 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print(a and (b or c))# ?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print(not (a and b)) # ?</a:t>
            </a:r>
            <a:endParaRPr/>
          </a:p>
        </p:txBody>
      </p:sp>
      <p:sp>
        <p:nvSpPr>
          <p:cNvPr id="167" name="Google Shape;167;p11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Answers</a:t>
            </a:r>
            <a:endParaRPr/>
          </a:p>
        </p:txBody>
      </p:sp>
      <p:sp>
        <p:nvSpPr>
          <p:cNvPr id="168" name="Google Shape;168;p11"/>
          <p:cNvSpPr/>
          <p:nvPr/>
        </p:nvSpPr>
        <p:spPr>
          <a:xfrm>
            <a:off x="5899775" y="2148900"/>
            <a:ext cx="6336300" cy="281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False       # T and F → 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       # T or F → 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       # not F → 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       # (T and F) or T → 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       # T and (F or T) → 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True        # not (T and F) → not F → T</a:t>
            </a:r>
            <a:endParaRPr/>
          </a:p>
        </p:txBody>
      </p:sp>
      <p:sp>
        <p:nvSpPr>
          <p:cNvPr id="169" name="Google Shape;169;p11"/>
          <p:cNvSpPr/>
          <p:nvPr/>
        </p:nvSpPr>
        <p:spPr>
          <a:xfrm>
            <a:off x="731520" y="5760720"/>
            <a:ext cx="10515600" cy="731520"/>
          </a:xfrm>
          <a:prstGeom prst="roundRect">
            <a:avLst>
              <a:gd fmla="val 16667" name="adj"/>
            </a:avLst>
          </a:prstGeom>
          <a:solidFill>
            <a:srgbClr val="1B3D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Key:  a and b or c  is  (a and b) or c  — and binds first!</a:t>
            </a:r>
            <a:endParaRPr b="1" i="0" sz="2200" u="none" cap="none" strike="noStrike">
              <a:solidFill>
                <a:srgbClr val="A6E3A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Expressions, Statements</a:t>
            </a:r>
            <a:b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Assignment Operators</a:t>
            </a:r>
            <a:endParaRPr/>
          </a:p>
        </p:txBody>
      </p:sp>
      <p:sp>
        <p:nvSpPr>
          <p:cNvPr id="176" name="Google Shape;176;p1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What evaluates to a value  •  Compound assignment shortcuts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Expressions vs Statements</a:t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Expression → evaluates to a value</a:t>
            </a:r>
            <a:endParaRPr/>
          </a:p>
        </p:txBody>
      </p:sp>
      <p:sp>
        <p:nvSpPr>
          <p:cNvPr id="183" name="Google Shape;183;p13"/>
          <p:cNvSpPr/>
          <p:nvPr/>
        </p:nvSpPr>
        <p:spPr>
          <a:xfrm>
            <a:off x="731525" y="2011674"/>
            <a:ext cx="5133900" cy="2075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2 + 3           # →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&gt;= 18       # → True / False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 and b         # → True / False</a:t>
            </a:r>
            <a:endParaRPr/>
          </a:p>
        </p:txBody>
      </p:sp>
      <p:sp>
        <p:nvSpPr>
          <p:cNvPr id="184" name="Google Shape;184;p13"/>
          <p:cNvSpPr txBox="1"/>
          <p:nvPr/>
        </p:nvSpPr>
        <p:spPr>
          <a:xfrm>
            <a:off x="731520" y="42062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Compound Assignment Operators</a:t>
            </a:r>
            <a:endParaRPr/>
          </a:p>
        </p:txBody>
      </p:sp>
      <p:graphicFrame>
        <p:nvGraphicFramePr>
          <p:cNvPr id="185" name="Google Shape;185;p13"/>
          <p:cNvGraphicFramePr/>
          <p:nvPr/>
        </p:nvGraphicFramePr>
        <p:xfrm>
          <a:off x="731520" y="49377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1828800"/>
                <a:gridCol w="1828800"/>
                <a:gridCol w="1828800"/>
              </a:tblGrid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Operator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Example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as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+=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+= 1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= n + 1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-=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-= 2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= n - 2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4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*=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*= 3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 = n * 3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86" name="Google Shape;186;p13"/>
          <p:cNvSpPr/>
          <p:nvPr/>
        </p:nvSpPr>
        <p:spPr>
          <a:xfrm>
            <a:off x="6675125" y="4754875"/>
            <a:ext cx="4846200" cy="1645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count += 1   # now 1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discount = 10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discount += 5  # now 15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if Statements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basic branch — run code only when a condition is True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if Statement — Syntax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 if statement runs a block only when the condition is True.</a:t>
            </a:r>
            <a:b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Parts:  if  +  condition  +  colon  +  indented block (4 spaces).</a:t>
            </a: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731520" y="2560320"/>
            <a:ext cx="5029200" cy="3200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20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print("You are an adult")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Output: You are an adult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15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print("You are an adult")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No output — condition is False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6217920" y="256032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What runs, what doesn't?</a:t>
            </a: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6217925" y="3200400"/>
            <a:ext cx="5822100" cy="256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print("Start")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15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20: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print("Inside if")  # only if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print("Always runs")   # outside if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Indentation &amp; Conditions Inside if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Indentation = Structure</a:t>
            </a:r>
            <a:endParaRPr/>
          </a:p>
        </p:txBody>
      </p:sp>
      <p:sp>
        <p:nvSpPr>
          <p:cNvPr id="209" name="Google Shape;209;p16"/>
          <p:cNvSpPr/>
          <p:nvPr/>
        </p:nvSpPr>
        <p:spPr>
          <a:xfrm>
            <a:off x="731520" y="201168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print("A")   # inside if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print("B")   # inside if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print("Always")  # outside if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16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Conditions can use logic</a:t>
            </a:r>
            <a:endParaRPr/>
          </a:p>
        </p:txBody>
      </p:sp>
      <p:sp>
        <p:nvSpPr>
          <p:cNvPr id="211" name="Google Shape;211;p16"/>
          <p:cNvSpPr/>
          <p:nvPr/>
        </p:nvSpPr>
        <p:spPr>
          <a:xfrm>
            <a:off x="6217925" y="2011674"/>
            <a:ext cx="5390400" cy="256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 and has_license: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print("Can drive")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is_weekend or is_holiday: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print("Sleep in")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not form_submitted: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print("Can still edit")</a:t>
            </a:r>
            <a:endParaRPr sz="1300"/>
          </a:p>
        </p:txBody>
      </p:sp>
      <p:sp>
        <p:nvSpPr>
          <p:cNvPr id="212" name="Google Shape;212;p16"/>
          <p:cNvSpPr txBox="1"/>
          <p:nvPr/>
        </p:nvSpPr>
        <p:spPr>
          <a:xfrm>
            <a:off x="731520" y="47548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Multiple Independent ifs — each checked separately, more than one can run:</a:t>
            </a:r>
            <a:endParaRPr/>
          </a:p>
        </p:txBody>
      </p:sp>
      <p:sp>
        <p:nvSpPr>
          <p:cNvPr id="213" name="Google Shape;213;p16"/>
          <p:cNvSpPr/>
          <p:nvPr/>
        </p:nvSpPr>
        <p:spPr>
          <a:xfrm>
            <a:off x="731525" y="5394948"/>
            <a:ext cx="10515600" cy="1262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85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60: print("Passed")        # runs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70: print("C or better")   # runs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80: print("B or better")   # runs  ← all three print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7"/>
          <p:cNvSpPr txBox="1"/>
          <p:nvPr/>
        </p:nvSpPr>
        <p:spPr>
          <a:xfrm>
            <a:off x="731520" y="278775"/>
            <a:ext cx="10058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if — Common Mistakes</a:t>
            </a:r>
            <a:endParaRPr/>
          </a:p>
        </p:txBody>
      </p:sp>
      <p:graphicFrame>
        <p:nvGraphicFramePr>
          <p:cNvPr id="219" name="Google Shape;219;p17"/>
          <p:cNvGraphicFramePr/>
          <p:nvPr/>
        </p:nvGraphicFramePr>
        <p:xfrm>
          <a:off x="731520" y="1146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3505200"/>
                <a:gridCol w="3505200"/>
                <a:gridCol w="3505200"/>
              </a:tblGrid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Mistake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Happens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colon  :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SyntaxError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age &gt;= 18:  ← don't forget the colon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indentation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IndentationError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Indent 4 spaces under if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= instead of ==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SyntaxError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age == 18  (compare, not assign)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Line looks inside if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but is not indented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Runs regardless of condition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7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indentation carefully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17"/>
          <p:cNvSpPr txBox="1"/>
          <p:nvPr/>
        </p:nvSpPr>
        <p:spPr>
          <a:xfrm>
            <a:off x="731520" y="43891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Trace Exercise — what prints?</a:t>
            </a:r>
            <a:endParaRPr/>
          </a:p>
        </p:txBody>
      </p:sp>
      <p:sp>
        <p:nvSpPr>
          <p:cNvPr id="221" name="Google Shape;221;p17"/>
          <p:cNvSpPr/>
          <p:nvPr/>
        </p:nvSpPr>
        <p:spPr>
          <a:xfrm>
            <a:off x="731525" y="4884225"/>
            <a:ext cx="5267700" cy="1862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x = 10</a:t>
            </a:r>
            <a:endParaRPr sz="1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x &gt; 5:</a:t>
            </a:r>
            <a:endParaRPr sz="1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print("A")</a:t>
            </a:r>
            <a:endParaRPr sz="1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print("B")</a:t>
            </a:r>
            <a:endParaRPr sz="1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x &gt; 15:</a:t>
            </a:r>
            <a:endParaRPr sz="1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print("C")</a:t>
            </a:r>
            <a:endParaRPr sz="10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print("D")</a:t>
            </a:r>
            <a:endParaRPr sz="1000"/>
          </a:p>
        </p:txBody>
      </p:sp>
      <p:sp>
        <p:nvSpPr>
          <p:cNvPr id="222" name="Google Shape;222;p17"/>
          <p:cNvSpPr/>
          <p:nvPr/>
        </p:nvSpPr>
        <p:spPr>
          <a:xfrm>
            <a:off x="6217925" y="4884300"/>
            <a:ext cx="5267700" cy="1862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Answer: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   ← x &gt; 5 is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B   ← same block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   ← outside all ifs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 never prints (x &gt; 15 is False)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8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elif Statements</a:t>
            </a:r>
            <a:endParaRPr/>
          </a:p>
        </p:txBody>
      </p:sp>
      <p:sp>
        <p:nvSpPr>
          <p:cNvPr id="229" name="Google Shape;229;p18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Multiple outcomes — first match wins, rest skipped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elif  vs  Many ifs?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Problem — separate ifs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86275" y="2057400"/>
            <a:ext cx="6018600" cy="3074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85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Every if runs — last wins!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90: grade = "A"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80: grade = "B"  #</a:t>
            </a: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overwrites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70: grade = "C"  # overwrites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grade ends up "C" — wrong!</a:t>
            </a:r>
            <a:endParaRPr/>
          </a:p>
        </p:txBody>
      </p:sp>
      <p:sp>
        <p:nvSpPr>
          <p:cNvPr id="237" name="Google Shape;237;p19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Solution — elif chain</a:t>
            </a:r>
            <a:endParaRPr/>
          </a:p>
        </p:txBody>
      </p:sp>
      <p:sp>
        <p:nvSpPr>
          <p:cNvPr id="238" name="Google Shape;238;p19"/>
          <p:cNvSpPr/>
          <p:nvPr/>
        </p:nvSpPr>
        <p:spPr>
          <a:xfrm>
            <a:off x="6217925" y="2011675"/>
            <a:ext cx="59025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85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First match wins — rest skipped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  score &gt;= 90: grade = "A"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80: grade = "B"  # runs!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70: grade = "C"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             grade = "F"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grade is "B" — correct!</a:t>
            </a:r>
            <a:endParaRPr/>
          </a:p>
        </p:txBody>
      </p:sp>
      <p:sp>
        <p:nvSpPr>
          <p:cNvPr id="239" name="Google Shape;239;p19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fmla="val 16667" name="adj"/>
            </a:avLst>
          </a:prstGeom>
          <a:solidFill>
            <a:srgbClr val="1B3D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Rule:  Use elif when outcomes are mutually exclusive (only one should apply).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Separate ifs = independent checks, multiple can run.  elif chain = first true branch wins.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elif — Order Matters</a:t>
            </a:r>
            <a:endParaRPr/>
          </a:p>
        </p:txBody>
      </p:sp>
      <p:sp>
        <p:nvSpPr>
          <p:cNvPr id="245" name="Google Shape;245;p20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Check specific conditions before general ones — the first True wins.</a:t>
            </a:r>
            <a:endParaRPr/>
          </a:p>
        </p:txBody>
      </p:sp>
      <p:sp>
        <p:nvSpPr>
          <p:cNvPr id="246" name="Google Shape;246;p20"/>
          <p:cNvSpPr txBox="1"/>
          <p:nvPr/>
        </p:nvSpPr>
        <p:spPr>
          <a:xfrm>
            <a:off x="731520" y="22860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Wrong order</a:t>
            </a:r>
            <a:endParaRPr/>
          </a:p>
        </p:txBody>
      </p:sp>
      <p:sp>
        <p:nvSpPr>
          <p:cNvPr id="247" name="Google Shape;247;p20"/>
          <p:cNvSpPr/>
          <p:nvPr/>
        </p:nvSpPr>
        <p:spPr>
          <a:xfrm>
            <a:off x="160425" y="2926075"/>
            <a:ext cx="5600400" cy="2460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95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60: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print("Pass")      # catches 95!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90: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print("Excellent") # never runs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6217920" y="22860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Correct order</a:t>
            </a: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6217925" y="2926075"/>
            <a:ext cx="5768700" cy="2382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 = 95</a:t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score &gt;= 90: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print("Excellent") # runs!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60: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print("Pass")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else Statements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The guaranteed default — runs when nothing else matched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else — The Default Branch</a:t>
            </a:r>
            <a:endParaRPr/>
          </a:p>
        </p:txBody>
      </p:sp>
      <p:sp>
        <p:nvSpPr>
          <p:cNvPr id="262" name="Google Shape;262;p2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else has NO condition — it catches everything that didn't match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Must be LAST in the chain — never before elif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✦  Only ONE else per if-chain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731525" y="3200400"/>
            <a:ext cx="5029200" cy="20295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16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print("Can vote")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print("Cannot vote yet")</a:t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6217925" y="3200400"/>
            <a:ext cx="5303400" cy="20295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Full grade scale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  score &gt;= 90: grade = "A"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80: grade = "B"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70: grade = "C"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score &gt;= 60: grade = "D"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             grade = "F"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731520" y="5486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When to skip else:  If silence is OK when no condition matches.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else — Applications &amp; Mistakes</a:t>
            </a:r>
            <a:endParaRPr/>
          </a:p>
        </p:txBody>
      </p:sp>
      <p:sp>
        <p:nvSpPr>
          <p:cNvPr id="271" name="Google Shape;271;p23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Login Check</a:t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731520" y="201168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(username == "admin"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and password == "secret123"):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print("Login OK")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print("Invalid credentials")</a:t>
            </a: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Ticket Pricing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6217925" y="2011675"/>
            <a:ext cx="5303400" cy="19653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8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  age &gt;= 65: price = 8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age &gt;= 18: price = 12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age &gt;= 5:  price = 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           price = 0  # free</a:t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731520" y="4389120"/>
            <a:ext cx="10515600" cy="201168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Common Mistakes with else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else score &lt; 60:     ← WRONG!  else takes NO condition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             just write:  else: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if ... elif ... else ... elif  ← WRONG!  else must be LAST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                       correct:  if ... elif ... elif ... else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4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Nested Conditionals</a:t>
            </a:r>
            <a:endParaRPr/>
          </a:p>
        </p:txBody>
      </p:sp>
      <p:sp>
        <p:nvSpPr>
          <p:cNvPr id="282" name="Google Shape;282;p24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An if inside another if — decisions within decisions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Nested if — Inner Check Depends on Outer</a:t>
            </a:r>
            <a:endParaRPr/>
          </a:p>
        </p:txBody>
      </p:sp>
      <p:sp>
        <p:nvSpPr>
          <p:cNvPr id="288" name="Google Shape;288;p25"/>
          <p:cNvSpPr/>
          <p:nvPr/>
        </p:nvSpPr>
        <p:spPr>
          <a:xfrm>
            <a:off x="731525" y="1463050"/>
            <a:ext cx="5259900" cy="4372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18, has_license = False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Age + License check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has_license: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print("You can drive")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print("Need a license")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print("Too young")</a:t>
            </a:r>
            <a:endParaRPr/>
          </a:p>
        </p:txBody>
      </p:sp>
      <p:sp>
        <p:nvSpPr>
          <p:cNvPr id="289" name="Google Shape;289;p25"/>
          <p:cNvSpPr/>
          <p:nvPr/>
        </p:nvSpPr>
        <p:spPr>
          <a:xfrm>
            <a:off x="6225325" y="1463050"/>
            <a:ext cx="5787300" cy="4299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username = “saksham”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password = “abc”</a:t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Login flow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username == "admin":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password == "secret":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print("Login OK")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print("Wrong password")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print("User not found")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Nested if  vs  and  +  Layered Discount</a:t>
            </a:r>
            <a:endParaRPr/>
          </a:p>
        </p:txBody>
      </p:sp>
      <p:sp>
        <p:nvSpPr>
          <p:cNvPr id="295" name="Google Shape;295;p26"/>
          <p:cNvSpPr txBox="1"/>
          <p:nvPr/>
        </p:nvSpPr>
        <p:spPr>
          <a:xfrm>
            <a:off x="731520" y="1371600"/>
            <a:ext cx="5029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Nested if  vs  and</a:t>
            </a:r>
            <a:endParaRPr/>
          </a:p>
        </p:txBody>
      </p:sp>
      <p:sp>
        <p:nvSpPr>
          <p:cNvPr id="296" name="Google Shape;296;p26"/>
          <p:cNvSpPr/>
          <p:nvPr/>
        </p:nvSpPr>
        <p:spPr>
          <a:xfrm>
            <a:off x="731520" y="2011680"/>
            <a:ext cx="5029200" cy="25603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Nested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has_license: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print("Can drive")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Equivalent flat form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&gt;= 18 and has_license: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print("Can drive")</a:t>
            </a:r>
            <a:endParaRPr/>
          </a:p>
        </p:txBody>
      </p:sp>
      <p:sp>
        <p:nvSpPr>
          <p:cNvPr id="297" name="Google Shape;297;p26"/>
          <p:cNvSpPr txBox="1"/>
          <p:nvPr/>
        </p:nvSpPr>
        <p:spPr>
          <a:xfrm>
            <a:off x="6217920" y="1371600"/>
            <a:ext cx="5303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Layered Discount (nesting shines!)</a:t>
            </a:r>
            <a:endParaRPr/>
          </a:p>
        </p:txBody>
      </p:sp>
      <p:sp>
        <p:nvSpPr>
          <p:cNvPr id="298" name="Google Shape;298;p26"/>
          <p:cNvSpPr/>
          <p:nvPr/>
        </p:nvSpPr>
        <p:spPr>
          <a:xfrm>
            <a:off x="6217925" y="2011675"/>
            <a:ext cx="5435100" cy="3017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total, is_member = 150,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has_coupon = True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total &gt;= 100: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discount = 10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is_member: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discount += 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has_coupon: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discount += 10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</a:t>
            </a:r>
            <a:r>
              <a:rPr lang="en-US" sz="1600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discount</a:t>
            </a: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/>
          </a:p>
        </p:txBody>
      </p:sp>
      <p:sp>
        <p:nvSpPr>
          <p:cNvPr id="299" name="Google Shape;299;p26"/>
          <p:cNvSpPr/>
          <p:nvPr/>
        </p:nvSpPr>
        <p:spPr>
          <a:xfrm>
            <a:off x="731520" y="5212075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1B3D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When to nest  vs  when to use and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and  →  one combined condition, one outcome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nesting  →  different actions at each level, or layered logic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7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input()  and  print()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Reading user input  •  Showing output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print() — Showing Output</a:t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731520" y="1463040"/>
            <a:ext cx="105156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print("Hello")</a:t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Multiple values — default separator is space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print("a", "b", "c")          # a b c</a:t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Custom separator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print("x", "y", sep=" | ")    # x | y</a:t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Custom end (default is newline)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print("No newline", end=" 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print("Same line")             # No newline Same line</a:t>
            </a:r>
            <a:endParaRPr/>
          </a:p>
        </p:txBody>
      </p:sp>
      <p:graphicFrame>
        <p:nvGraphicFramePr>
          <p:cNvPr id="313" name="Google Shape;313;p28"/>
          <p:cNvGraphicFramePr/>
          <p:nvPr/>
        </p:nvGraphicFramePr>
        <p:xfrm>
          <a:off x="731520" y="4663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3505200"/>
                <a:gridCol w="3505200"/>
                <a:gridCol w="3505200"/>
              </a:tblGrid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Parameter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Default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does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 " (space)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Separator between multiple values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"\n" (newline)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to print after the last value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input() — Reading User Input</a:t>
            </a:r>
            <a:endParaRPr/>
          </a:p>
        </p:txBody>
      </p:sp>
      <p:sp>
        <p:nvSpPr>
          <p:cNvPr id="319" name="Google Shape;319;p29"/>
          <p:cNvSpPr/>
          <p:nvPr/>
        </p:nvSpPr>
        <p:spPr>
          <a:xfrm>
            <a:off x="731520" y="14630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 = input("Enter your name: ")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print("Hello, " + name + "!")</a:t>
            </a:r>
            <a:endParaRPr sz="1300"/>
          </a:p>
        </p:txBody>
      </p:sp>
      <p:sp>
        <p:nvSpPr>
          <p:cNvPr id="320" name="Google Shape;320;p29"/>
          <p:cNvSpPr/>
          <p:nvPr/>
        </p:nvSpPr>
        <p:spPr>
          <a:xfrm>
            <a:off x="6217920" y="1463040"/>
            <a:ext cx="5303520" cy="182880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77800" lIns="254000" spcFirstLastPara="1" rIns="2540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input() ALWAYS returns a string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age_str = input("Age: ")  # "25"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print(type(age_str))  # &lt;class 'str'&gt;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Converting input for math</a:t>
            </a:r>
            <a:endParaRPr/>
          </a:p>
        </p:txBody>
      </p:sp>
      <p:sp>
        <p:nvSpPr>
          <p:cNvPr id="322" name="Google Shape;322;p29"/>
          <p:cNvSpPr/>
          <p:nvPr/>
        </p:nvSpPr>
        <p:spPr>
          <a:xfrm>
            <a:off x="731520" y="448056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Convert with int() or float()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int(input("Age: "))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print("Next year:", age + 1)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Common pattern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price = float(input("Price: "))</a:t>
            </a:r>
            <a:endParaRPr/>
          </a:p>
        </p:txBody>
      </p:sp>
      <p:sp>
        <p:nvSpPr>
          <p:cNvPr id="323" name="Google Shape;323;p29"/>
          <p:cNvSpPr/>
          <p:nvPr/>
        </p:nvSpPr>
        <p:spPr>
          <a:xfrm>
            <a:off x="6217920" y="4480560"/>
            <a:ext cx="530352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Mini calculator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num1 = float(input("First: "))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num2 = float(input("Second: "))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print("Sum:", num1 + num2)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0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0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F-strings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Modern Python string formatting — readable &amp; powerful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F-strings — Basics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Prefix the string with f, then put expressions inside { }.  Python 3.6+ — the readable default.</a:t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>
            <a:off x="731527" y="2377438"/>
            <a:ext cx="68226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Simple variables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name, age = "Alice", 25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print(f"Hello, {name}!")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print(f"You are {age} years old.")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Expressions in braces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price, quantity = 10, 3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print(f"Total: ${price * quantity}")</a:t>
            </a:r>
            <a:endParaRPr sz="1200"/>
          </a:p>
        </p:txBody>
      </p:sp>
      <p:sp>
        <p:nvSpPr>
          <p:cNvPr id="338" name="Google Shape;338;p31"/>
          <p:cNvSpPr txBox="1"/>
          <p:nvPr/>
        </p:nvSpPr>
        <p:spPr>
          <a:xfrm>
            <a:off x="731520" y="51206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Why f-strings?  Concatenation vs f-string:</a:t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>
            <a:off x="731520" y="5669280"/>
            <a:ext cx="10515600" cy="914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msg = "Hi " + name + ", " + str(age)   # noisy, needs str()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msg = f"Hi {name}, {age}"              # clean &amp; readable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F-strings — Format Specifiers</a:t>
            </a:r>
            <a:endParaRPr/>
          </a:p>
        </p:txBody>
      </p:sp>
      <p:sp>
        <p:nvSpPr>
          <p:cNvPr id="345" name="Google Shape;345;p32"/>
          <p:cNvSpPr/>
          <p:nvPr/>
        </p:nvSpPr>
        <p:spPr>
          <a:xfrm>
            <a:off x="731525" y="1463051"/>
            <a:ext cx="5145300" cy="255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Decimal places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pi = 3.14159265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print(f"{pi:.2f}")    # 3.14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print(f"{pi:.4f}")    # 3.1416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Thousands separator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print(f"{1000000:,}") # 1,000,000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Practical Example — Receipt</a:t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731525" y="4754874"/>
            <a:ext cx="10642800" cy="1913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item, price, qty = "Coffee", 4.50, 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= price * qty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print(f"Item:  {item}")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print(f"Price: ${price:.2f}")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print(f"Qty:   {qty}")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print(f"Total: ${total:.2f}")   # Total: $9.00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Putting It All Together</a:t>
            </a:r>
            <a:endParaRPr/>
          </a:p>
        </p:txBody>
      </p:sp>
      <p:sp>
        <p:nvSpPr>
          <p:cNvPr id="353" name="Google Shape;353;p3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Real scripts chain:  input()  →  convert  →  if / elif / else  →  f-string output</a:t>
            </a:r>
            <a:endParaRPr/>
          </a:p>
        </p:txBody>
      </p:sp>
      <p:sp>
        <p:nvSpPr>
          <p:cNvPr id="354" name="Google Shape;354;p33"/>
          <p:cNvSpPr/>
          <p:nvPr/>
        </p:nvSpPr>
        <p:spPr>
          <a:xfrm>
            <a:off x="731525" y="1728450"/>
            <a:ext cx="10653900" cy="5007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203200" lIns="254000" spcFirstLastPara="1" rIns="254000" wrap="square" tIns="203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age_str = input("Age: ")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age = int(age_str)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age &lt; 0: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print("Invalid age")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age &lt; 13: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group = "child"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age &lt; 18: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group = "teen"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elif age &lt; 65: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group = "adult"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group = "senior"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can_vote = age &gt;= 18 and age &lt;= 120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print(f"You are a {group}; can vote: {can_vote}")</a:t>
            </a:r>
            <a:endParaRPr sz="1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Common Errors — Quick Lookup</a:t>
            </a:r>
            <a:endParaRPr/>
          </a:p>
        </p:txBody>
      </p:sp>
      <p:graphicFrame>
        <p:nvGraphicFramePr>
          <p:cNvPr id="360" name="Google Shape;360;p34"/>
          <p:cNvGraphicFramePr/>
          <p:nvPr/>
        </p:nvGraphicFramePr>
        <p:xfrm>
          <a:off x="731520" y="14630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{FC6EACB9-7A70-45A3-948B-BEA2EAD31421}</a:tableStyleId>
              </a:tblPr>
              <a:tblGrid>
                <a:gridCol w="5257800"/>
                <a:gridCol w="5257800"/>
              </a:tblGrid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Symptom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Usual Cause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IndentationError after if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indented body or mixed spaces/tabs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SyntaxError on  if age = 18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Used =  (assign) instead of ==  (compare)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use of += vs ==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+= updates a variable;  == only compares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never seems to run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Condition is False — check values with print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elif never runs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 earlier condition is always true — reorder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TypeError on  age + 1  after input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Forgot int() / float() — input returns str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56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Surprise with and / 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() — not binds before and / or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/>
          </a:p>
        </p:txBody>
      </p:sp>
      <p:sp>
        <p:nvSpPr>
          <p:cNvPr id="366" name="Google Shape;366;p35"/>
          <p:cNvSpPr txBox="1"/>
          <p:nvPr/>
        </p:nvSpPr>
        <p:spPr>
          <a:xfrm>
            <a:off x="731520" y="1463040"/>
            <a:ext cx="10058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1.  and — both True.    or — at least one True.    not — flips it.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  Precedence:  not  &gt;  and  &gt;  or.    Use ( ) for clarity.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3.  Short-circuit — Python stops evaluating when result is fixed.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4.  if condition:  runs the indented block only when True.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5.  elif — first true branch wins; use for mutually exclusive outcomes.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6.  else — default fallback, no condition, always last.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7.  Nesting — inner checks only run if outer is True.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8.  input() always returns str — convert with int() / float().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9.  f-strings:  f"text {expr}" — readable, modern Python.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36"/>
          <p:cNvSpPr/>
          <p:nvPr/>
        </p:nvSpPr>
        <p:spPr>
          <a:xfrm>
            <a:off x="4937760" y="2286000"/>
            <a:ext cx="22860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6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  <a:endParaRPr/>
          </a:p>
        </p:txBody>
      </p:sp>
      <p:sp>
        <p:nvSpPr>
          <p:cNvPr id="373" name="Google Shape;373;p36"/>
          <p:cNvSpPr txBox="1"/>
          <p:nvPr/>
        </p:nvSpPr>
        <p:spPr>
          <a:xfrm>
            <a:off x="914400" y="3840480"/>
            <a:ext cx="10332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</a:t>
            </a:r>
            <a:b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