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j6hbre/bjbayLcNj6SnjS8XRrW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80D820-14AB-4A44-90D7-ECB4C5521B07}">
  <a:tblStyle styleId="{B580D820-14AB-4A44-90D7-ECB4C5521B0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linkedin.com/in/sakshamarora957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Strings, Dictionaries,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 &amp; Classes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05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754880"/>
            <a:ext cx="10058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  |  2x Intern @ Microsoft + 1x Intern @ Amazon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linkedin.com/in/sakshamarora9575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Objectives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Strings — implement text data type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Dictionaries — create, initialize, access (keys, get())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Dictionaries — add, modify, remove (pop, popitem, del)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Dictionaries — check key existence (in), iterate, merge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 Lists — inbuilt functions and common methods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 Classes — define classes, create objects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7.  Classes — __init__ constructor and initialization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Strings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Implementing text data types in Python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Understanding Strings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"String" = string of characters, like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beads on a string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"Hello" = ['H', 'e', 'l', 'l', 'o']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Python 3 uses Unicode (all languages,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emoji supported)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Strings are IMMUTABLE — any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"modification" creates a new string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Creating Strings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400800" y="1920240"/>
            <a:ext cx="5029200" cy="34747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Single or double quotes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'Alice'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message = "He said, 'Hello!'"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Multi-line strings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long_text = """This is 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multi-line string."""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Immutability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"Alice"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name.upper()  # NEW string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731520" y="438912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Why Immutable?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Safety, efficiency, and allows strings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 be used as dictionary keys.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String Operations &amp; Methods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Concatenation, Repetition, Length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731520" y="192024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= "Hello" + " " + "World"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message = "Age: " + str(25)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line = "=" * 20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"Alice"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length = len(name)  # 5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31520" y="4572000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String Key Takeaways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Strings are text in quotes  |  + to concatenate, * to repeat  |  str() to convert numbers  |  upper(), lower(), strip(), replace()  |  len() for length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Dictionaries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Key-value pairs for structured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What Is a Dictionary?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731520" y="13716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Stores data as key-value pairs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Keys must be unique &amp; immutable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Values can be anything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O(1) average lookup speed (hash table)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Ordered (Python 3.7+)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945200" y="1496452"/>
            <a:ext cx="5301900" cy="2282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Dictionary </a:t>
            </a:r>
            <a:endParaRPr sz="16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'name': 'Alice',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'age': 22, 'grade': 'A'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print(student['grade'])  # A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31520" y="4572000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a phonebook: a person's name (key) instantly gives you their number (value). No need to scan page by page!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Creating Dictionaries</a:t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336875" y="1371600"/>
            <a:ext cx="5790900" cy="54291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person = {'name': 'Alice', 'age': 25}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dict() constructor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person = dict(name='Alice', age=25)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Empty dictionary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empty = {}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Comprehension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squares = {x: x**2 for x in range(1,6)}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{1:1, 2:4, 3:9, 4:16, 5:25}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fromkeys — same value for all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subj = dict.fromkeys(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['Math','Science','English'], 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Keys Must Be Unique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400800" y="192024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data = {'a': 1, 'b': 2, 'a': 3}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print(data)  # {'a': 3, 'b': 2}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Nested Dictionaries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6400800" y="4114800"/>
            <a:ext cx="5029200" cy="2218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students = {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'Alice': {'age': 22, 'grade': 'A'},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'Bob':   {'age': 24, 'grade': 'B'}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students['Alice']['grade']  # 'A'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Accessing Dictionary Values</a:t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dict[key] — Fail-Fast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731520" y="19202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{'name': 'Alice'}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print(student['name'])  # Alice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student['email']  # KeyError!</a:t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dict.get(key) — Fail-Safe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6400800" y="19202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{'name': 'Alice'}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student.get('email', 'not set')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Returns 'not set' (no error!)</a:t>
            </a:r>
            <a:endParaRPr/>
          </a:p>
        </p:txBody>
      </p:sp>
      <p:graphicFrame>
        <p:nvGraphicFramePr>
          <p:cNvPr id="152" name="Google Shape;152;p9"/>
          <p:cNvGraphicFramePr/>
          <p:nvPr/>
        </p:nvGraphicFramePr>
        <p:xfrm>
          <a:off x="731520" y="3931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{B580D820-14AB-4A44-90D7-ECB4C5521B07}</a:tableStyleId>
              </a:tblPr>
              <a:tblGrid>
                <a:gridCol w="3505200"/>
                <a:gridCol w="3505200"/>
                <a:gridCol w="35052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Situation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guaranteed to exist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dict[key]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Clear, direct, catches bugs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might not exist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dict.get(key, default)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Avoids KeyError, graceful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9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[] is a strict vending machine (crashes if item missing). .get() is a friendly assistant (offers default if item missing).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Accessing All Keys, Values &amp; Items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731520" y="1371600"/>
            <a:ext cx="105156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{'name': 'Alice', 'age': 22}</a:t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print(student.keys())    # dict_keys(['name', 'age'])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print(student.values())  # dict_values(['Alice', 22])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print(student.items())   # dict_items([('name', 'Alice'), ('age', 22)])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Convert to list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list(student.keys())     # ['name', 'age']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Checking Key Existence with in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731520" y="438912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{'name': 'Alice'}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'name' in student   # True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'email' in student  # False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'email' not in student: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student['email'] = 'unknown'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6400800" y="438912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Important!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 checks KEYS, not values!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'Alice' in student is False.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val in dict.values() for values.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Key lookup with in is O(1).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Adding &amp; Modifying Dictionary Entries</a:t>
            </a:r>
            <a:endParaRPr/>
          </a:p>
        </p:txBody>
      </p:sp>
      <p:sp>
        <p:nvSpPr>
          <p:cNvPr id="168" name="Google Shape;168;p11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dict[key] = value (Upsert)</a:t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344675" y="1888750"/>
            <a:ext cx="58029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{'name': 'Alice', 'age': 22}</a:t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Add new key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student['grade'] = 'A'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Modify existing key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student['age'] = 23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{'name':'Alice','age':23,'grade':'A'}</a:t>
            </a: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update() — Multiple at Once</a:t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6400800" y="1920250"/>
            <a:ext cx="5469900" cy="2542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{'name': 'Alice', 'age': 22}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student.update({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'age': 23,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'grade': 'A',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'city': 'Mumbai'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Existing updated, new keys added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731520" y="4691900"/>
            <a:ext cx="5029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setdefault() — Only If Missing</a:t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731520" y="5221025"/>
            <a:ext cx="5029200" cy="1188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config = {'theme': 'dark'}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config.setdefault('language', 'en')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Adds 'language'; 'theme' unchanged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Iterating Through Dictionaries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Three Ways to Iterate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731525" y="1920250"/>
            <a:ext cx="8825400" cy="3300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{'name': 'Alice', 'age': 22}</a:t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Keys (default)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key in student: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print(key)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Key-value pairs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key, value in student.items():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print(f"{key}: {value}")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Values only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 = sum(prices.values())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3489095" y="5651195"/>
            <a:ext cx="502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 key in dict — iterates keys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.values() for values, .items() for pairs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Never modify dict while iterating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Built-in functions and common methods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List Built-in Functions</a:t>
            </a:r>
            <a:endParaRPr/>
          </a:p>
        </p:txBody>
      </p:sp>
      <p:graphicFrame>
        <p:nvGraphicFramePr>
          <p:cNvPr id="194" name="Google Shape;194;p17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{B580D820-14AB-4A44-90D7-ECB4C5521B07}</a:tableStyleId>
              </a:tblPr>
              <a:tblGrid>
                <a:gridCol w="2514600"/>
                <a:gridCol w="25146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len(lst)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items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sum(lst)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 of numbers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max(lst) / min(lst)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Largest / smallest item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sorted(lst)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sorted list (original unchanged)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reversed(lst)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Iterator in reverse order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enumerate(lst)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(index, value) pairs in for loops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95" name="Google Shape;195;p17"/>
          <p:cNvSpPr/>
          <p:nvPr/>
        </p:nvSpPr>
        <p:spPr>
          <a:xfrm>
            <a:off x="6400800" y="1371600"/>
            <a:ext cx="5029200" cy="29260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nums = [3, 1, 4]</a:t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len(nums)       # 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sum(nums)       # 8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sorted(nums)    # [1, 3, 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i, x in enumerate(nums):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print(i, 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0 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1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2 4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23620" y="5448850"/>
            <a:ext cx="10515600" cy="10974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Key Difference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sorted(lst) returns a NEW list — original is unchanged. </a:t>
            </a:r>
            <a:r>
              <a:rPr lang="en-US" sz="1800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.sort() sorts IN PLACE and returns None.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List Common Methods</a:t>
            </a:r>
            <a:endParaRPr/>
          </a:p>
        </p:txBody>
      </p:sp>
      <p:graphicFrame>
        <p:nvGraphicFramePr>
          <p:cNvPr id="202" name="Google Shape;202;p18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{B580D820-14AB-4A44-90D7-ECB4C5521B07}</a:tableStyleId>
              </a:tblPr>
              <a:tblGrid>
                <a:gridCol w="2743200"/>
                <a:gridCol w="27432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append(x)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one element at end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extend(iter)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Append all items from iterable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insert(i, x)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Insert at index 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pop() / pop(i)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 &amp; return last / item at 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remove(x)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 first occurrence of x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sort()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Sort in place (returns None)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reverse()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Reverse in place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count(x)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occurrences of x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index(x)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 of first x (ValueError if missing)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18"/>
          <p:cNvSpPr/>
          <p:nvPr/>
        </p:nvSpPr>
        <p:spPr>
          <a:xfrm>
            <a:off x="6583680" y="1371600"/>
            <a:ext cx="4846320" cy="32004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 = [2, 3, 2]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items.append(5)    # [2, 3, 2, 5]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items.sort()       # [2, 2, 3, 5]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items.pop()        # returns 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items.remove(2)    # [2, 3]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items.insert(0, 1) # [1, 2, 3]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items.reverse()    # [3, 2, 1]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items.count(2)     #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items.index(3)     # 0</a:t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6583680" y="4846320"/>
            <a:ext cx="484632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Remember!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All these methods mutate the list in place.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sort() returns None, not the sorted list!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Classes &amp; Objects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Object-Oriented Programming in Python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What Are Classes?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class is a BLUEPRINT for creating objects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Defines structure (data) and behavior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(methods) together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Each object is one concrete INSTANCE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This is Object-Oriented Programming (OOP)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Real-World Analogy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Class = Cookie cutter (blueprint)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Objects = Actual cookies (instances)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One blueprint, many instances!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Basic Syntax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6400800" y="192024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ClassName: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pass  # Use PascalCase!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Class with a Method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6400800" y="411480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Dog: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bark(self):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print("Woof!")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my_dog = Dog()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my_dog.bark()  # Woof!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Classes — Key Concepts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class keyword — defines a new class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PascalCase — naming convention (BankAccount, not bank_account)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Blueprint — class is template, object is instance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Methods — functions defined inside a class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 self — first parameter of every method, refers to the current object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731520" y="4754880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Historical Context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OOP invented by Simula 67 (1967). Smalltalk (1972) popularized "everything is an object". Python follows this philosophy — even integers and strings are objects!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Creating Objects (Instances)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Each ClassName() call creates a NEW object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Each object has unique identity (memory)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Own state, shared behavior (methods)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731525" y="3017526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Dog: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pass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dog1 = Dog()  # Object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dog2 = Dog()  # Object 2 (different!)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Objects Are Independent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6400800" y="1752950"/>
            <a:ext cx="5029200" cy="3292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Student: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name):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self.name = name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alice = Student("Alice")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bob = Student("Bob")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alice.name = "Alicia"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print(alice.name)  # Alicia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print(bob.name)    # Bob (unchanged!)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731520" y="5120640"/>
            <a:ext cx="10515600" cy="10972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Analogy: Baking Cookies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Class = The recipe.  cookie1, cookie2 = The actual cookies you bake. Same recipe, unique individual cookies.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Real-World Example — Bank Account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731525" y="1371600"/>
            <a:ext cx="6127500" cy="53091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BankAccount: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owner, balance):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self.owner = owner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self.balance = balance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deposit(self, amount):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self.balance += amount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print(f"{self.owner} deposited ${amount}.")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withdraw(self, amount):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amount &lt;= self.balance: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self.balance -= amount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print(f"Withdrew ${amount}.")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print("Insufficient funds!")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alice = BankAccount("Alice", 1000)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alice.deposit(200)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alice.withdraw(100)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132325" y="1371600"/>
            <a:ext cx="4594500" cy="3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Class defines: owner, balance (data)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deposit, withdraw (behavior)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__init__ sets up initial state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automatically on creation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self.balance is THIS object's balance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US" sz="1800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Bank Account</a:t>
            </a: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instance tracks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its own separate balance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Methods use self to access the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object's own data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Storing Objects in Collections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731525" y="1371600"/>
            <a:ext cx="6415500" cy="4572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Product: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name, price):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self.name = name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self.price = price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products = [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Product("Laptop", 999),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Product("Mouse", 25),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total_value = 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product in products: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total_value += product.price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print(f"Total: ${total_value}")  # $1024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589520" y="13716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Objects can live in lists, dicts, etc.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Iterate to process all objects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Each object maintains its own state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Powerful pattern for managing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collections of related data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7589525" y="4066925"/>
            <a:ext cx="4114800" cy="19782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Creating Objects — Key Takeaways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Multiple objects from one class.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Independent state, shared methods.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Objects stored in any collection.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__init__ Constructor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Automatic object initialization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__init__?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Without __init__: attributes may be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missing (AttributeError)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 __init__: required state is set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automatically on creation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Dog("Buddy") always has a name!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It's the "object birth certificate"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6400800" y="192024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ClassName: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parameters):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self.attribute = value</a:t>
            </a:r>
            <a:endParaRPr/>
          </a:p>
        </p:txBody>
      </p:sp>
      <p:graphicFrame>
        <p:nvGraphicFramePr>
          <p:cNvPr id="271" name="Google Shape;271;p26"/>
          <p:cNvGraphicFramePr/>
          <p:nvPr/>
        </p:nvGraphicFramePr>
        <p:xfrm>
          <a:off x="731520" y="4297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{B580D820-14AB-4A44-90D7-ECB4C5521B07}</a:tableStyleId>
              </a:tblPr>
              <a:tblGrid>
                <a:gridCol w="3505200"/>
                <a:gridCol w="3505200"/>
                <a:gridCol w="35052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 u="none" cap="none" strike="noStrike">
                        <a:solidFill>
                          <a:srgbClr val="1E1E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Regular Method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__init__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Called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Manually: obj.setup()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Automatically on creation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be forgotten!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Guaranteed initialization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self Parameter</a:t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731525" y="1371600"/>
            <a:ext cx="5144400" cy="40263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Car: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brand, year):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self.brand = brand  # THIS car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self.year = year    # THIS car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car1 = Car("Toyota", 2020)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car2 = Car("Honda", 2021)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print(car1.brand)  # Toyota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print(car2.brand)  # Honda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With Default Values</a:t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6400800" y="1920251"/>
            <a:ext cx="5144400" cy="24465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Dog: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name, breed):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self.name = name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self.breed = breed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dog = Dog("Buddy", "Labrador")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Attributes ready immediately!</a:t>
            </a:r>
            <a:endParaRPr/>
          </a:p>
        </p:txBody>
      </p:sp>
      <p:sp>
        <p:nvSpPr>
          <p:cNvPr id="280" name="Google Shape;280;p27"/>
          <p:cNvSpPr/>
          <p:nvPr/>
        </p:nvSpPr>
        <p:spPr>
          <a:xfrm>
            <a:off x="6400800" y="4691875"/>
            <a:ext cx="5029200" cy="16458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self explained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self refers to the specific object being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created or used. car1.brand is different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from car2.brand because self points to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different objects.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__init__ — Validation &amp; Computed Fields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Validation in __init__</a:t>
            </a:r>
            <a:endParaRPr/>
          </a:p>
        </p:txBody>
      </p:sp>
      <p:sp>
        <p:nvSpPr>
          <p:cNvPr id="287" name="Google Shape;287;p28"/>
          <p:cNvSpPr/>
          <p:nvPr/>
        </p:nvSpPr>
        <p:spPr>
          <a:xfrm>
            <a:off x="73152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name, age):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self.name = name or "Unknown"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self.age = max(0, age)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Derived / Computed Fields</a:t>
            </a:r>
            <a:endParaRPr/>
          </a:p>
        </p:txBody>
      </p:sp>
      <p:sp>
        <p:nvSpPr>
          <p:cNvPr id="289" name="Google Shape;289;p28"/>
          <p:cNvSpPr/>
          <p:nvPr/>
        </p:nvSpPr>
        <p:spPr>
          <a:xfrm>
            <a:off x="731520" y="46634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name, rate, hrs):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self.name = name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self.salary = rate * hrs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__init__ with No Parameters</a:t>
            </a:r>
            <a:endParaRPr/>
          </a:p>
        </p:txBody>
      </p:sp>
      <p:sp>
        <p:nvSpPr>
          <p:cNvPr id="291" name="Google Shape;291;p28"/>
          <p:cNvSpPr/>
          <p:nvPr/>
        </p:nvSpPr>
        <p:spPr>
          <a:xfrm>
            <a:off x="6400800" y="1920251"/>
            <a:ext cx="5029200" cy="29019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Counter: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self.count = 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increment(self):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self.count +=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counter = Counter()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counter.increment()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print(counter.count)  # 1</a:t>
            </a:r>
            <a:endParaRPr/>
          </a:p>
        </p:txBody>
      </p:sp>
      <p:sp>
        <p:nvSpPr>
          <p:cNvPr id="292" name="Google Shape;292;p28"/>
          <p:cNvSpPr/>
          <p:nvPr/>
        </p:nvSpPr>
        <p:spPr>
          <a:xfrm>
            <a:off x="6400800" y="502920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Power of __init__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Validate inputs, compute derived values,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set defaults — all before the object is used!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__init__ — Common Mistakes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WRONG — Missing self.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731520" y="19202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Dog: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name):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name = name  # Local only!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# self.name = name  # CORRECT</a:t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WRONG — Forgetting self param</a:t>
            </a:r>
            <a:endParaRPr/>
          </a:p>
        </p:txBody>
      </p:sp>
      <p:sp>
        <p:nvSpPr>
          <p:cNvPr id="301" name="Google Shape;301;p29"/>
          <p:cNvSpPr/>
          <p:nvPr/>
        </p:nvSpPr>
        <p:spPr>
          <a:xfrm>
            <a:off x="6400800" y="19202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Dog: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__init__(name):  # No self!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# TypeError on creation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def __init__(self, name):  OK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WRONG — Wrong indentation</a:t>
            </a:r>
            <a:endParaRPr/>
          </a:p>
        </p:txBody>
      </p:sp>
      <p:sp>
        <p:nvSpPr>
          <p:cNvPr id="303" name="Google Shape;303;p29"/>
          <p:cNvSpPr/>
          <p:nvPr/>
        </p:nvSpPr>
        <p:spPr>
          <a:xfrm>
            <a:off x="731520" y="457200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class Dog: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__init__(self, name):  # Not inside!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self.name = name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Must be indented inside class</a:t>
            </a:r>
            <a:endParaRPr/>
          </a:p>
        </p:txBody>
      </p:sp>
      <p:sp>
        <p:nvSpPr>
          <p:cNvPr id="304" name="Google Shape;304;p29"/>
          <p:cNvSpPr/>
          <p:nvPr/>
        </p:nvSpPr>
        <p:spPr>
          <a:xfrm>
            <a:off x="6400800" y="393192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Correct Pattern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class Dog: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def __init__(self, name):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self.name = name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Always: self as first param, self.x = x,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indented inside the class.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__init__ — Key Takeaways</a:t>
            </a:r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__init__ is the constructor method — runs automatically when object is created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self is always the first parameter — refers to the current object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Use self.attribute = value to set initial state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Guarantees initialization — objects always start with required data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 Can validate inputs and compute derived fields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 Support default parameter values for optional attributes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7.  Common mistakes: forgetting self, name = name instead of self.name = name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