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h+N2pV+vm2XT1MraXBLC5MBv0v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B58EF5-2D1E-4584-B63B-5605EE0792A7}">
  <a:tblStyle styleId="{41B58EF5-2D1E-4584-B63B-5605EE0792A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linkedin.com/in/sakshamarora9575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914400" y="1645920"/>
            <a:ext cx="1828800" cy="54864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Behavior &amp;</a:t>
            </a:r>
            <a:b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Understanding the LLM Layer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Session 08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4754880"/>
            <a:ext cx="100584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Saksham Arora</a:t>
            </a:r>
            <a:b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Software Engineer 2 @ Intuit  |  Ex - Microsoft  |  2x Intern @ Microsoft + 1x Intern @ Amazon</a:t>
            </a:r>
            <a:b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linkedin.com/in/sakshamarora9575</a:t>
            </a: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What You Will Learn Today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1.  What is a Large Language Model (LLM) and its core behavior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2.  How the LLM acts as the "brain" of an AI Agent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3.  What LLMs can do — their seven key capabilities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4.  How prompts control LLM output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5.  LLM strengths and critical limitations (hallucination, etc.)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6.  Who builds LLMs — major model providers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7.  How LLMs are accessed through APIs and how tokens work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8.  The Transformer architecture and Attention mechanism (intuition)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a Large Language Model?</a:t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thinking engine inside every modern AI agent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What Is an LLM?</a:t>
            </a:r>
            <a:endParaRPr/>
          </a:p>
        </p:txBody>
      </p:sp>
      <p:sp>
        <p:nvSpPr>
          <p:cNvPr id="106" name="Google Shape;106;p4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 AI model trained on massive text data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that can understand and generate language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You give it text as input,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it gives you text as output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That's the core idea: Text In -&gt; Text Out</a:t>
            </a:r>
            <a:endParaRPr/>
          </a:p>
        </p:txBody>
      </p:sp>
      <p:graphicFrame>
        <p:nvGraphicFramePr>
          <p:cNvPr id="107" name="Google Shape;107;p4"/>
          <p:cNvGraphicFramePr/>
          <p:nvPr/>
        </p:nvGraphicFramePr>
        <p:xfrm>
          <a:off x="731520" y="3840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{41B58EF5-2D1E-4584-B63B-5605EE0792A7}</a:tableStyleId>
              </a:tblPr>
              <a:tblGrid>
                <a:gridCol w="1676400"/>
                <a:gridCol w="1676400"/>
                <a:gridCol w="1676400"/>
              </a:tblGrid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Meaning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Think of it as...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Billions of parameters, huge training data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Student who studied 10,000 hours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Language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Works specifically with human language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speaks your language — literally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Mathematical system that learned patterns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Complex formula tuned on millions of examples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108" name="Google Shape;108;p4"/>
          <p:cNvSpPr/>
          <p:nvPr/>
        </p:nvSpPr>
        <p:spPr>
          <a:xfrm>
            <a:off x="6400800" y="137160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The Brilliant Scholar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Imagine someone who has read EVERY book,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article, website, and document ever written.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You can ask them anything and they answer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 fluent, natural language. That's an LLM.</a:t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6400800" y="365760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Autocomplete That Grew Up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Phone keyboard suggests the next word.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Now imagine that x1000, trained on billions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of documents — it writes full paragraphs,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answers questions, and writes code.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Core Behavior: Text In -&gt; Text Out</a:t>
            </a:r>
            <a:endParaRPr/>
          </a:p>
        </p:txBody>
      </p:sp>
      <p:graphicFrame>
        <p:nvGraphicFramePr>
          <p:cNvPr id="115" name="Google Shape;115;p5"/>
          <p:cNvGraphicFramePr/>
          <p:nvPr/>
        </p:nvGraphicFramePr>
        <p:xfrm>
          <a:off x="73152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{41B58EF5-2D1E-4584-B63B-5605EE0792A7}</a:tableStyleId>
              </a:tblPr>
              <a:tblGrid>
                <a:gridCol w="5257800"/>
                <a:gridCol w="5257800"/>
              </a:tblGrid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You Give the LLM (Input)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the LLM Returns (Output)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"What is the capital of India?"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"The capital of India is New Delhi."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"Translate 'Hello' into Hindi"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"Namaste"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"Summarize this paragraph in 2 sentences"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concise 2-sentence summary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"Write a Python function to add two numbers"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complete Python function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"You are a chef. Suggest a dish with paneer"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"You could make Palak Paneer! Here's a recipe..."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"Continue: Rohan opened the old door and saw..."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"...a staircase leading into the darkness."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116" name="Google Shape;116;p5"/>
          <p:cNvSpPr/>
          <p:nvPr/>
        </p:nvSpPr>
        <p:spPr>
          <a:xfrm>
            <a:off x="731520" y="5303520"/>
            <a:ext cx="10515600" cy="109728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Critical Insight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LLM doesn't have separate modes for Q&amp;A, stories, or code. The SAME model handles ALL of these — because they are all variations of "text in -&gt; text out."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The LLM = The Brain of an AI Agent</a:t>
            </a:r>
            <a:endParaRPr/>
          </a:p>
        </p:txBody>
      </p:sp>
      <p:sp>
        <p:nvSpPr>
          <p:cNvPr id="122" name="Google Shape;122;p6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Every time the agent needs to "think" —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it asks the LLM a question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LLM is the central reasoning engine: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receives context, generates decisions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LLM = the thinker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Python code = the executor</a:t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6400800" y="1371600"/>
            <a:ext cx="5029200" cy="18288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CEO &amp; Staff Analogy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LLM = the CEO (decision-maker, thinker).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Tools (search, API, DB) = the staff.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CEO thinks, staff executes.</a:t>
            </a:r>
            <a:endParaRPr/>
          </a:p>
        </p:txBody>
      </p:sp>
      <p:sp>
        <p:nvSpPr>
          <p:cNvPr id="124" name="Google Shape;124;p6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Mini Example: Weather Query</a:t>
            </a:r>
            <a:endParaRPr/>
          </a:p>
        </p:txBody>
      </p:sp>
      <p:sp>
        <p:nvSpPr>
          <p:cNvPr id="125" name="Google Shape;125;p6"/>
          <p:cNvSpPr txBox="1"/>
          <p:nvPr/>
        </p:nvSpPr>
        <p:spPr>
          <a:xfrm>
            <a:off x="731520" y="4389120"/>
            <a:ext cx="10515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1. User: "What's the weather in Mumbai?"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2. Agent -&gt; LLM: "User wants weather in Mumbai. You have a weather tool. Decide."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3. LLM: "Call weather API with city=Mumbai"  -&gt;  Agent calls API  -&gt;  Result: 34 C, humid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4. Agent -&gt; LLM: "Weather tool returned 34 C, humid. Now respond."  -&gt;  LLM writes friendly reply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LLM Powers the THINK Stage</a:t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271550" y="1371600"/>
            <a:ext cx="5877000" cy="4950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[ Agent receives input / tool result]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|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 OBSERVE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(gather context, memory, tool output)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|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THINK  &lt;-- LLM IS HERE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(send context to LLM -&gt; LLM decides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what to plan or do next)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|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ACT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(execute the LLM's decision using tools)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|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[ loop back to Observe ]</a:t>
            </a:r>
            <a:endParaRPr/>
          </a:p>
        </p:txBody>
      </p:sp>
      <p:graphicFrame>
        <p:nvGraphicFramePr>
          <p:cNvPr id="132" name="Google Shape;132;p7"/>
          <p:cNvGraphicFramePr/>
          <p:nvPr/>
        </p:nvGraphicFramePr>
        <p:xfrm>
          <a:off x="640080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{41B58EF5-2D1E-4584-B63B-5605EE0792A7}</a:tableStyleId>
              </a:tblPr>
              <a:tblGrid>
                <a:gridCol w="2514600"/>
                <a:gridCol w="2514600"/>
              </a:tblGrid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Loop Stage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LLM's Role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active (agent gathers data)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Think - Plan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"Break this goal into steps"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Think - Reason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"Which result is most relevant?"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active (agent runs tools)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133" name="Google Shape;133;p7"/>
          <p:cNvSpPr/>
          <p:nvPr/>
        </p:nvSpPr>
        <p:spPr>
          <a:xfrm>
            <a:off x="6400800" y="420624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LLM is NOT running constantly.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It's called at specific decision points.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Between calls, Python handles execution.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LLM = thinker. Python = executor.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Capabilities</a:t>
            </a: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Seven things LLMs can do remarkably well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LLM Capabilities (Part 1)</a:t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731520" y="1371600"/>
            <a:ext cx="5029200" cy="11887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1. Answering Questions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"Who invented the telephone?" -&gt; answer.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Based on training data, not real-time lookup.</a:t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6400800" y="1169101"/>
            <a:ext cx="5029200" cy="139110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2. Text Summarization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Give it a 5-page document -&gt; get a 3-bullet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summary. Summarize 100 complaints in seconds.</a:t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731525" y="2834652"/>
            <a:ext cx="5029200" cy="1391100"/>
          </a:xfrm>
          <a:prstGeom prst="roundRect">
            <a:avLst>
              <a:gd fmla="val 16667" name="adj"/>
            </a:avLst>
          </a:prstGeom>
          <a:solidFill>
            <a:srgbClr val="3527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3. Text Generation &amp; Creative Writing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Professional emails, stories, reports, poems.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Give it a topic -&gt; coherent, fluent text.</a:t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6400800" y="2834651"/>
            <a:ext cx="5029200" cy="129120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4. Language Translation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Translate between dozens of languages.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Often better than simple rule-based translators.</a:t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731525" y="4631400"/>
            <a:ext cx="10515600" cy="17694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Why This Versatility Matters for Agents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 agent's brain needs to plan, reason, write, summarize, extract, and decide — all in one place.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 traditional system would need a SEPARATE program for each. An LLM handles ALL of them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with one interface. This is why LLMs are the ideal brain for AI agents — they are generalist thinkers.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LLM Capabilities (Part 2)</a:t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731525" y="1371600"/>
            <a:ext cx="3200400" cy="23733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5. Code Writing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Write Python, JS, SQL, etc.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Also explain existing code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 plain English.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"Write a function that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returns the average" -&gt; done.</a:t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4389125" y="1371600"/>
            <a:ext cx="3383400" cy="240900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6. Classification &amp; Extraction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Identify categories, extract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info, label sentiment.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"Is this review positive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or negative?" -&gt; "Negative."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"Extract name from invoice."</a:t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8229600" y="1371600"/>
            <a:ext cx="3474600" cy="2694300"/>
          </a:xfrm>
          <a:prstGeom prst="roundRect">
            <a:avLst>
              <a:gd fmla="val 16667" name="adj"/>
            </a:avLst>
          </a:prstGeom>
          <a:solidFill>
            <a:srgbClr val="3527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7. Reasoning &amp; Problem-Solving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Logic puzzles, math word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problems, multi-step questions.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"Train A leaves at 8 AM,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Train B at 10 AM...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When do they meet?"</a:t>
            </a:r>
            <a:endParaRPr/>
          </a:p>
        </p:txBody>
      </p:sp>
      <p:sp>
        <p:nvSpPr>
          <p:cNvPr id="159" name="Google Shape;159;p10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All Seven Capabilities — Summary</a:t>
            </a:r>
            <a:endParaRPr/>
          </a:p>
        </p:txBody>
      </p:sp>
      <p:graphicFrame>
        <p:nvGraphicFramePr>
          <p:cNvPr id="160" name="Google Shape;160;p10"/>
          <p:cNvGraphicFramePr/>
          <p:nvPr/>
        </p:nvGraphicFramePr>
        <p:xfrm>
          <a:off x="731520" y="4572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{41B58EF5-2D1E-4584-B63B-5605EE0792A7}</a:tableStyleId>
              </a:tblPr>
              <a:tblGrid>
                <a:gridCol w="1502225"/>
                <a:gridCol w="1502225"/>
                <a:gridCol w="1502225"/>
                <a:gridCol w="1502225"/>
                <a:gridCol w="1502225"/>
                <a:gridCol w="1502225"/>
                <a:gridCol w="1502225"/>
              </a:tblGrid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Q&amp;A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Summarize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Generate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Translate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Classify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Reason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Answer from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training data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 doc -&gt;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short summary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Emails, stories,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Any language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 &amp; explain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Sentiment,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extraction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Logic, math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word problems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Understanding Prompts</a:t>
            </a:r>
            <a:endParaRPr/>
          </a:p>
        </p:txBody>
      </p:sp>
      <p:sp>
        <p:nvSpPr>
          <p:cNvPr id="167" name="Google Shape;167;p11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instructions that control the LLM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Prompts — Same LLM, Different Outputs</a:t>
            </a:r>
            <a:endParaRPr/>
          </a:p>
        </p:txBody>
      </p:sp>
      <p:graphicFrame>
        <p:nvGraphicFramePr>
          <p:cNvPr id="173" name="Google Shape;173;p12"/>
          <p:cNvGraphicFramePr/>
          <p:nvPr/>
        </p:nvGraphicFramePr>
        <p:xfrm>
          <a:off x="73152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{41B58EF5-2D1E-4584-B63B-5605EE0792A7}</a:tableStyleId>
              </a:tblPr>
              <a:tblGrid>
                <a:gridCol w="5257800"/>
                <a:gridCol w="5257800"/>
              </a:tblGrid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Prompt (Input)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"Explain photosynthesis."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 school-level explanation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"Explain in 3 bullet points for a 10-year-old."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Simple, 3-bullet explanation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"Explain like a stand-up comedian."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Funny, lighthearted explanation with jokes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"Explain in Hindi."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Hindi-language explanation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"You are a biology professor. Explain formally."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Detailed, technical, formal explanation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174" name="Google Shape;174;p12"/>
          <p:cNvSpPr txBox="1"/>
          <p:nvPr/>
        </p:nvSpPr>
        <p:spPr>
          <a:xfrm>
            <a:off x="731520" y="4389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What a Prompt Contains in an Agent</a:t>
            </a:r>
            <a:endParaRPr/>
          </a:p>
        </p:txBody>
      </p:sp>
      <p:sp>
        <p:nvSpPr>
          <p:cNvPr id="175" name="Google Shape;175;p12"/>
          <p:cNvSpPr txBox="1"/>
          <p:nvPr/>
        </p:nvSpPr>
        <p:spPr>
          <a:xfrm>
            <a:off x="731520" y="484632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Role: "You are a customer support agent"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Context: "Order #56789, placed 3 days ago"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Task: "Decide the best way to respond"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Format: "Respond in 2-3 short sentences"</a:t>
            </a:r>
            <a:endParaRPr/>
          </a:p>
        </p:txBody>
      </p:sp>
      <p:sp>
        <p:nvSpPr>
          <p:cNvPr id="176" name="Google Shape;176;p12"/>
          <p:cNvSpPr/>
          <p:nvPr/>
        </p:nvSpPr>
        <p:spPr>
          <a:xfrm>
            <a:off x="6400800" y="4389125"/>
            <a:ext cx="5029200" cy="22362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Stationery Shop Analogy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"Give me a pen" -&gt; random pen.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"Give me a blue ballpoint pen, medium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nib, for thick paper" -&gt; exactly right.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more specific the prompt,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better the output.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Strengths &amp; Limitations</a:t>
            </a:r>
            <a:endParaRPr/>
          </a:p>
        </p:txBody>
      </p:sp>
      <p:sp>
        <p:nvSpPr>
          <p:cNvPr id="183" name="Google Shape;183;p1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What LLMs excel at — and where they fall short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LLM Strengths — Genuine Superpowers</a:t>
            </a:r>
            <a:endParaRPr/>
          </a:p>
        </p:txBody>
      </p:sp>
      <p:sp>
        <p:nvSpPr>
          <p:cNvPr id="189" name="Google Shape;189;p14"/>
          <p:cNvSpPr/>
          <p:nvPr/>
        </p:nvSpPr>
        <p:spPr>
          <a:xfrm>
            <a:off x="731520" y="1371600"/>
            <a:ext cx="5029200" cy="109728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1. Natural Language Understanding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Grasps context, nuance, tone, slang, sarcasm.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"Can you not make it simpler?" -&gt; understood!</a:t>
            </a:r>
            <a:endParaRPr/>
          </a:p>
        </p:txBody>
      </p:sp>
      <p:sp>
        <p:nvSpPr>
          <p:cNvPr id="190" name="Google Shape;190;p14"/>
          <p:cNvSpPr/>
          <p:nvPr/>
        </p:nvSpPr>
        <p:spPr>
          <a:xfrm>
            <a:off x="6400800" y="1371600"/>
            <a:ext cx="5029200" cy="109728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2. Generalization Across Topics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Not a specialist — broad knowledge across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science, law, business, coding, medicine, etc.</a:t>
            </a:r>
            <a:endParaRPr/>
          </a:p>
        </p:txBody>
      </p:sp>
      <p:sp>
        <p:nvSpPr>
          <p:cNvPr id="191" name="Google Shape;191;p14"/>
          <p:cNvSpPr/>
          <p:nvPr/>
        </p:nvSpPr>
        <p:spPr>
          <a:xfrm>
            <a:off x="731520" y="2743200"/>
            <a:ext cx="5029200" cy="1097280"/>
          </a:xfrm>
          <a:prstGeom prst="roundRect">
            <a:avLst>
              <a:gd fmla="val 16667" name="adj"/>
            </a:avLst>
          </a:prstGeom>
          <a:solidFill>
            <a:srgbClr val="3527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3. Flexible Output Format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Bullet list, table, Python class, JSON,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poem, formal report — you name it.</a:t>
            </a:r>
            <a:endParaRPr/>
          </a:p>
        </p:txBody>
      </p:sp>
      <p:sp>
        <p:nvSpPr>
          <p:cNvPr id="192" name="Google Shape;192;p14"/>
          <p:cNvSpPr/>
          <p:nvPr/>
        </p:nvSpPr>
        <p:spPr>
          <a:xfrm>
            <a:off x="6400800" y="2743200"/>
            <a:ext cx="5029200" cy="109728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4. In-Context Learning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Give 3 examples in the prompt -&gt; LLM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immediately picks up the pattern. No training.</a:t>
            </a:r>
            <a:endParaRPr/>
          </a:p>
        </p:txBody>
      </p:sp>
      <p:sp>
        <p:nvSpPr>
          <p:cNvPr id="193" name="Google Shape;193;p14"/>
          <p:cNvSpPr/>
          <p:nvPr/>
        </p:nvSpPr>
        <p:spPr>
          <a:xfrm>
            <a:off x="731520" y="4114800"/>
            <a:ext cx="10515600" cy="109728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5. Multi-Step Reasoning for Language Problems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Solves riddles, logic puzzles, word problems. Draws conclusions from complex text. Can hold coherent, context-rich conversations across many paragraphs.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Limitation 1: Hallucination</a:t>
            </a:r>
            <a:endParaRPr/>
          </a:p>
        </p:txBody>
      </p:sp>
      <p:sp>
        <p:nvSpPr>
          <p:cNvPr id="199" name="Google Shape;199;p15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LLM generates information that sounds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completely plausible and confident —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but is factually WRONG or made up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It doesn't "know" what it doesn't know —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it just keeps generating plausible text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Most famous and most dangerous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LLM limitation</a:t>
            </a: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6400800" y="137160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Example 1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"What books has Prof. XYZ written?"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LLM invents 3 realistic book titles.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books don't exist. Stated as fact.</a:t>
            </a:r>
            <a:endParaRPr/>
          </a:p>
        </p:txBody>
      </p:sp>
      <p:sp>
        <p:nvSpPr>
          <p:cNvPr id="201" name="Google Shape;201;p15"/>
          <p:cNvSpPr/>
          <p:nvPr/>
        </p:nvSpPr>
        <p:spPr>
          <a:xfrm>
            <a:off x="6400800" y="301752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Example 2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Ask for a legal citation. LLM gives case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name, year, judgment — all look real.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case never happened.</a:t>
            </a: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731520" y="411480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Exam Student Analogy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Student doesn't know the answer.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Instead of leaving it blank, writes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something that sounds convincing.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Except the LLM isn't trying to deceive —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it genuinely doesn't know what it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doesn't know.</a:t>
            </a:r>
            <a:endParaRPr/>
          </a:p>
        </p:txBody>
      </p:sp>
      <p:sp>
        <p:nvSpPr>
          <p:cNvPr id="203" name="Google Shape;203;p15"/>
          <p:cNvSpPr/>
          <p:nvPr/>
        </p:nvSpPr>
        <p:spPr>
          <a:xfrm>
            <a:off x="6400800" y="475488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Why This Matters for Agents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If an agent never verifies LLM output,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it might take real-world actions based on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hallucinated info — reports with made-up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stats, referencing policies that don't exist.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Limitations 2-5</a:t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731520" y="137160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2. No Real-Time Knowledge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Training cutoff = no knowledge after that date.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"Who won 2025 IPL?" -&gt; might make it up.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Fix: agents use search tools for current info.</a:t>
            </a:r>
            <a:endParaRPr/>
          </a:p>
        </p:txBody>
      </p:sp>
      <p:sp>
        <p:nvSpPr>
          <p:cNvPr id="210" name="Google Shape;210;p16"/>
          <p:cNvSpPr/>
          <p:nvPr/>
        </p:nvSpPr>
        <p:spPr>
          <a:xfrm>
            <a:off x="6400800" y="137160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3. Poor at Precise Mathematics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Trained on text, not math. Struggles with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complex multi-step calculations.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Fix: route math to code execution tool.</a:t>
            </a:r>
            <a:endParaRPr/>
          </a:p>
        </p:txBody>
      </p:sp>
      <p:sp>
        <p:nvSpPr>
          <p:cNvPr id="211" name="Google Shape;211;p16"/>
          <p:cNvSpPr/>
          <p:nvPr/>
        </p:nvSpPr>
        <p:spPr>
          <a:xfrm>
            <a:off x="731520" y="301752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4. Inconsistency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Same prompt can produce slightly different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responses on different runs (randomness).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Fix: set temperature low for critical tasks.</a:t>
            </a:r>
            <a:endParaRPr/>
          </a:p>
        </p:txBody>
      </p:sp>
      <p:sp>
        <p:nvSpPr>
          <p:cNvPr id="212" name="Google Shape;212;p16"/>
          <p:cNvSpPr/>
          <p:nvPr/>
        </p:nvSpPr>
        <p:spPr>
          <a:xfrm>
            <a:off x="6400800" y="301752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5. Limited Context Window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Can only process a certain # of tokens.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Very long conversations -&gt; forgets early parts.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Fix: chunk large documents, manage context.</a:t>
            </a:r>
            <a:endParaRPr/>
          </a:p>
        </p:txBody>
      </p:sp>
      <p:sp>
        <p:nvSpPr>
          <p:cNvPr id="213" name="Google Shape;213;p16"/>
          <p:cNvSpPr/>
          <p:nvPr/>
        </p:nvSpPr>
        <p:spPr>
          <a:xfrm>
            <a:off x="731520" y="4754880"/>
            <a:ext cx="10515600" cy="16459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The Pattern: LLM Weakness -&gt; Agent Solution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No real-time knowledge -&gt; use search tool  |  Poor math -&gt; use code execution tool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Hallucination -&gt; verify with real data sources  |  Inconsistency -&gt; lower temperature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Context limit -&gt; chunk documents  |  The AGENT compensates for the LLM's weaknesses.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Who Builds LLMs?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major model providers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Major Model Providers (1/2)</a:t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731520" y="1371600"/>
            <a:ext cx="5029200" cy="25603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OpenAI — GPT Series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Models: GPT-3.5, GPT-4, GPT-4o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Famous product: ChatGPT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Most widely used, very versatile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Access: Paid API + ChatGPT app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Like a company that manufactures one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of the best 'thinking engines' in the world.</a:t>
            </a:r>
            <a:endParaRPr/>
          </a:p>
        </p:txBody>
      </p:sp>
      <p:sp>
        <p:nvSpPr>
          <p:cNvPr id="227" name="Google Shape;227;p18"/>
          <p:cNvSpPr/>
          <p:nvPr/>
        </p:nvSpPr>
        <p:spPr>
          <a:xfrm>
            <a:off x="6400800" y="1371600"/>
            <a:ext cx="5029200" cy="256032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Google DeepMind — Gemini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Models: Gemini (previously Bard/LaMDA)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Deeply integrated with Google Search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and Google Workspace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Access: Paid API + Gemini App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Google INVENTED the Transformer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architecture ("Attention Is All You Need").</a:t>
            </a:r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731520" y="4389120"/>
            <a:ext cx="10515600" cy="18288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All LLMs share the same fundamental technology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Despite different companies and names, all are built on the Transformer architecture.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Like different smartphone brands — Samsung, Apple, OnePlus — they look different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but all run on similar underlying technology (processor, screen, battery, OS).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Major Model Providers (2/2)</a:t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731525" y="1371600"/>
            <a:ext cx="5257800" cy="1864800"/>
          </a:xfrm>
          <a:prstGeom prst="roundRect">
            <a:avLst>
              <a:gd fmla="val 16667" name="adj"/>
            </a:avLst>
          </a:prstGeom>
          <a:solidFill>
            <a:srgbClr val="3527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Anthropic — Claude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Models: Claude 2, Claude 3 (Haiku, Sonnet, Opus)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Strong focus on AI SAFETY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Known for excellent long-context handling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Access: Paid API + Claude App</a:t>
            </a:r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6400800" y="1371600"/>
            <a:ext cx="5070600" cy="178260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Meta AI — LLaMA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Models: LLaMA 2, LLaMA 3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OPEN SOURCE — free to download and use!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Anyone can run it on their own machines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Access: Free download</a:t>
            </a:r>
            <a:endParaRPr/>
          </a:p>
        </p:txBody>
      </p:sp>
      <p:graphicFrame>
        <p:nvGraphicFramePr>
          <p:cNvPr id="236" name="Google Shape;236;p19"/>
          <p:cNvGraphicFramePr/>
          <p:nvPr/>
        </p:nvGraphicFramePr>
        <p:xfrm>
          <a:off x="731520" y="33832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{41B58EF5-2D1E-4584-B63B-5605EE0792A7}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Provider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Model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Known For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GPT-4o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Power, versatility, most widely used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Paid API + ChatGPT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DeepMind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integration, multimodal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Paid API + Gemini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Anthropic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3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Safety-focused, long context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Paid API + Claude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 AI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LLaMA 3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source, free to customize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 download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APIs &amp; Tokens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How LLMs are accessed and how they "see" text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How LLMs Are Accessed — APIs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731520" y="137160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API = waiter at a restaurant. You (code)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give your order, waiter fetches from kitchen (LLM)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Like electricity: you plug in, you don't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generate your own power</a:t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328675" y="2883975"/>
            <a:ext cx="6072000" cy="3894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Conceptual example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import openai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prompt = "Summarize this text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in 2 sentences: [...]"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response = openai.chat.completions\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.create(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model="gpt-4o",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messages=[{"role": "user",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"content": prompt}]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print(response.choices[0]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.message.content)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Step by Step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6704300" y="1894415"/>
            <a:ext cx="5029200" cy="30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1. Your Python code sends a text prompt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to the provider's server (API call)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2. Server passes prompt to the LLM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(running on hundreds of GPUs)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3. LLM processes and generates response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4. Response travels back through API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to your Python code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5. Your code uses it — display, decide,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call another tool, etc.</a:t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6649700" y="5161476"/>
            <a:ext cx="5138400" cy="12354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In a 15-step agent task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agent might call the LLM API 15 times.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Each call costs money based on tokens processed.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Understanding Tokens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731520" y="137160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LLMs don't read words — they read TOKENS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 token = a small chunk of text (word,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part of a word, or punctuation)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Rule of thumb: 1 token ~ 0.75 words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(or about 4 characters)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731520" y="33832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Tokenization Examples</a:t>
            </a:r>
            <a:endParaRPr/>
          </a:p>
        </p:txBody>
      </p:sp>
      <p:graphicFrame>
        <p:nvGraphicFramePr>
          <p:cNvPr id="261" name="Google Shape;261;p22"/>
          <p:cNvGraphicFramePr/>
          <p:nvPr/>
        </p:nvGraphicFramePr>
        <p:xfrm>
          <a:off x="731520" y="3840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{41B58EF5-2D1E-4584-B63B-5605EE0792A7}</a:tableStyleId>
              </a:tblPr>
              <a:tblGrid>
                <a:gridCol w="2514600"/>
                <a:gridCol w="2514600"/>
              </a:tblGrid>
              <a:tr h="3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Tokens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"Hello"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token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"Hello, how are you?"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tokens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"Unbelievable"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3-4 tokens (Un/be/liev/able)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"I love biryani"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tokens (I/love/biry/ani)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262" name="Google Shape;262;p22"/>
          <p:cNvSpPr/>
          <p:nvPr/>
        </p:nvSpPr>
        <p:spPr>
          <a:xfrm>
            <a:off x="6400800" y="137160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Roti Analogy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You don't swallow a whole roti at once.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You tear it into pieces and eat piece by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piece. Tokenization = tearing text into pieces.</a:t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6400800" y="3017520"/>
            <a:ext cx="5029200" cy="118872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1. Context Window Limit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Max tokens per call. GPT-4o: ~128K tokens.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Claude 3: ~200K. Exceed = can't process.</a:t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6400800" y="4480548"/>
            <a:ext cx="5133600" cy="106530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2. Cost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Charged per token (input + output).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Efficient prompts = lower cost.</a:t>
            </a: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6400800" y="5669274"/>
            <a:ext cx="5133600" cy="914400"/>
          </a:xfrm>
          <a:prstGeom prst="roundRect">
            <a:avLst>
              <a:gd fmla="val 16667" name="adj"/>
            </a:avLst>
          </a:prstGeom>
          <a:solidFill>
            <a:srgbClr val="3527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3. Speed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More tokens = slower. Short prompts = faster.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Transformer &amp; Attention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technology that makes LLMs possible (intuition only)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The Transformer Architecture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2017: Google publishes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"Attention Is All You Need"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Introduced the Transformer — the engine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design ALL modern LLMs use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GPT, Gemini, Claude, LLaMA — all built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on Transformers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Before vs After</a:t>
            </a:r>
            <a:endParaRPr/>
          </a:p>
        </p:txBody>
      </p:sp>
      <p:graphicFrame>
        <p:nvGraphicFramePr>
          <p:cNvPr id="280" name="Google Shape;280;p24"/>
          <p:cNvGraphicFramePr/>
          <p:nvPr/>
        </p:nvGraphicFramePr>
        <p:xfrm>
          <a:off x="731520" y="4297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{41B58EF5-2D1E-4584-B63B-5605EE0792A7}</a:tableStyleId>
              </a:tblPr>
              <a:tblGrid>
                <a:gridCol w="2514600"/>
                <a:gridCol w="2514600"/>
              </a:tblGrid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>
                        <a:solidFill>
                          <a:srgbClr val="1E1E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It Works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(RNN/LSTM)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 one word at a time, in order.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Forgot the beginning by the end.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Transformer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 entire input at once.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Every word 'sees' every other word.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281" name="Google Shape;281;p24"/>
          <p:cNvSpPr/>
          <p:nvPr/>
        </p:nvSpPr>
        <p:spPr>
          <a:xfrm>
            <a:off x="6400800" y="137160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Bicycle vs Car Engine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Before Transformers, language AI was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like a bicycle — it could move, slowly.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Transformer was the invention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of the car engine. Same purpose,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completely different capability.</a:t>
            </a:r>
            <a:endParaRPr/>
          </a:p>
        </p:txBody>
      </p:sp>
      <p:sp>
        <p:nvSpPr>
          <p:cNvPr id="282" name="Google Shape;282;p24"/>
          <p:cNvSpPr/>
          <p:nvPr/>
        </p:nvSpPr>
        <p:spPr>
          <a:xfrm>
            <a:off x="6400800" y="393192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Smartphone Analogy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Samsung, Apple, OnePlus — different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brands, same underlying tech (processor,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screen, battery, OS).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GPT, Gemini, Claude, LLaMA — different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LLMs, same Transformer architecture.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6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Complete Picture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LLM in the full agent flow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7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LLM in the Complete Agent Architecture</a:t>
            </a:r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731525" y="1371600"/>
            <a:ext cx="5211600" cy="53913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USER INPUT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AGENT (the orchestrator — Python)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|-- Memory (short-term + long-term)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|-- Tools (search, API, DB, calc)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|-- LLM (the brain — GPT/Gemini/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|         Claude/LLaMA)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|         Prompt sent -&gt; decision back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AGENT executes LLM's decision via Tools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RESULT -&gt; back to AGENT -&gt; loop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FINAL OUTPUT to User</a:t>
            </a:r>
            <a:endParaRPr/>
          </a:p>
        </p:txBody>
      </p:sp>
      <p:graphicFrame>
        <p:nvGraphicFramePr>
          <p:cNvPr id="296" name="Google Shape;296;p27"/>
          <p:cNvGraphicFramePr/>
          <p:nvPr/>
        </p:nvGraphicFramePr>
        <p:xfrm>
          <a:off x="640080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{41B58EF5-2D1E-4584-B63B-5605EE0792A7}</a:tableStyleId>
              </a:tblPr>
              <a:tblGrid>
                <a:gridCol w="2514600"/>
                <a:gridCol w="2514600"/>
              </a:tblGrid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 Loop Stage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the LLM Does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active (agent gathers data)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Think - Plan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"Break this goal into steps"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Think - Reason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"Which option is best?"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Think - Decide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"Use the weather API next"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active (agent runs tools)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8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When Agents Fail Because of LLMs</a:t>
            </a:r>
            <a:endParaRPr/>
          </a:p>
        </p:txBody>
      </p:sp>
      <p:sp>
        <p:nvSpPr>
          <p:cNvPr id="302" name="Google Shape;302;p28"/>
          <p:cNvSpPr/>
          <p:nvPr/>
        </p:nvSpPr>
        <p:spPr>
          <a:xfrm>
            <a:off x="731520" y="137160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1. Hallucinating Research Agent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"List top 5 hospitals in Hyderabad" -&gt;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LLM invents addresses, one hospital doesn't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exist. Fix: search first, LLM summarizes.</a:t>
            </a:r>
            <a:endParaRPr/>
          </a:p>
        </p:txBody>
      </p:sp>
      <p:sp>
        <p:nvSpPr>
          <p:cNvPr id="303" name="Google Shape;303;p28"/>
          <p:cNvSpPr/>
          <p:nvPr/>
        </p:nvSpPr>
        <p:spPr>
          <a:xfrm>
            <a:off x="6400800" y="137160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2. Out-of-Date Agent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"Current SBI FD rate?" -&gt; LLM states 18-month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old rate confidently. Fix: agent uses real-time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search or bank API, then LLM formats answer.</a:t>
            </a:r>
            <a:endParaRPr/>
          </a:p>
        </p:txBody>
      </p:sp>
      <p:sp>
        <p:nvSpPr>
          <p:cNvPr id="304" name="Google Shape;304;p28"/>
          <p:cNvSpPr/>
          <p:nvPr/>
        </p:nvSpPr>
        <p:spPr>
          <a:xfrm>
            <a:off x="731520" y="301752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3. Inconsistent Grading Agent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Same essay scored 7 first time, 6 second time.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Fix: set temperature low + include structured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scoring rubric in prompt.</a:t>
            </a:r>
            <a:endParaRPr/>
          </a:p>
        </p:txBody>
      </p:sp>
      <p:sp>
        <p:nvSpPr>
          <p:cNvPr id="305" name="Google Shape;305;p28"/>
          <p:cNvSpPr/>
          <p:nvPr/>
        </p:nvSpPr>
        <p:spPr>
          <a:xfrm>
            <a:off x="6400800" y="301752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4. Math-Challenged Agent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Accounting agent gets invoice totals wrong.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Fix: LLM writes Python code for the calc,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runs it, returns computed result.</a:t>
            </a:r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731520" y="4754880"/>
            <a:ext cx="10515600" cy="16459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The Fix Pattern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Every LLM weakness has an agent-level fix. The agent (Python code) compensates for the LLM's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limitations by routing tasks to the right tools: search for real-time data, code execution for math,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verification steps for hallucination, low temperature for consistency.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Quick Reference — Key Terms</a:t>
            </a:r>
            <a:endParaRPr/>
          </a:p>
        </p:txBody>
      </p:sp>
      <p:graphicFrame>
        <p:nvGraphicFramePr>
          <p:cNvPr id="312" name="Google Shape;312;p29"/>
          <p:cNvGraphicFramePr/>
          <p:nvPr/>
        </p:nvGraphicFramePr>
        <p:xfrm>
          <a:off x="731520" y="1280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{41B58EF5-2D1E-4584-B63B-5605EE0792A7}</a:tableStyleId>
              </a:tblPr>
              <a:tblGrid>
                <a:gridCol w="3505200"/>
                <a:gridCol w="3505200"/>
                <a:gridCol w="3505200"/>
              </a:tblGrid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Term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Meaning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model that understands &amp; generates language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GPT-4, Gemini, Claude, LLaMA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 In -&gt; Text Out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Core LLM behavior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-&gt; Answer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Prompt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 text that controls LLM behavior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"Summarize in 3 bullets"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Hallucination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Confident but factually wrong output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 invents a book title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Training Cutoff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 after which LLM has no knowledge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Won't know 2025 events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Token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unit LLM processes (~0.75 words)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"biryani" -&gt; 2-3 tokens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 Window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tokens per API call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GPT-4o: ~128K tokens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Interface to send prompts and get responses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openai.chat.completions.create()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Transformer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Neural network architecture behind all LLMs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Google's 2017 paper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Attention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Mechanism linking every word to every other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Resolving what "it" refers to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Temperature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Controls randomness (0=consistent, 1+=creative)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 for grading, high for stories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Session 08 — Key Takeaways</a:t>
            </a:r>
            <a:endParaRPr/>
          </a:p>
        </p:txBody>
      </p:sp>
      <p:sp>
        <p:nvSpPr>
          <p:cNvPr id="318" name="Google Shape;318;p30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LLM = powerful text-processing AI model.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Text In -&gt; Text Out. That's the core.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LLM is the BRAIN of an agent — it handles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all reasoning, planning, and decisions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7 capabilities: Q&amp;A, summarize, generate,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translate, code, classify, reason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Prompts control everything — same LLM,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different prompt = different output</a:t>
            </a:r>
            <a:endParaRPr/>
          </a:p>
        </p:txBody>
      </p:sp>
      <p:sp>
        <p:nvSpPr>
          <p:cNvPr id="319" name="Google Shape;319;p30"/>
          <p:cNvSpPr txBox="1"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5 limitations: hallucination, no real-time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data, poor math, inconsistency, context limit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Providers: OpenAI (GPT), Google (Gemini),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Anthropic (Claude), Meta (LLaMA)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Accessed via APIs, charged by tokens.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Tokens affect cost, speed, and limits.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All LLMs built on Transformers + Attention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— the 2017 breakthrough that changed AI</a:t>
            </a:r>
            <a:endParaRPr/>
          </a:p>
        </p:txBody>
      </p:sp>
      <p:sp>
        <p:nvSpPr>
          <p:cNvPr id="320" name="Google Shape;320;p30"/>
          <p:cNvSpPr/>
          <p:nvPr/>
        </p:nvSpPr>
        <p:spPr>
          <a:xfrm>
            <a:off x="731525" y="5029200"/>
            <a:ext cx="10671900" cy="15873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The Complete Picture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 the agent loop: LLM powers the THINK stage. Python powers the ACT stage.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agent compensates for LLM weaknesses (search for real-time, code for math, verification for hallucination).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Together: LLM + agent code + tools = a complete, functional AI agent.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