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7" roundtripDataSignature="AMtx7mi7XaVVf+FtTL2jfvieaLvt0462n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F079E8D-B082-4C48-862F-41923AEF6820}">
  <a:tblStyle styleId="{3F079E8D-B082-4C48-862F-41923AEF682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customschemas.google.com/relationships/presentationmetadata" Target="metadata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3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3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914400" y="1645920"/>
            <a:ext cx="1828800" cy="54864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Version Control &amp;</a:t>
            </a:r>
            <a:b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GitHub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Session 06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914400" y="4754880"/>
            <a:ext cx="100584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Saksham Arora</a:t>
            </a:r>
            <a:br>
              <a:rPr b="0" i="0" lang="en-US" sz="16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Software Engineer 2 @ Intuit  |  Ex - Microsoft  |  2x Intern @ Microsoft + 1x Intern @ Amazon</a:t>
            </a:r>
            <a:br>
              <a:rPr b="0" i="0" lang="en-US" sz="16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Founding Engineer @ Crio.do</a:t>
            </a:r>
            <a:br>
              <a:rPr b="0" i="0" lang="en-US" sz="16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linkedin.com/in/sakshamarora9575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Session Objectives</a:t>
            </a:r>
            <a:endParaRPr/>
          </a:p>
        </p:txBody>
      </p:sp>
      <p:sp>
        <p:nvSpPr>
          <p:cNvPr id="93" name="Google Shape;93;p2"/>
          <p:cNvSpPr txBox="1"/>
          <p:nvPr/>
        </p:nvSpPr>
        <p:spPr>
          <a:xfrm>
            <a:off x="731520" y="1463040"/>
            <a:ext cx="10058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1.  Understand why version control matters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2.  Learn Git basics — the three-area model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3.  Master the local workflow: add, commit, log, diff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4.  Undo mistakes: restore, reset, amend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5.  Use branches for isolated development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6.  Understand remotes, push, pull, and origin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7.  Collaborate with Pull Requests &amp; access control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8.  Follow the end-to-end professional workflow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243A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/>
          <p:nvPr/>
        </p:nvSpPr>
        <p:spPr>
          <a:xfrm>
            <a:off x="0" y="2926080"/>
            <a:ext cx="137160" cy="100584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 Version Control?</a:t>
            </a:r>
            <a:endParaRPr/>
          </a:p>
        </p:txBody>
      </p:sp>
      <p:sp>
        <p:nvSpPr>
          <p:cNvPr id="100" name="Google Shape;100;p3"/>
          <p:cNvSpPr txBox="1"/>
          <p:nvPr/>
        </p:nvSpPr>
        <p:spPr>
          <a:xfrm>
            <a:off x="731520" y="384048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The real-world need for managing code changes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Problems Version Control Solves</a:t>
            </a:r>
            <a:endParaRPr/>
          </a:p>
        </p:txBody>
      </p:sp>
      <p:graphicFrame>
        <p:nvGraphicFramePr>
          <p:cNvPr id="106" name="Google Shape;106;p4"/>
          <p:cNvGraphicFramePr/>
          <p:nvPr/>
        </p:nvGraphicFramePr>
        <p:xfrm>
          <a:off x="731520" y="1371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{3F079E8D-B082-4C48-862F-41923AEF6820}</a:tableStyleId>
              </a:tblPr>
              <a:tblGrid>
                <a:gridCol w="5257800"/>
                <a:gridCol w="5257800"/>
              </a:tblGrid>
              <a:tr h="42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Problem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VCS Solution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Multiple disorganized file copies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Automated, structured history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Overwriting teammate's changes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Safe merging process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record of why changes were made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Detailed commit history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System failure / accidental deletion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Easy recovery from repository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Work stored on a single machine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Shared remote repository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New feature risks breaking stable code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Branches to isolate changes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</a:tbl>
          </a:graphicData>
        </a:graphic>
      </p:graphicFrame>
      <p:sp>
        <p:nvSpPr>
          <p:cNvPr id="107" name="Google Shape;107;p4"/>
          <p:cNvSpPr/>
          <p:nvPr/>
        </p:nvSpPr>
        <p:spPr>
          <a:xfrm>
            <a:off x="731520" y="5303520"/>
            <a:ext cx="10515600" cy="1097280"/>
          </a:xfrm>
          <a:prstGeom prst="roundRect">
            <a:avLst>
              <a:gd fmla="val 16667" name="adj"/>
            </a:avLst>
          </a:prstGeom>
          <a:solidFill>
            <a:srgbClr val="2727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Analogy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Like keeping multiple drafts of a report — but automated, structured, and with full traceability of every change ever made.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Types of Version Control Systems</a:t>
            </a:r>
            <a:endParaRPr/>
          </a:p>
        </p:txBody>
      </p:sp>
      <p:sp>
        <p:nvSpPr>
          <p:cNvPr id="113" name="Google Shape;113;p5"/>
          <p:cNvSpPr txBox="1"/>
          <p:nvPr/>
        </p:nvSpPr>
        <p:spPr>
          <a:xfrm>
            <a:off x="731520" y="1371600"/>
            <a:ext cx="32004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Local VCS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History on one computer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High data loss risk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Example: RCS</a:t>
            </a:r>
            <a:endParaRPr/>
          </a:p>
        </p:txBody>
      </p:sp>
      <p:sp>
        <p:nvSpPr>
          <p:cNvPr id="114" name="Google Shape;114;p5"/>
          <p:cNvSpPr txBox="1"/>
          <p:nvPr/>
        </p:nvSpPr>
        <p:spPr>
          <a:xfrm>
            <a:off x="4389120" y="1371600"/>
            <a:ext cx="338328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Centralized (CVCS)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One central server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Network-dependent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Examples: SVN, Perforce</a:t>
            </a:r>
            <a:endParaRPr/>
          </a:p>
        </p:txBody>
      </p:sp>
      <p:sp>
        <p:nvSpPr>
          <p:cNvPr id="115" name="Google Shape;115;p5"/>
          <p:cNvSpPr txBox="1"/>
          <p:nvPr/>
        </p:nvSpPr>
        <p:spPr>
          <a:xfrm>
            <a:off x="8229600" y="1371600"/>
            <a:ext cx="347472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Distributed (DVCS)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Full copy on every machine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Works offline!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Examples: Git, Mercurial</a:t>
            </a:r>
            <a:endParaRPr/>
          </a:p>
        </p:txBody>
      </p:sp>
      <p:sp>
        <p:nvSpPr>
          <p:cNvPr id="116" name="Google Shape;116;p5"/>
          <p:cNvSpPr txBox="1"/>
          <p:nvPr/>
        </p:nvSpPr>
        <p:spPr>
          <a:xfrm>
            <a:off x="731520" y="411480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How Version Control Works</a:t>
            </a:r>
            <a:endParaRPr/>
          </a:p>
        </p:txBody>
      </p:sp>
      <p:sp>
        <p:nvSpPr>
          <p:cNvPr id="117" name="Google Shape;117;p5"/>
          <p:cNvSpPr/>
          <p:nvPr/>
        </p:nvSpPr>
        <p:spPr>
          <a:xfrm>
            <a:off x="198225" y="4572000"/>
            <a:ext cx="6835200" cy="13236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77800" lIns="228600" spcFirstLastPara="1" rIns="228600" wrap="square" tIns="177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Version 1 -&gt; Version 2 -&gt; Version 3 -&gt; Version 4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(Stable)        (Bug)       (Fix)       (Feature)</a:t>
            </a: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7113270" y="4523995"/>
            <a:ext cx="5029200" cy="1371600"/>
          </a:xfrm>
          <a:prstGeom prst="roundRect">
            <a:avLst>
              <a:gd fmla="val 16667" name="adj"/>
            </a:avLst>
          </a:prstGeom>
          <a:solidFill>
            <a:srgbClr val="27352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Git is the industry standard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Fast, works offline, powerful branching,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secure, and massive community support.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243A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"/>
          <p:cNvSpPr/>
          <p:nvPr/>
        </p:nvSpPr>
        <p:spPr>
          <a:xfrm>
            <a:off x="0" y="2926080"/>
            <a:ext cx="137160" cy="100584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Git &amp; GitHub</a:t>
            </a:r>
            <a:endParaRPr/>
          </a:p>
        </p:txBody>
      </p:sp>
      <p:sp>
        <p:nvSpPr>
          <p:cNvPr id="125" name="Google Shape;125;p6"/>
          <p:cNvSpPr txBox="1"/>
          <p:nvPr/>
        </p:nvSpPr>
        <p:spPr>
          <a:xfrm>
            <a:off x="731520" y="384048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The tool vs the platform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Git vs GitHub</a:t>
            </a:r>
            <a:endParaRPr/>
          </a:p>
        </p:txBody>
      </p:sp>
      <p:graphicFrame>
        <p:nvGraphicFramePr>
          <p:cNvPr id="131" name="Google Shape;131;p7"/>
          <p:cNvGraphicFramePr/>
          <p:nvPr/>
        </p:nvGraphicFramePr>
        <p:xfrm>
          <a:off x="731520" y="1371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{3F079E8D-B082-4C48-862F-41923AEF6820}</a:tableStyleId>
              </a:tblPr>
              <a:tblGrid>
                <a:gridCol w="1828800"/>
                <a:gridCol w="1828800"/>
                <a:gridCol w="1828800"/>
              </a:tblGrid>
              <a:tr h="42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Aspect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Git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GitHub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Runs where?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Local system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Cloud website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Internet needed?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Purpose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Version history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Collaboration + Hosting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</a:tbl>
          </a:graphicData>
        </a:graphic>
      </p:graphicFrame>
      <p:sp>
        <p:nvSpPr>
          <p:cNvPr id="132" name="Google Shape;132;p7"/>
          <p:cNvSpPr txBox="1"/>
          <p:nvPr/>
        </p:nvSpPr>
        <p:spPr>
          <a:xfrm>
            <a:off x="6675120" y="13716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Initial Setup</a:t>
            </a: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6675125" y="1920250"/>
            <a:ext cx="5368500" cy="25602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77800" lIns="228600" spcFirstLastPara="1" rIns="228600" wrap="square" tIns="177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Install Git, then configure: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git config --global user.name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"Your Name"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git config --global user.email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"you@example.com"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Verify: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git --version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git config --list</a:t>
            </a: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731520" y="4754880"/>
            <a:ext cx="5029200" cy="1645920"/>
          </a:xfrm>
          <a:prstGeom prst="roundRect">
            <a:avLst>
              <a:gd fmla="val 16667" name="adj"/>
            </a:avLst>
          </a:prstGeom>
          <a:solidFill>
            <a:srgbClr val="2727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Remember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Git is the tool (local command line).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GitHub is the service (cloud platform).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You use Git commands; GitHub hosts your repos.</a:t>
            </a:r>
            <a:endParaRPr/>
          </a:p>
        </p:txBody>
      </p:sp>
      <p:sp>
        <p:nvSpPr>
          <p:cNvPr id="135" name="Google Shape;135;p7"/>
          <p:cNvSpPr/>
          <p:nvPr/>
        </p:nvSpPr>
        <p:spPr>
          <a:xfrm>
            <a:off x="6675120" y="4754880"/>
            <a:ext cx="5029200" cy="1645920"/>
          </a:xfrm>
          <a:prstGeom prst="roundRect">
            <a:avLst>
              <a:gd fmla="val 16667" name="adj"/>
            </a:avLst>
          </a:prstGeom>
          <a:solidFill>
            <a:srgbClr val="45272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AB387"/>
                </a:solidFill>
                <a:latin typeface="Calibri"/>
                <a:ea typeface="Calibri"/>
                <a:cs typeface="Calibri"/>
                <a:sym typeface="Calibri"/>
              </a:rPr>
              <a:t>Why matching identity matters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Use the SAME name/email as your GitHub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account. This ensures your contributions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are correctly attributed on your profile.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243A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"/>
          <p:cNvSpPr/>
          <p:nvPr/>
        </p:nvSpPr>
        <p:spPr>
          <a:xfrm>
            <a:off x="0" y="2926080"/>
            <a:ext cx="137160" cy="100584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Local Workflow</a:t>
            </a:r>
            <a:endParaRPr/>
          </a:p>
        </p:txBody>
      </p:sp>
      <p:sp>
        <p:nvSpPr>
          <p:cNvPr id="142" name="Google Shape;142;p8"/>
          <p:cNvSpPr txBox="1"/>
          <p:nvPr/>
        </p:nvSpPr>
        <p:spPr>
          <a:xfrm>
            <a:off x="731520" y="384048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Working tree, staging area, and commits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Git's Three-Area Model</a:t>
            </a:r>
            <a:endParaRPr/>
          </a:p>
        </p:txBody>
      </p:sp>
      <p:sp>
        <p:nvSpPr>
          <p:cNvPr id="148" name="Google Shape;148;p9"/>
          <p:cNvSpPr/>
          <p:nvPr/>
        </p:nvSpPr>
        <p:spPr>
          <a:xfrm>
            <a:off x="731520" y="1371600"/>
            <a:ext cx="3200400" cy="2560320"/>
          </a:xfrm>
          <a:prstGeom prst="roundRect">
            <a:avLst>
              <a:gd fmla="val 16667" name="adj"/>
            </a:avLst>
          </a:prstGeom>
          <a:solidFill>
            <a:srgbClr val="2727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1. Working Directory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Your project folder on disk.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Where you edit files.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Git does NOT track changes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here until you stage them.</a:t>
            </a:r>
            <a:endParaRPr/>
          </a:p>
        </p:txBody>
      </p:sp>
      <p:sp>
        <p:nvSpPr>
          <p:cNvPr id="149" name="Google Shape;149;p9"/>
          <p:cNvSpPr/>
          <p:nvPr/>
        </p:nvSpPr>
        <p:spPr>
          <a:xfrm>
            <a:off x="4389120" y="1371600"/>
            <a:ext cx="3383280" cy="2560320"/>
          </a:xfrm>
          <a:prstGeom prst="roundRect">
            <a:avLst>
              <a:gd fmla="val 16667" name="adj"/>
            </a:avLst>
          </a:prstGeom>
          <a:solidFill>
            <a:srgbClr val="27352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2. Staging Area (Index)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Temporary holding area.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Prepare a clean snapshot.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Select WHICH files go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into the next commit.</a:t>
            </a:r>
            <a:endParaRPr/>
          </a:p>
        </p:txBody>
      </p:sp>
      <p:sp>
        <p:nvSpPr>
          <p:cNvPr id="150" name="Google Shape;150;p9"/>
          <p:cNvSpPr/>
          <p:nvPr/>
        </p:nvSpPr>
        <p:spPr>
          <a:xfrm>
            <a:off x="8229600" y="1371600"/>
            <a:ext cx="3474720" cy="2560320"/>
          </a:xfrm>
          <a:prstGeom prst="roundRect">
            <a:avLst>
              <a:gd fmla="val 16667" name="adj"/>
            </a:avLst>
          </a:prstGeom>
          <a:solidFill>
            <a:srgbClr val="3527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3. Local Repository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Stores permanent snapshots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(commits) of your project.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Unique commit ID generated.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Can revert or compare later.</a:t>
            </a:r>
            <a:endParaRPr/>
          </a:p>
        </p:txBody>
      </p:sp>
      <p:sp>
        <p:nvSpPr>
          <p:cNvPr id="151" name="Google Shape;151;p9"/>
          <p:cNvSpPr txBox="1"/>
          <p:nvPr/>
        </p:nvSpPr>
        <p:spPr>
          <a:xfrm>
            <a:off x="731520" y="420624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Edit files   ──&gt;   git add   ──&gt;   git commit   ──&gt;   Permanent history</a:t>
            </a:r>
            <a:endParaRPr/>
          </a:p>
        </p:txBody>
      </p:sp>
      <p:sp>
        <p:nvSpPr>
          <p:cNvPr id="152" name="Google Shape;152;p9"/>
          <p:cNvSpPr/>
          <p:nvPr/>
        </p:nvSpPr>
        <p:spPr>
          <a:xfrm>
            <a:off x="731520" y="5029200"/>
            <a:ext cx="10515600" cy="1371600"/>
          </a:xfrm>
          <a:prstGeom prst="roundRect">
            <a:avLst>
              <a:gd fmla="val 16667" name="adj"/>
            </a:avLst>
          </a:prstGeom>
          <a:solidFill>
            <a:srgbClr val="2727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Why staging exists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Staging gives you control over WHAT goes into each commit. You can edit 10 files but only commit 3 — keeping commits clean and logical.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0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git status &amp; git add</a:t>
            </a:r>
            <a:endParaRPr/>
          </a:p>
        </p:txBody>
      </p:sp>
      <p:sp>
        <p:nvSpPr>
          <p:cNvPr id="158" name="Google Shape;158;p10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git status — Check current state</a:t>
            </a:r>
            <a:endParaRPr/>
          </a:p>
        </p:txBody>
      </p:sp>
      <p:sp>
        <p:nvSpPr>
          <p:cNvPr id="159" name="Google Shape;159;p10"/>
          <p:cNvSpPr/>
          <p:nvPr/>
        </p:nvSpPr>
        <p:spPr>
          <a:xfrm>
            <a:off x="731520" y="1920240"/>
            <a:ext cx="5029200" cy="22860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77800" lIns="228600" spcFirstLastPara="1" rIns="228600" wrap="square" tIns="177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$ git status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Changes not staged for commit: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modified: index.html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Changes to be committed: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new file: style.css</a:t>
            </a:r>
            <a:endParaRPr/>
          </a:p>
        </p:txBody>
      </p:sp>
      <p:sp>
        <p:nvSpPr>
          <p:cNvPr id="160" name="Google Shape;160;p10"/>
          <p:cNvSpPr txBox="1"/>
          <p:nvPr/>
        </p:nvSpPr>
        <p:spPr>
          <a:xfrm>
            <a:off x="6400800" y="615775"/>
            <a:ext cx="5029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git add — Stage changes</a:t>
            </a:r>
            <a:endParaRPr/>
          </a:p>
        </p:txBody>
      </p:sp>
      <p:sp>
        <p:nvSpPr>
          <p:cNvPr id="161" name="Google Shape;161;p10"/>
          <p:cNvSpPr/>
          <p:nvPr/>
        </p:nvSpPr>
        <p:spPr>
          <a:xfrm>
            <a:off x="6400800" y="1207251"/>
            <a:ext cx="5029200" cy="36390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77800" lIns="228600" spcFirstLastPara="1" rIns="228600" wrap="square" tIns="177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Add a single file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git add file.txt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Add multiple files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git add file1.js file2.js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Add everything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git add</a:t>
            </a:r>
            <a:r>
              <a:rPr lang="en-US" sz="1600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*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Add only modified (not new/deleted)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git add -u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git commit — Save a Snapshot</a:t>
            </a:r>
            <a:endParaRPr/>
          </a:p>
        </p:txBody>
      </p:sp>
      <p:sp>
        <p:nvSpPr>
          <p:cNvPr id="167" name="Google Shape;167;p11"/>
          <p:cNvSpPr/>
          <p:nvPr/>
        </p:nvSpPr>
        <p:spPr>
          <a:xfrm>
            <a:off x="731525" y="1371600"/>
            <a:ext cx="5517600" cy="11886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77800" lIns="228600" spcFirstLastPara="1" rIns="228600" wrap="square" tIns="177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git commit -m "Add navbar</a:t>
            </a:r>
            <a:r>
              <a:rPr lang="en-US" sz="1800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component"</a:t>
            </a:r>
            <a:endParaRPr/>
          </a:p>
        </p:txBody>
      </p:sp>
      <p:sp>
        <p:nvSpPr>
          <p:cNvPr id="168" name="Google Shape;168;p11"/>
          <p:cNvSpPr txBox="1"/>
          <p:nvPr/>
        </p:nvSpPr>
        <p:spPr>
          <a:xfrm>
            <a:off x="731520" y="283464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Good Commit Messages</a:t>
            </a:r>
            <a:endParaRPr/>
          </a:p>
        </p:txBody>
      </p:sp>
      <p:sp>
        <p:nvSpPr>
          <p:cNvPr id="169" name="Google Shape;169;p11"/>
          <p:cNvSpPr txBox="1"/>
          <p:nvPr/>
        </p:nvSpPr>
        <p:spPr>
          <a:xfrm>
            <a:off x="731520" y="3291840"/>
            <a:ext cx="50292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Start with a verb: Add, Update, Fix, Remove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Short but descriptive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Use present tense</a:t>
            </a:r>
            <a:endParaRPr/>
          </a:p>
        </p:txBody>
      </p:sp>
      <p:sp>
        <p:nvSpPr>
          <p:cNvPr id="170" name="Google Shape;170;p11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Good Examples</a:t>
            </a:r>
            <a:endParaRPr/>
          </a:p>
        </p:txBody>
      </p:sp>
      <p:sp>
        <p:nvSpPr>
          <p:cNvPr id="171" name="Google Shape;171;p11"/>
          <p:cNvSpPr/>
          <p:nvPr/>
        </p:nvSpPr>
        <p:spPr>
          <a:xfrm>
            <a:off x="6400800" y="1920240"/>
            <a:ext cx="5029200" cy="13716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77800" lIns="228600" spcFirstLastPara="1" rIns="228600" wrap="square" tIns="177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Add navbar component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Fix login validation issue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Update README with setup instructions</a:t>
            </a:r>
            <a:endParaRPr/>
          </a:p>
        </p:txBody>
      </p:sp>
      <p:sp>
        <p:nvSpPr>
          <p:cNvPr id="172" name="Google Shape;172;p11"/>
          <p:cNvSpPr txBox="1"/>
          <p:nvPr/>
        </p:nvSpPr>
        <p:spPr>
          <a:xfrm>
            <a:off x="6400800" y="356616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AB387"/>
                </a:solidFill>
                <a:latin typeface="Calibri"/>
                <a:ea typeface="Calibri"/>
                <a:cs typeface="Calibri"/>
                <a:sym typeface="Calibri"/>
              </a:rPr>
              <a:t>Bad Examples</a:t>
            </a:r>
            <a:endParaRPr/>
          </a:p>
        </p:txBody>
      </p:sp>
      <p:sp>
        <p:nvSpPr>
          <p:cNvPr id="173" name="Google Shape;173;p11"/>
          <p:cNvSpPr/>
          <p:nvPr/>
        </p:nvSpPr>
        <p:spPr>
          <a:xfrm>
            <a:off x="6400800" y="4023360"/>
            <a:ext cx="5029200" cy="13716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77800" lIns="228600" spcFirstLastPara="1" rIns="228600" wrap="square" tIns="177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done task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changes made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final commit</a:t>
            </a:r>
            <a:endParaRPr/>
          </a:p>
        </p:txBody>
      </p:sp>
      <p:sp>
        <p:nvSpPr>
          <p:cNvPr id="174" name="Google Shape;174;p11"/>
          <p:cNvSpPr/>
          <p:nvPr/>
        </p:nvSpPr>
        <p:spPr>
          <a:xfrm>
            <a:off x="731520" y="5486400"/>
            <a:ext cx="10515600" cy="914400"/>
          </a:xfrm>
          <a:prstGeom prst="roundRect">
            <a:avLst>
              <a:gd fmla="val 16667" name="adj"/>
            </a:avLst>
          </a:prstGeom>
          <a:solidFill>
            <a:srgbClr val="2727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A commit is a permanent snapshot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Once committed, changes become part of history with a unique ID. You can always revert or compare.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git log &amp; git diff</a:t>
            </a:r>
            <a:endParaRPr/>
          </a:p>
        </p:txBody>
      </p:sp>
      <p:sp>
        <p:nvSpPr>
          <p:cNvPr id="180" name="Google Shape;180;p12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git log — View commit history</a:t>
            </a:r>
            <a:endParaRPr/>
          </a:p>
        </p:txBody>
      </p:sp>
      <p:sp>
        <p:nvSpPr>
          <p:cNvPr id="181" name="Google Shape;181;p12"/>
          <p:cNvSpPr/>
          <p:nvPr/>
        </p:nvSpPr>
        <p:spPr>
          <a:xfrm>
            <a:off x="731525" y="1920252"/>
            <a:ext cx="5097000" cy="27432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77800" lIns="228600" spcFirstLastPara="1" rIns="228600" wrap="square" tIns="177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Full details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git log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Condensed one-line view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git log --oneline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Example output: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a1b2c3d Add user login API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f4e5d6a Setup project structure</a:t>
            </a:r>
            <a:endParaRPr/>
          </a:p>
        </p:txBody>
      </p:sp>
      <p:sp>
        <p:nvSpPr>
          <p:cNvPr id="182" name="Google Shape;182;p12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git diff — Compare changes</a:t>
            </a:r>
            <a:endParaRPr/>
          </a:p>
        </p:txBody>
      </p:sp>
      <p:sp>
        <p:nvSpPr>
          <p:cNvPr id="183" name="Google Shape;183;p12"/>
          <p:cNvSpPr/>
          <p:nvPr/>
        </p:nvSpPr>
        <p:spPr>
          <a:xfrm>
            <a:off x="6400800" y="1920253"/>
            <a:ext cx="5029200" cy="36906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77800" lIns="228600" spcFirstLastPara="1" rIns="228600" wrap="square" tIns="177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Working dir vs staging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git diff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# Shows unstaged edits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Staging vs last commit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git diff --staged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# Shows what you're about to commit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Two commits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git diff &lt;commit1&gt; &lt;commit2&gt;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3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Full Local Workflow — Step by Step</a:t>
            </a:r>
            <a:endParaRPr/>
          </a:p>
        </p:txBody>
      </p:sp>
      <p:sp>
        <p:nvSpPr>
          <p:cNvPr id="189" name="Google Shape;189;p13"/>
          <p:cNvSpPr/>
          <p:nvPr/>
        </p:nvSpPr>
        <p:spPr>
          <a:xfrm>
            <a:off x="731525" y="1064850"/>
            <a:ext cx="5458500" cy="54222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77800" lIns="228600" spcFirstLastPara="1" rIns="228600" wrap="square" tIns="177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1. Edit a file in your editor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2. Check what changed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git status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3. Stage the file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git add app.js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4. Review staged changes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git diff --staged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5. Commit with a message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git commit -m "Add route handler for login"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6. View history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git log --oneline</a:t>
            </a:r>
            <a:endParaRPr/>
          </a:p>
        </p:txBody>
      </p:sp>
      <p:graphicFrame>
        <p:nvGraphicFramePr>
          <p:cNvPr id="190" name="Google Shape;190;p13"/>
          <p:cNvGraphicFramePr/>
          <p:nvPr/>
        </p:nvGraphicFramePr>
        <p:xfrm>
          <a:off x="6675120" y="1371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{3F079E8D-B082-4C48-862F-41923AEF6820}</a:tableStyleId>
              </a:tblPr>
              <a:tblGrid>
                <a:gridCol w="2514600"/>
                <a:gridCol w="2514600"/>
              </a:tblGrid>
              <a:tr h="3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Command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Purpose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git status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View current file states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git add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Move changes to staging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git commit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Save staged changes permanently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git log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See commit history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git diff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Compare changes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</a:tbl>
          </a:graphicData>
        </a:graphic>
      </p:graphicFrame>
      <p:sp>
        <p:nvSpPr>
          <p:cNvPr id="191" name="Google Shape;191;p13"/>
          <p:cNvSpPr/>
          <p:nvPr/>
        </p:nvSpPr>
        <p:spPr>
          <a:xfrm>
            <a:off x="6675120" y="4572000"/>
            <a:ext cx="5029200" cy="1645920"/>
          </a:xfrm>
          <a:prstGeom prst="roundRect">
            <a:avLst>
              <a:gd fmla="val 16667" name="adj"/>
            </a:avLst>
          </a:prstGeom>
          <a:solidFill>
            <a:srgbClr val="27352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This is your daily rhythm!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edit -&gt; status -&gt; add -&gt; diff -&gt; commit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Repeat for every logical unit of work.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Small, focused commits are best.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243A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4"/>
          <p:cNvSpPr/>
          <p:nvPr/>
        </p:nvSpPr>
        <p:spPr>
          <a:xfrm>
            <a:off x="0" y="2926080"/>
            <a:ext cx="137160" cy="100584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4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Undoing Mistakes</a:t>
            </a:r>
            <a:endParaRPr/>
          </a:p>
        </p:txBody>
      </p:sp>
      <p:sp>
        <p:nvSpPr>
          <p:cNvPr id="198" name="Google Shape;198;p14"/>
          <p:cNvSpPr txBox="1"/>
          <p:nvPr/>
        </p:nvSpPr>
        <p:spPr>
          <a:xfrm>
            <a:off x="731520" y="384048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Safely revert, unstage, and amend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5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Undoing at Every Stage</a:t>
            </a:r>
            <a:endParaRPr/>
          </a:p>
        </p:txBody>
      </p:sp>
      <p:sp>
        <p:nvSpPr>
          <p:cNvPr id="204" name="Google Shape;204;p15"/>
          <p:cNvSpPr/>
          <p:nvPr/>
        </p:nvSpPr>
        <p:spPr>
          <a:xfrm>
            <a:off x="731525" y="1371600"/>
            <a:ext cx="3200400" cy="2831100"/>
          </a:xfrm>
          <a:prstGeom prst="roundRect">
            <a:avLst>
              <a:gd fmla="val 16667" name="adj"/>
            </a:avLst>
          </a:prstGeom>
          <a:solidFill>
            <a:srgbClr val="45272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AB387"/>
                </a:solidFill>
                <a:latin typeface="Calibri"/>
                <a:ea typeface="Calibri"/>
                <a:cs typeface="Calibri"/>
                <a:sym typeface="Calibri"/>
              </a:rPr>
              <a:t>Working Directory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Discard uncommitted edits: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git restore file.txt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git restore .  (all files)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Restores to last committed version.</a:t>
            </a:r>
            <a:endParaRPr/>
          </a:p>
        </p:txBody>
      </p:sp>
      <p:sp>
        <p:nvSpPr>
          <p:cNvPr id="205" name="Google Shape;205;p15"/>
          <p:cNvSpPr/>
          <p:nvPr/>
        </p:nvSpPr>
        <p:spPr>
          <a:xfrm>
            <a:off x="4389125" y="1371600"/>
            <a:ext cx="3383400" cy="2787300"/>
          </a:xfrm>
          <a:prstGeom prst="roundRect">
            <a:avLst>
              <a:gd fmla="val 16667" name="adj"/>
            </a:avLst>
          </a:prstGeom>
          <a:solidFill>
            <a:srgbClr val="27352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Staging Area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Move staged back to working dir: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git restore --staged file.txt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git reset file.txt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Edits are preserved, just unstaged.</a:t>
            </a:r>
            <a:endParaRPr/>
          </a:p>
        </p:txBody>
      </p:sp>
      <p:sp>
        <p:nvSpPr>
          <p:cNvPr id="206" name="Google Shape;206;p15"/>
          <p:cNvSpPr/>
          <p:nvPr/>
        </p:nvSpPr>
        <p:spPr>
          <a:xfrm>
            <a:off x="8229600" y="1371600"/>
            <a:ext cx="3474720" cy="2560320"/>
          </a:xfrm>
          <a:prstGeom prst="roundRect">
            <a:avLst>
              <a:gd fmla="val 16667" name="adj"/>
            </a:avLst>
          </a:prstGeom>
          <a:solidFill>
            <a:srgbClr val="2727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Last Commit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Fix message or add missed files: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git commit --amend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-m "Correct message"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Safe only BEFORE pushing!</a:t>
            </a:r>
            <a:endParaRPr/>
          </a:p>
        </p:txBody>
      </p:sp>
      <p:graphicFrame>
        <p:nvGraphicFramePr>
          <p:cNvPr id="207" name="Google Shape;207;p15"/>
          <p:cNvGraphicFramePr/>
          <p:nvPr/>
        </p:nvGraphicFramePr>
        <p:xfrm>
          <a:off x="731520" y="43891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{3F079E8D-B082-4C48-862F-41923AEF6820}</a:tableStyleId>
              </a:tblPr>
              <a:tblGrid>
                <a:gridCol w="3505200"/>
                <a:gridCol w="3505200"/>
                <a:gridCol w="3505200"/>
              </a:tblGrid>
              <a:tr h="3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Stage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Action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Command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Working Directory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Discard edits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git restore file.txt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Staging Area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Unstage changes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git restore --staged file.txt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Repository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Fix last commit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git commit --amend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6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Common Mistake Scenarios</a:t>
            </a:r>
            <a:endParaRPr/>
          </a:p>
        </p:txBody>
      </p:sp>
      <p:sp>
        <p:nvSpPr>
          <p:cNvPr id="213" name="Google Shape;213;p16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"I made changes but want to discard them"</a:t>
            </a:r>
            <a:b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  git restore file.txt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"I added files by mistake to staging"</a:t>
            </a:r>
            <a:b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  git reset file.txt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"I forgot to include a file in the last commit"</a:t>
            </a:r>
            <a:b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  git add missing.js  then  git commit --amend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"My commit message has a typo"</a:t>
            </a:r>
            <a:b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  git commit --amend -m "Correct message"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"I want to review before undoing anything"</a:t>
            </a:r>
            <a:b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  git diff  (working dir)   git diff --staged  (staged)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243A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7"/>
          <p:cNvSpPr/>
          <p:nvPr/>
        </p:nvSpPr>
        <p:spPr>
          <a:xfrm>
            <a:off x="0" y="2926080"/>
            <a:ext cx="137160" cy="100584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7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Branching</a:t>
            </a:r>
            <a:endParaRPr/>
          </a:p>
        </p:txBody>
      </p:sp>
      <p:sp>
        <p:nvSpPr>
          <p:cNvPr id="220" name="Google Shape;220;p17"/>
          <p:cNvSpPr txBox="1"/>
          <p:nvPr/>
        </p:nvSpPr>
        <p:spPr>
          <a:xfrm>
            <a:off x="731520" y="384048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Isolated lines of development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8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Why Branches?</a:t>
            </a:r>
            <a:endParaRPr/>
          </a:p>
        </p:txBody>
      </p:sp>
      <p:sp>
        <p:nvSpPr>
          <p:cNvPr id="226" name="Google Shape;226;p18"/>
          <p:cNvSpPr txBox="1"/>
          <p:nvPr/>
        </p:nvSpPr>
        <p:spPr>
          <a:xfrm>
            <a:off x="731520" y="1371600"/>
            <a:ext cx="50292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Without branches, all work on main: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- Incomplete features break the app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- Bugs reach production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- Parallel work is risky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- History is messy</a:t>
            </a:r>
            <a:endParaRPr/>
          </a:p>
        </p:txBody>
      </p:sp>
      <p:sp>
        <p:nvSpPr>
          <p:cNvPr id="227" name="Google Shape;227;p18"/>
          <p:cNvSpPr txBox="1"/>
          <p:nvPr/>
        </p:nvSpPr>
        <p:spPr>
          <a:xfrm>
            <a:off x="731520" y="384048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With branches:</a:t>
            </a:r>
            <a:endParaRPr/>
          </a:p>
        </p:txBody>
      </p:sp>
      <p:sp>
        <p:nvSpPr>
          <p:cNvPr id="228" name="Google Shape;228;p18"/>
          <p:cNvSpPr txBox="1"/>
          <p:nvPr/>
        </p:nvSpPr>
        <p:spPr>
          <a:xfrm>
            <a:off x="731520" y="4297680"/>
            <a:ext cx="50292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Feature development without risk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Bug fixes without blocking others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Experiments without fear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Clean, stable main branch</a:t>
            </a:r>
            <a:endParaRPr/>
          </a:p>
        </p:txBody>
      </p:sp>
      <p:sp>
        <p:nvSpPr>
          <p:cNvPr id="229" name="Google Shape;229;p18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What Is a Branch?</a:t>
            </a:r>
            <a:endParaRPr/>
          </a:p>
        </p:txBody>
      </p:sp>
      <p:sp>
        <p:nvSpPr>
          <p:cNvPr id="230" name="Google Shape;230;p18"/>
          <p:cNvSpPr txBox="1"/>
          <p:nvPr/>
        </p:nvSpPr>
        <p:spPr>
          <a:xfrm>
            <a:off x="6400800" y="1920240"/>
            <a:ext cx="50292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A lightweight pointer to a commit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Independent line of development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Changes in one branch don't affect others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main is the default stable branch</a:t>
            </a:r>
            <a:endParaRPr/>
          </a:p>
        </p:txBody>
      </p:sp>
      <p:sp>
        <p:nvSpPr>
          <p:cNvPr id="231" name="Google Shape;231;p18"/>
          <p:cNvSpPr/>
          <p:nvPr/>
        </p:nvSpPr>
        <p:spPr>
          <a:xfrm>
            <a:off x="6400800" y="4114800"/>
            <a:ext cx="5029200" cy="2286000"/>
          </a:xfrm>
          <a:prstGeom prst="roundRect">
            <a:avLst>
              <a:gd fmla="val 16667" name="adj"/>
            </a:avLst>
          </a:prstGeom>
          <a:solidFill>
            <a:srgbClr val="2727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Branch Lifecycle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1. Create branch (new line begins)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2. Active development (commits in isolation)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3. Merge into main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4. Cleanup (delete the branch)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9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Creating &amp; Switching Branches</a:t>
            </a:r>
            <a:endParaRPr/>
          </a:p>
        </p:txBody>
      </p:sp>
      <p:sp>
        <p:nvSpPr>
          <p:cNvPr id="237" name="Google Shape;237;p19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View, Create, Switch</a:t>
            </a:r>
            <a:endParaRPr/>
          </a:p>
        </p:txBody>
      </p:sp>
      <p:sp>
        <p:nvSpPr>
          <p:cNvPr id="238" name="Google Shape;238;p19"/>
          <p:cNvSpPr/>
          <p:nvPr/>
        </p:nvSpPr>
        <p:spPr>
          <a:xfrm>
            <a:off x="731525" y="1920253"/>
            <a:ext cx="5029200" cy="41943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77800" lIns="228600" spcFirstLastPara="1" rIns="228600" wrap="square" tIns="177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List all local branches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git branch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* main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  feature-login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Create a new branch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git branch feature-login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Switch to it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git switch feature-login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Create + switch in one command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git switch -c feature-signup</a:t>
            </a:r>
            <a:endParaRPr/>
          </a:p>
        </p:txBody>
      </p:sp>
      <p:sp>
        <p:nvSpPr>
          <p:cNvPr id="239" name="Google Shape;239;p19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Working in a Branch</a:t>
            </a:r>
            <a:endParaRPr/>
          </a:p>
        </p:txBody>
      </p:sp>
      <p:sp>
        <p:nvSpPr>
          <p:cNvPr id="240" name="Google Shape;240;p19"/>
          <p:cNvSpPr/>
          <p:nvPr/>
        </p:nvSpPr>
        <p:spPr>
          <a:xfrm>
            <a:off x="6400800" y="1920240"/>
            <a:ext cx="5029200" cy="22860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77800" lIns="228600" spcFirstLastPara="1" rIns="228600" wrap="square" tIns="177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Switch to branch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git switch feature-login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Make changes, stage, commit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git add login.js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git commit -m "Add login form UI"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These changes are isolated!</a:t>
            </a:r>
            <a:endParaRPr/>
          </a:p>
        </p:txBody>
      </p:sp>
      <p:sp>
        <p:nvSpPr>
          <p:cNvPr id="241" name="Google Shape;241;p19"/>
          <p:cNvSpPr/>
          <p:nvPr/>
        </p:nvSpPr>
        <p:spPr>
          <a:xfrm>
            <a:off x="6400800" y="4572000"/>
            <a:ext cx="5029200" cy="1645920"/>
          </a:xfrm>
          <a:prstGeom prst="roundRect">
            <a:avLst>
              <a:gd fmla="val 16667" name="adj"/>
            </a:avLst>
          </a:prstGeom>
          <a:solidFill>
            <a:srgbClr val="2727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Modern vs Classic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git switch -c name  (modern, recommended)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git checkout -b name  (classic, still works)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Both do the same thing!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0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Branch Naming &amp; Cleanup</a:t>
            </a:r>
            <a:endParaRPr/>
          </a:p>
        </p:txBody>
      </p:sp>
      <p:sp>
        <p:nvSpPr>
          <p:cNvPr id="247" name="Google Shape;247;p20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Naming Conventions</a:t>
            </a:r>
            <a:endParaRPr/>
          </a:p>
        </p:txBody>
      </p:sp>
      <p:graphicFrame>
        <p:nvGraphicFramePr>
          <p:cNvPr id="248" name="Google Shape;248;p20"/>
          <p:cNvGraphicFramePr/>
          <p:nvPr/>
        </p:nvGraphicFramePr>
        <p:xfrm>
          <a:off x="731520" y="19202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{3F079E8D-B082-4C48-862F-41923AEF6820}</a:tableStyleId>
              </a:tblPr>
              <a:tblGrid>
                <a:gridCol w="2514600"/>
                <a:gridCol w="2514600"/>
              </a:tblGrid>
              <a:tr h="3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Purpose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Example Name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Feature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feature-login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Bug Fix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bugfix-navbar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Hotfix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hotfix-payment-issue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Experiment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experiment-ui-layout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</a:tbl>
          </a:graphicData>
        </a:graphic>
      </p:graphicFrame>
      <p:sp>
        <p:nvSpPr>
          <p:cNvPr id="249" name="Google Shape;249;p20"/>
          <p:cNvSpPr txBox="1"/>
          <p:nvPr/>
        </p:nvSpPr>
        <p:spPr>
          <a:xfrm>
            <a:off x="731520" y="3931920"/>
            <a:ext cx="5029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Use lowercase + hyphens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Avoid generic: test, new, temp</a:t>
            </a:r>
            <a:endParaRPr/>
          </a:p>
        </p:txBody>
      </p:sp>
      <p:sp>
        <p:nvSpPr>
          <p:cNvPr id="250" name="Google Shape;250;p20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Deleting Branches</a:t>
            </a:r>
            <a:endParaRPr/>
          </a:p>
        </p:txBody>
      </p:sp>
      <p:sp>
        <p:nvSpPr>
          <p:cNvPr id="251" name="Google Shape;251;p20"/>
          <p:cNvSpPr/>
          <p:nvPr/>
        </p:nvSpPr>
        <p:spPr>
          <a:xfrm>
            <a:off x="6400800" y="1920240"/>
            <a:ext cx="5029200" cy="18288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77800" lIns="228600" spcFirstLastPara="1" rIns="228600" wrap="square" tIns="177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Delete merged branch (safe)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git branch -d feature-login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Force delete unmerged branch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git branch -D experiment-old-ui</a:t>
            </a:r>
            <a:endParaRPr/>
          </a:p>
        </p:txBody>
      </p:sp>
      <p:sp>
        <p:nvSpPr>
          <p:cNvPr id="252" name="Google Shape;252;p20"/>
          <p:cNvSpPr txBox="1"/>
          <p:nvPr/>
        </p:nvSpPr>
        <p:spPr>
          <a:xfrm>
            <a:off x="6400800" y="402336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Cleanup Process</a:t>
            </a:r>
            <a:endParaRPr/>
          </a:p>
        </p:txBody>
      </p:sp>
      <p:sp>
        <p:nvSpPr>
          <p:cNvPr id="253" name="Google Shape;253;p20"/>
          <p:cNvSpPr/>
          <p:nvPr/>
        </p:nvSpPr>
        <p:spPr>
          <a:xfrm>
            <a:off x="6400800" y="4480553"/>
            <a:ext cx="5070900" cy="8229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77800" lIns="228600" spcFirstLastPara="1" rIns="228600" wrap="square" tIns="177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git switch main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git branch -d feature-login</a:t>
            </a:r>
            <a:endParaRPr/>
          </a:p>
        </p:txBody>
      </p:sp>
      <p:sp>
        <p:nvSpPr>
          <p:cNvPr id="254" name="Google Shape;254;p20"/>
          <p:cNvSpPr/>
          <p:nvPr/>
        </p:nvSpPr>
        <p:spPr>
          <a:xfrm>
            <a:off x="731525" y="5486400"/>
            <a:ext cx="10515600" cy="1100100"/>
          </a:xfrm>
          <a:prstGeom prst="roundRect">
            <a:avLst>
              <a:gd fmla="val 16667" name="adj"/>
            </a:avLst>
          </a:prstGeom>
          <a:solidFill>
            <a:srgbClr val="45272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AB387"/>
                </a:solidFill>
                <a:latin typeface="Calibri"/>
                <a:ea typeface="Calibri"/>
                <a:cs typeface="Calibri"/>
                <a:sym typeface="Calibri"/>
              </a:rPr>
              <a:t>Always clean up!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Delete branches after merging. Keeps the repo clean, avoids confusion, prevents working on outdated branches.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Branch Commands — Summary</a:t>
            </a:r>
            <a:endParaRPr/>
          </a:p>
        </p:txBody>
      </p:sp>
      <p:graphicFrame>
        <p:nvGraphicFramePr>
          <p:cNvPr id="260" name="Google Shape;260;p21"/>
          <p:cNvGraphicFramePr/>
          <p:nvPr/>
        </p:nvGraphicFramePr>
        <p:xfrm>
          <a:off x="731520" y="1371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{3F079E8D-B082-4C48-862F-41923AEF6820}</a:tableStyleId>
              </a:tblPr>
              <a:tblGrid>
                <a:gridCol w="5257800"/>
                <a:gridCol w="5257800"/>
              </a:tblGrid>
              <a:tr h="4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Command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Purpose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git branch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List all local branches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git branch &lt;name&gt;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Create a branch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git switch &lt;name&gt;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Switch to a branch (modern)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git switch -c &lt;name&gt;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Create and switch (modern)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git checkout &lt;name&gt;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Switch to a branch (classic)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git checkout -b &lt;name&gt;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Create and switch (classic)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git branch -d &lt;name&gt;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Delete merged branch (safe)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git branch -D &lt;name&gt;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Force delete unmerged branch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243A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2"/>
          <p:cNvSpPr/>
          <p:nvPr/>
        </p:nvSpPr>
        <p:spPr>
          <a:xfrm>
            <a:off x="0" y="2926080"/>
            <a:ext cx="137160" cy="100584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2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Remotes &amp; Collaboration</a:t>
            </a:r>
            <a:endParaRPr/>
          </a:p>
        </p:txBody>
      </p:sp>
      <p:sp>
        <p:nvSpPr>
          <p:cNvPr id="267" name="Google Shape;267;p22"/>
          <p:cNvSpPr txBox="1"/>
          <p:nvPr/>
        </p:nvSpPr>
        <p:spPr>
          <a:xfrm>
            <a:off x="731520" y="384048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Shared repositories, push, pull, and origin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3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Remote Repositories</a:t>
            </a:r>
            <a:endParaRPr/>
          </a:p>
        </p:txBody>
      </p:sp>
      <p:sp>
        <p:nvSpPr>
          <p:cNvPr id="273" name="Google Shape;273;p23"/>
          <p:cNvSpPr txBox="1"/>
          <p:nvPr/>
        </p:nvSpPr>
        <p:spPr>
          <a:xfrm>
            <a:off x="731520" y="1371600"/>
            <a:ext cx="50292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A remote repo is stored outside your</a:t>
            </a:r>
            <a:b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machine (e.g., on GitHub)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Shared source of truth for the team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origin = conventional name for the</a:t>
            </a:r>
            <a:b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primary remote repository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View remotes: git remote -v</a:t>
            </a:r>
            <a:endParaRPr/>
          </a:p>
        </p:txBody>
      </p:sp>
      <p:sp>
        <p:nvSpPr>
          <p:cNvPr id="274" name="Google Shape;274;p23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Cloning a Repository</a:t>
            </a:r>
            <a:endParaRPr/>
          </a:p>
        </p:txBody>
      </p:sp>
      <p:sp>
        <p:nvSpPr>
          <p:cNvPr id="275" name="Google Shape;275;p23"/>
          <p:cNvSpPr/>
          <p:nvPr/>
        </p:nvSpPr>
        <p:spPr>
          <a:xfrm>
            <a:off x="6400800" y="1920240"/>
            <a:ext cx="5029200" cy="18288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77800" lIns="228600" spcFirstLastPara="1" rIns="228600" wrap="square" tIns="177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Create local copy of remote repo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git clone &lt;repository-url&gt;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Downloads files + full history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Sets up 'origin' automatically</a:t>
            </a:r>
            <a:endParaRPr/>
          </a:p>
        </p:txBody>
      </p:sp>
      <p:sp>
        <p:nvSpPr>
          <p:cNvPr id="276" name="Google Shape;276;p23"/>
          <p:cNvSpPr txBox="1"/>
          <p:nvPr/>
        </p:nvSpPr>
        <p:spPr>
          <a:xfrm>
            <a:off x="731520" y="41148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Connecting Existing Local Repo</a:t>
            </a:r>
            <a:endParaRPr/>
          </a:p>
        </p:txBody>
      </p:sp>
      <p:sp>
        <p:nvSpPr>
          <p:cNvPr id="277" name="Google Shape;277;p23"/>
          <p:cNvSpPr/>
          <p:nvPr/>
        </p:nvSpPr>
        <p:spPr>
          <a:xfrm>
            <a:off x="731520" y="4572000"/>
            <a:ext cx="5029200" cy="118872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77800" lIns="228600" spcFirstLastPara="1" rIns="228600" wrap="square" tIns="177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Link local repo to remote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git remote add origin &lt;URL&gt;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Connected but NOT synced yet</a:t>
            </a:r>
            <a:endParaRPr/>
          </a:p>
        </p:txBody>
      </p:sp>
      <p:sp>
        <p:nvSpPr>
          <p:cNvPr id="278" name="Google Shape;278;p23"/>
          <p:cNvSpPr/>
          <p:nvPr/>
        </p:nvSpPr>
        <p:spPr>
          <a:xfrm>
            <a:off x="6400800" y="4114800"/>
            <a:ext cx="5029200" cy="2103120"/>
          </a:xfrm>
          <a:prstGeom prst="roundRect">
            <a:avLst>
              <a:gd fmla="val 16667" name="adj"/>
            </a:avLst>
          </a:prstGeom>
          <a:solidFill>
            <a:srgbClr val="2727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Local vs Remote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Work happens locally first.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Nothing is shared automatically.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You explicitly push to share.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You explicitly pull to receive.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This prevents accidental overwrites.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4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Push &amp; Pull — Syncing with Remote</a:t>
            </a:r>
            <a:endParaRPr/>
          </a:p>
        </p:txBody>
      </p:sp>
      <p:sp>
        <p:nvSpPr>
          <p:cNvPr id="284" name="Google Shape;284;p24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git push — Send local to remote</a:t>
            </a:r>
            <a:endParaRPr/>
          </a:p>
        </p:txBody>
      </p:sp>
      <p:sp>
        <p:nvSpPr>
          <p:cNvPr id="285" name="Google Shape;285;p24"/>
          <p:cNvSpPr/>
          <p:nvPr/>
        </p:nvSpPr>
        <p:spPr>
          <a:xfrm>
            <a:off x="731520" y="1920240"/>
            <a:ext cx="5029200" cy="201168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77800" lIns="228600" spcFirstLastPara="1" rIns="228600" wrap="square" tIns="177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Push commits to remote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git push origin main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First push with upstream tracking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git push -u origin feature-login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After -u, just: git push</a:t>
            </a:r>
            <a:endParaRPr/>
          </a:p>
        </p:txBody>
      </p:sp>
      <p:sp>
        <p:nvSpPr>
          <p:cNvPr id="286" name="Google Shape;286;p24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AB387"/>
                </a:solidFill>
                <a:latin typeface="Calibri"/>
                <a:ea typeface="Calibri"/>
                <a:cs typeface="Calibri"/>
                <a:sym typeface="Calibri"/>
              </a:rPr>
              <a:t>git pull — Get remote to local</a:t>
            </a:r>
            <a:endParaRPr/>
          </a:p>
        </p:txBody>
      </p:sp>
      <p:sp>
        <p:nvSpPr>
          <p:cNvPr id="287" name="Google Shape;287;p24"/>
          <p:cNvSpPr/>
          <p:nvPr/>
        </p:nvSpPr>
        <p:spPr>
          <a:xfrm>
            <a:off x="6400800" y="1920240"/>
            <a:ext cx="5029200" cy="201168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77800" lIns="228600" spcFirstLastPara="1" rIns="228600" wrap="square" tIns="177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Pull latest from remote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git pull origin main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pull = fetch + merge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Fetches changes AND merges them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into your current branch</a:t>
            </a:r>
            <a:endParaRPr/>
          </a:p>
        </p:txBody>
      </p:sp>
      <p:sp>
        <p:nvSpPr>
          <p:cNvPr id="288" name="Google Shape;288;p24"/>
          <p:cNvSpPr txBox="1"/>
          <p:nvPr/>
        </p:nvSpPr>
        <p:spPr>
          <a:xfrm>
            <a:off x="731520" y="429768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Fetch vs Pull</a:t>
            </a:r>
            <a:endParaRPr/>
          </a:p>
        </p:txBody>
      </p:sp>
      <p:graphicFrame>
        <p:nvGraphicFramePr>
          <p:cNvPr id="289" name="Google Shape;289;p24"/>
          <p:cNvGraphicFramePr/>
          <p:nvPr/>
        </p:nvGraphicFramePr>
        <p:xfrm>
          <a:off x="731520" y="47548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{3F079E8D-B082-4C48-862F-41923AEF6820}</a:tableStyleId>
              </a:tblPr>
              <a:tblGrid>
                <a:gridCol w="3505200"/>
                <a:gridCol w="3505200"/>
                <a:gridCol w="3505200"/>
              </a:tblGrid>
              <a:tr h="3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Command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Does What?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Alters Local Branch?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git fetch origin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Downloads remote changes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(safe inspection)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git pull origin main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Fetch + merge in one step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 (merges automatically)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243A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5"/>
          <p:cNvSpPr/>
          <p:nvPr/>
        </p:nvSpPr>
        <p:spPr>
          <a:xfrm>
            <a:off x="0" y="2926080"/>
            <a:ext cx="137160" cy="100584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5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Pull Requests &amp; Access Control</a:t>
            </a:r>
            <a:endParaRPr/>
          </a:p>
        </p:txBody>
      </p:sp>
      <p:sp>
        <p:nvSpPr>
          <p:cNvPr id="296" name="Google Shape;296;p25"/>
          <p:cNvSpPr txBox="1"/>
          <p:nvPr/>
        </p:nvSpPr>
        <p:spPr>
          <a:xfrm>
            <a:off x="731520" y="384048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Professional collaboration on GitHub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6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Pull Requests (PRs)</a:t>
            </a:r>
            <a:endParaRPr/>
          </a:p>
        </p:txBody>
      </p:sp>
      <p:sp>
        <p:nvSpPr>
          <p:cNvPr id="302" name="Google Shape;302;p26"/>
          <p:cNvSpPr txBox="1"/>
          <p:nvPr/>
        </p:nvSpPr>
        <p:spPr>
          <a:xfrm>
            <a:off x="731520" y="1371600"/>
            <a:ext cx="50292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A request to merge changes into</a:t>
            </a:r>
            <a:b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a remote repository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PRs exist entirely on GitHub</a:t>
            </a:r>
            <a:b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(not a Git command)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Connects one branch to another</a:t>
            </a:r>
            <a:b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(e.g., feature-login -&gt; main)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Enables: code review, discussion,</a:t>
            </a:r>
            <a:b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approval control, merge tracking</a:t>
            </a:r>
            <a:endParaRPr/>
          </a:p>
        </p:txBody>
      </p:sp>
      <p:sp>
        <p:nvSpPr>
          <p:cNvPr id="303" name="Google Shape;303;p26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PR Review Workflow</a:t>
            </a:r>
            <a:endParaRPr/>
          </a:p>
        </p:txBody>
      </p:sp>
      <p:sp>
        <p:nvSpPr>
          <p:cNvPr id="304" name="Google Shape;304;p26"/>
          <p:cNvSpPr txBox="1"/>
          <p:nvPr/>
        </p:nvSpPr>
        <p:spPr>
          <a:xfrm>
            <a:off x="6400800" y="1920240"/>
            <a:ext cx="50292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1. Developer pushes feature branch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2. Opens PR on GitHub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3. Reviewers examine changes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4. Approve or Request Changes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5. Approved -&gt; Merged into main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6. Branch cleaned up</a:t>
            </a:r>
            <a:endParaRPr/>
          </a:p>
        </p:txBody>
      </p:sp>
      <p:sp>
        <p:nvSpPr>
          <p:cNvPr id="305" name="Google Shape;305;p26"/>
          <p:cNvSpPr txBox="1"/>
          <p:nvPr/>
        </p:nvSpPr>
        <p:spPr>
          <a:xfrm>
            <a:off x="6400800" y="45720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Collaboration Models</a:t>
            </a:r>
            <a:endParaRPr/>
          </a:p>
        </p:txBody>
      </p:sp>
      <p:sp>
        <p:nvSpPr>
          <p:cNvPr id="306" name="Google Shape;306;p26"/>
          <p:cNvSpPr txBox="1"/>
          <p:nvPr/>
        </p:nvSpPr>
        <p:spPr>
          <a:xfrm>
            <a:off x="6400800" y="5029200"/>
            <a:ext cx="5029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Collaborators: direct push access (teams)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Forking: copy repo to your account (open source)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7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Repository Access Control</a:t>
            </a:r>
            <a:endParaRPr/>
          </a:p>
        </p:txBody>
      </p:sp>
      <p:sp>
        <p:nvSpPr>
          <p:cNvPr id="312" name="Google Shape;312;p27"/>
          <p:cNvSpPr txBox="1"/>
          <p:nvPr/>
        </p:nvSpPr>
        <p:spPr>
          <a:xfrm>
            <a:off x="731520" y="1371600"/>
            <a:ext cx="50292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Access control defines WHO can interact</a:t>
            </a:r>
            <a:b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and HOW (push, review, merge, admin)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Enforced on the remote platform (GitHub)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Without it: risk of breakage, deletions,</a:t>
            </a:r>
            <a:b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no accountability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With it: protected main, mandatory</a:t>
            </a:r>
            <a:b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reviews, clear responsibilities</a:t>
            </a:r>
            <a:endParaRPr/>
          </a:p>
        </p:txBody>
      </p:sp>
      <p:sp>
        <p:nvSpPr>
          <p:cNvPr id="313" name="Google Shape;313;p27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Role-Based Access</a:t>
            </a:r>
            <a:endParaRPr/>
          </a:p>
        </p:txBody>
      </p:sp>
      <p:graphicFrame>
        <p:nvGraphicFramePr>
          <p:cNvPr id="314" name="Google Shape;314;p27"/>
          <p:cNvGraphicFramePr/>
          <p:nvPr/>
        </p:nvGraphicFramePr>
        <p:xfrm>
          <a:off x="6400800" y="19202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{3F079E8D-B082-4C48-862F-41923AEF6820}</a:tableStyleId>
              </a:tblPr>
              <a:tblGrid>
                <a:gridCol w="2514600"/>
                <a:gridCol w="2514600"/>
              </a:tblGrid>
              <a:tr h="3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Role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Can Do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Read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View and clone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Write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Push code, open PRs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Maintain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Manage PRs, merge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Admin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Full control (settings, access)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</a:tbl>
          </a:graphicData>
        </a:graphic>
      </p:graphicFrame>
      <p:sp>
        <p:nvSpPr>
          <p:cNvPr id="315" name="Google Shape;315;p27"/>
          <p:cNvSpPr txBox="1"/>
          <p:nvPr/>
        </p:nvSpPr>
        <p:spPr>
          <a:xfrm>
            <a:off x="6400800" y="4340788"/>
            <a:ext cx="5029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Adding Collaborators</a:t>
            </a:r>
            <a:endParaRPr/>
          </a:p>
        </p:txBody>
      </p:sp>
      <p:sp>
        <p:nvSpPr>
          <p:cNvPr id="316" name="Google Shape;316;p27"/>
          <p:cNvSpPr txBox="1"/>
          <p:nvPr/>
        </p:nvSpPr>
        <p:spPr>
          <a:xfrm>
            <a:off x="6400800" y="4902075"/>
            <a:ext cx="5029200" cy="13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Settings &gt; Collaborators &amp; Teams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Add by username/email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Select permission level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Collaborator must accept invitation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243A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8"/>
          <p:cNvSpPr/>
          <p:nvPr/>
        </p:nvSpPr>
        <p:spPr>
          <a:xfrm>
            <a:off x="0" y="2926080"/>
            <a:ext cx="137160" cy="100584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8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End-to-End Workflow</a:t>
            </a:r>
            <a:endParaRPr/>
          </a:p>
        </p:txBody>
      </p:sp>
      <p:sp>
        <p:nvSpPr>
          <p:cNvPr id="323" name="Google Shape;323;p28"/>
          <p:cNvSpPr txBox="1"/>
          <p:nvPr/>
        </p:nvSpPr>
        <p:spPr>
          <a:xfrm>
            <a:off x="731520" y="384048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The single happy path for professional teams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9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The Complete Rhythm</a:t>
            </a:r>
            <a:endParaRPr/>
          </a:p>
        </p:txBody>
      </p:sp>
      <p:sp>
        <p:nvSpPr>
          <p:cNvPr id="329" name="Google Shape;329;p29"/>
          <p:cNvSpPr/>
          <p:nvPr/>
        </p:nvSpPr>
        <p:spPr>
          <a:xfrm>
            <a:off x="731525" y="1371600"/>
            <a:ext cx="5535300" cy="52122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77800" lIns="228600" spcFirstLastPara="1" rIns="228600" wrap="square" tIns="177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Clone the repository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git clone &lt;repo-url&gt;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cd &lt;repository-folder&gt;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Create a feature branch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git switch -c feature-login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Make changes, stage, commit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git add 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git commit -m "Add login feature"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Push to remote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git push -u origin feature-login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On GitHub: Create Pull Request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feature-login -&gt; main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Review -&gt; Approve -&gt; Merge</a:t>
            </a:r>
            <a:endParaRPr/>
          </a:p>
        </p:txBody>
      </p:sp>
      <p:sp>
        <p:nvSpPr>
          <p:cNvPr id="330" name="Google Shape;330;p29"/>
          <p:cNvSpPr txBox="1"/>
          <p:nvPr/>
        </p:nvSpPr>
        <p:spPr>
          <a:xfrm>
            <a:off x="6675120" y="137160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Before Starting New Work</a:t>
            </a:r>
            <a:endParaRPr/>
          </a:p>
        </p:txBody>
      </p:sp>
      <p:sp>
        <p:nvSpPr>
          <p:cNvPr id="331" name="Google Shape;331;p29"/>
          <p:cNvSpPr/>
          <p:nvPr/>
        </p:nvSpPr>
        <p:spPr>
          <a:xfrm>
            <a:off x="6675120" y="1920240"/>
            <a:ext cx="4846320" cy="164592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77800" lIns="228600" spcFirstLastPara="1" rIns="228600" wrap="square" tIns="177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Always sync first!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git switch main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git pull origin main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git switch -c feature-next-task</a:t>
            </a:r>
            <a:endParaRPr/>
          </a:p>
        </p:txBody>
      </p:sp>
      <p:sp>
        <p:nvSpPr>
          <p:cNvPr id="332" name="Google Shape;332;p29"/>
          <p:cNvSpPr txBox="1"/>
          <p:nvPr/>
        </p:nvSpPr>
        <p:spPr>
          <a:xfrm>
            <a:off x="6675120" y="384048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End-to-End Flow</a:t>
            </a:r>
            <a:endParaRPr/>
          </a:p>
        </p:txBody>
      </p:sp>
      <p:sp>
        <p:nvSpPr>
          <p:cNvPr id="333" name="Google Shape;333;p29"/>
          <p:cNvSpPr txBox="1"/>
          <p:nvPr/>
        </p:nvSpPr>
        <p:spPr>
          <a:xfrm>
            <a:off x="6675120" y="4297680"/>
            <a:ext cx="484632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1. Remote repo on GitHub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2. Clone or fork locally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3. Branch, edit, commit locally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4. Push branch to remote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5. Open Pull Request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6. Code reviewed &amp; approved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7. Merge -&gt; Everyone syncs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0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Session 06 — Key Takeaways</a:t>
            </a:r>
            <a:endParaRPr/>
          </a:p>
        </p:txBody>
      </p:sp>
      <p:sp>
        <p:nvSpPr>
          <p:cNvPr id="339" name="Google Shape;339;p30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VCS safeguards code, enables teamwork,</a:t>
            </a:r>
            <a:b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and tracks full history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Git = local tool; GitHub = cloud platform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Three areas: Working Dir -&gt; Staging</a:t>
            </a:r>
            <a:b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-&gt; Repository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Daily commands: status, add, commit,</a:t>
            </a:r>
            <a:b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log, diff</a:t>
            </a:r>
            <a:endParaRPr/>
          </a:p>
        </p:txBody>
      </p:sp>
      <p:sp>
        <p:nvSpPr>
          <p:cNvPr id="340" name="Google Shape;340;p30"/>
          <p:cNvSpPr txBox="1"/>
          <p:nvPr/>
        </p:nvSpPr>
        <p:spPr>
          <a:xfrm>
            <a:off x="6400800" y="1371600"/>
            <a:ext cx="50292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Undo: restore (discard), reset (unstage),</a:t>
            </a:r>
            <a:b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amend (fix last commit)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Branches isolate work; always clean up</a:t>
            </a:r>
            <a:b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after merging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Push to share, pull to receive;</a:t>
            </a:r>
            <a:b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pull = fetch + merge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PRs enable code review &amp; safe merging;</a:t>
            </a:r>
            <a:b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access control protects the repo</a:t>
            </a:r>
            <a:endParaRPr/>
          </a:p>
        </p:txBody>
      </p:sp>
      <p:sp>
        <p:nvSpPr>
          <p:cNvPr id="341" name="Google Shape;341;p30"/>
          <p:cNvSpPr/>
          <p:nvPr/>
        </p:nvSpPr>
        <p:spPr>
          <a:xfrm>
            <a:off x="731520" y="5029200"/>
            <a:ext cx="10515600" cy="1188720"/>
          </a:xfrm>
          <a:prstGeom prst="roundRect">
            <a:avLst>
              <a:gd fmla="val 16667" name="adj"/>
            </a:avLst>
          </a:prstGeom>
          <a:solidFill>
            <a:srgbClr val="2727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The Rhythm to Remember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clone -&gt; branch -&gt; edit -&gt; add -&gt; commit -&gt; push -&gt; PR -&gt; review -&gt; merge -&gt; sync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If something goes wrong before push: use restore / reset / amend. After push: coordinate with team.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