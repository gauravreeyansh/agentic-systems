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9" roundtripDataSignature="AMtx7mht/jRBdEgTAkv/ROzjUJ0mvJaF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CAF53D-7DBE-4DCF-B68F-CE6028628958}">
  <a:tblStyle styleId="{F5CAF53D-7DBE-4DCF-B68F-CE602862895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linkedin.com/in/sakshamarora9575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914400" y="1645920"/>
            <a:ext cx="1828800" cy="54864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Engineering, Business Use Cases</a:t>
            </a:r>
            <a:b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Framework Overview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Session 09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4754880"/>
            <a:ext cx="100584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Saksham Arora</a:t>
            </a:r>
            <a:b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Software Engineer 2 @ Intuit  |  Ex - Microsoft  |  2x Intern @ Microsoft + 1x Intern @ Amazon</a:t>
            </a:r>
            <a:b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linkedin.com/in/sakshamarora9575</a:t>
            </a: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What You Will Learn Today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1.  What is Prompt Engineering and why it matters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2.  System Prompts — the hidden job description for your AI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3.  Role Prompting — "Pretend you are a…"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4.  The C-I-F-C formula for writing effective prompts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5.  Controlling output format (bullets, tables, JSON)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6.  Prompt variations — A/B testing like real Prompt Engineers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7.  Real-world business use cases for AI agents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8.  Frameworks overview — LangChain, CrewAI, AutoGen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9.  Designing a simple agent flow end-to-end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 to Prompt Engineering</a:t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most important skill to actually control an LLM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What Is Prompt Engineering?</a:t>
            </a:r>
            <a:endParaRPr/>
          </a:p>
        </p:txBody>
      </p:sp>
      <p:sp>
        <p:nvSpPr>
          <p:cNvPr id="106" name="Google Shape;106;p4"/>
          <p:cNvSpPr txBox="1"/>
          <p:nvPr/>
        </p:nvSpPr>
        <p:spPr>
          <a:xfrm>
            <a:off x="731520" y="1371600"/>
            <a:ext cx="53035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Whatever you type to an AI is called a PROMPT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practice of designing and refining input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instructions to get accurate, useful,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and reliable outputs from an LLM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 simple words: the skill of asking the AI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 the right way — not something random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Quality of answer depends COMPLETELY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on quality of the question</a:t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6400800" y="1371600"/>
            <a:ext cx="5029200" cy="256032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Auto-Rickshaw Analogy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"Bhaiya, chalo" -&gt; driver is confused.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"Bhaiya, HSR Sector 4, 5th Main,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near the bakery, shortest route please"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-&gt; you reach quickly.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Same driver, completely different result.</a:t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6400800" y="411480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Garbage In = Garbage Out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Prompt Engineer is a real job title.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Flipkart, Swiggy, Meesho hire for it.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It is NOT a fancy word for 'ChatGPT user'.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Understanding System Prompts</a:t>
            </a:r>
            <a:endParaRPr/>
          </a:p>
        </p:txBody>
      </p:sp>
      <p:sp>
        <p:nvSpPr>
          <p:cNvPr id="115" name="Google Shape;115;p5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hidden job description for your AI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What Is a System Prompt?</a:t>
            </a:r>
            <a:endParaRPr/>
          </a:p>
        </p:txBody>
      </p:sp>
      <p:sp>
        <p:nvSpPr>
          <p:cNvPr id="121" name="Google Shape;121;p6"/>
          <p:cNvSpPr txBox="1"/>
          <p:nvPr/>
        </p:nvSpPr>
        <p:spPr>
          <a:xfrm>
            <a:off x="731520" y="1371600"/>
            <a:ext cx="53035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Hidden instruction that fixes the AI's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identity, tone, boundaries, format, and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scope for the ENTIRE conversation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Given by the developer, NOT the user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Like a job description you give the AI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before the customer starts talking</a:t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6400800" y="1371600"/>
            <a:ext cx="5029200" cy="289470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Restaurant Waiter Analogy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Before customers arrive, you brief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your waiter: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- "Greet with namaste"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- "Suggest chef's special first"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- "No non-veg if customer says Jain"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- "Keep tone polite"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That briefing = System Prompt.</a:t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731520" y="4572000"/>
            <a:ext cx="10515600" cy="164592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Can the User Override It?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Generally NO — the system prompt is given highest priority by the model.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That is why companies use it to protect their product.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5 Things a System Prompt Controls</a:t>
            </a:r>
            <a:endParaRPr/>
          </a:p>
        </p:txBody>
      </p:sp>
      <p:graphicFrame>
        <p:nvGraphicFramePr>
          <p:cNvPr id="129" name="Google Shape;129;p7"/>
          <p:cNvGraphicFramePr/>
          <p:nvPr/>
        </p:nvGraphicFramePr>
        <p:xfrm>
          <a:off x="73152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{F5CAF53D-7DBE-4DCF-B68F-CE6028628958}</a:tableStyleId>
              </a:tblPr>
              <a:tblGrid>
                <a:gridCol w="2651750"/>
                <a:gridCol w="2651750"/>
              </a:tblGrid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Identity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"You are a banking assistant for HDFC"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Tone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"Polite, professional, never casual"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Boundaries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"Never share OTPs or account numbers"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"Always reply in 3 bullet points"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Scope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"Only answer loan-related questions"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p7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Good System Prompt Example — "</a:t>
            </a:r>
            <a:r>
              <a:rPr b="1" i="0" lang="en-US" sz="18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SehatBot</a:t>
            </a:r>
            <a:r>
              <a:rPr b="1" i="0" lang="en-US" sz="18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400800" y="1828800"/>
            <a:ext cx="5029200" cy="384048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A6E3A1"/>
              </a:buClr>
              <a:buSzPts val="1300"/>
              <a:buFont typeface="Courier New"/>
              <a:buChar char="-"/>
            </a:pPr>
            <a:r>
              <a:rPr b="0" i="0" lang="en-US" sz="13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You are "</a:t>
            </a:r>
            <a:r>
              <a:rPr b="0" i="0" lang="en-US" sz="13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SehatBot</a:t>
            </a:r>
            <a:r>
              <a:rPr b="0" i="0" lang="en-US" sz="13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", a friendly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-US" sz="13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health assistant for Indian users.</a:t>
            </a:r>
            <a:endParaRPr b="0" i="0" sz="13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- Always reply in simple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Hindi-English mix.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- Never give medicine dosages;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always tell user to consult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a doctor.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- Keep answers under 4 sentences.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- If asked anything outside health,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politely say "I can only help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with health queries."</a:t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731507" y="5033845"/>
            <a:ext cx="5303400" cy="137160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Same model (GPT-4), three very different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behaviors — just because of different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system prompts.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/>
        </p:nvSpPr>
        <p:spPr>
          <a:xfrm>
            <a:off x="731520" y="457200"/>
            <a:ext cx="100584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Practice 1 — Build "</a:t>
            </a:r>
            <a:r>
              <a:rPr b="1" lang="en-US" sz="3400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PaisayBachao</a:t>
            </a:r>
            <a:r>
              <a:rPr b="1" i="0" lang="en-US" sz="34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 Bot"</a:t>
            </a:r>
            <a:endParaRPr/>
          </a:p>
        </p:txBody>
      </p:sp>
      <p:sp>
        <p:nvSpPr>
          <p:cNvPr id="138" name="Google Shape;138;p8"/>
          <p:cNvSpPr txBox="1"/>
          <p:nvPr/>
        </p:nvSpPr>
        <p:spPr>
          <a:xfrm>
            <a:off x="731520" y="1280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Task: Help Indian college students save money</a:t>
            </a:r>
            <a:endParaRPr/>
          </a:p>
        </p:txBody>
      </p:sp>
      <p:sp>
        <p:nvSpPr>
          <p:cNvPr id="139" name="Google Shape;139;p8"/>
          <p:cNvSpPr txBox="1"/>
          <p:nvPr/>
        </p:nvSpPr>
        <p:spPr>
          <a:xfrm>
            <a:off x="731520" y="18288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Identity — Name and purpose of the bot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Tone — Friendly, Hindi-English mix,</a:t>
            </a:r>
            <a:b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like a senior in college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Boundaries — Never suggest loans,</a:t>
            </a:r>
            <a:b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gambling, or crypto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Format — Reply in 3 short bullets only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Scope — Only money-saving questions</a:t>
            </a:r>
            <a:endParaRPr/>
          </a:p>
        </p:txBody>
      </p:sp>
      <p:sp>
        <p:nvSpPr>
          <p:cNvPr id="140" name="Google Shape;140;p8"/>
          <p:cNvSpPr txBox="1"/>
          <p:nvPr/>
        </p:nvSpPr>
        <p:spPr>
          <a:xfrm>
            <a:off x="6583680" y="12801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Test With These 3 Questions</a:t>
            </a:r>
            <a:endParaRPr/>
          </a:p>
        </p:txBody>
      </p:sp>
      <p:sp>
        <p:nvSpPr>
          <p:cNvPr id="141" name="Google Shape;141;p8"/>
          <p:cNvSpPr txBox="1"/>
          <p:nvPr/>
        </p:nvSpPr>
        <p:spPr>
          <a:xfrm>
            <a:off x="6583680" y="18288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1. "How do I save Rs 2,000 a month from</a:t>
            </a:r>
            <a:b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my Rs 8,000 pocket money?"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2. "Should I take a personal loan to buy</a:t>
            </a:r>
            <a:b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new iPhone?"  (tests boundary)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3. "Who won the cricket match yesterday?"</a:t>
            </a:r>
            <a:b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(tests scope)</a:t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731520" y="5943600"/>
            <a:ext cx="10698480" cy="73152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Duration: 10 minutes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Write -&gt; Test -&gt; Pair discuss -&gt; Fix the weak rule.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Applying Role Prompting</a:t>
            </a:r>
            <a:endParaRPr/>
          </a:p>
        </p:txBody>
      </p:sp>
      <p:sp>
        <p:nvSpPr>
          <p:cNvPr id="149" name="Google Shape;149;p9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Instantly upgrade answer quality with one trick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Role Prompting — "Pretend You Are a..."</a:t>
            </a:r>
            <a:endParaRPr/>
          </a:p>
        </p:txBody>
      </p:sp>
      <p:sp>
        <p:nvSpPr>
          <p:cNvPr id="155" name="Google Shape;155;p10"/>
          <p:cNvSpPr txBox="1"/>
          <p:nvPr/>
        </p:nvSpPr>
        <p:spPr>
          <a:xfrm>
            <a:off x="731520" y="1371600"/>
            <a:ext cx="53035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 lighter version of system prompts that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you can use inside any normal chat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Assign a persona or profession to the LLM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so its answers match that expertise and style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"Pretend you are a ___" -&gt; AI answers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as that person would</a:t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6400800" y="1371600"/>
            <a:ext cx="5029200" cy="274320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Stranger vs CA Analogy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Random stranger on "How to save money?"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-&gt; generic answer.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Chartered Accountant on the same: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-&gt; tax-saving tips, SIP advice,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80C tricks.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Role prompting = ask the CA.</a:t>
            </a:r>
            <a:endParaRPr/>
          </a:p>
        </p:txBody>
      </p:sp>
      <p:sp>
        <p:nvSpPr>
          <p:cNvPr id="157" name="Google Shape;157;p10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Common Roles You Can Use</a:t>
            </a:r>
            <a:endParaRPr/>
          </a:p>
        </p:txBody>
      </p:sp>
      <p:graphicFrame>
        <p:nvGraphicFramePr>
          <p:cNvPr id="158" name="Google Shape;158;p10"/>
          <p:cNvGraphicFramePr/>
          <p:nvPr/>
        </p:nvGraphicFramePr>
        <p:xfrm>
          <a:off x="731520" y="5120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{F5CAF53D-7DBE-4DCF-B68F-CE6028628958}</a:tableStyleId>
              </a:tblPr>
              <a:tblGrid>
                <a:gridCol w="2139700"/>
                <a:gridCol w="2139700"/>
                <a:gridCol w="2139700"/>
                <a:gridCol w="2139700"/>
                <a:gridCol w="2139700"/>
              </a:tblGrid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Teacher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Senior SWE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Financial Analyst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Motivational Speaker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Interview Panelist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explanations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 review,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architecture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Investment,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 insights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Energetic,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positive answers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Tough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practice Q&amp;A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Why Role Prompting Works</a:t>
            </a:r>
            <a:endParaRPr/>
          </a:p>
        </p:txBody>
      </p:sp>
      <p:sp>
        <p:nvSpPr>
          <p:cNvPr id="164" name="Google Shape;164;p11"/>
          <p:cNvSpPr/>
          <p:nvPr/>
        </p:nvSpPr>
        <p:spPr>
          <a:xfrm>
            <a:off x="731520" y="1371600"/>
            <a:ext cx="5303520" cy="137160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1. Trained on Real Writing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LLMs trained on billions of examples,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including how teachers, doctors, lawyers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ACTUALLY write.</a:t>
            </a:r>
            <a:endParaRPr/>
          </a:p>
        </p:txBody>
      </p:sp>
      <p:sp>
        <p:nvSpPr>
          <p:cNvPr id="165" name="Google Shape;165;p11"/>
          <p:cNvSpPr/>
          <p:nvPr/>
        </p:nvSpPr>
        <p:spPr>
          <a:xfrm>
            <a:off x="731520" y="2926080"/>
            <a:ext cx="5303520" cy="137160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2. Pulls Out Specific Style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When you assign a role, the model pulls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out that specific writing style from its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memory.</a:t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>
            <a:off x="731520" y="4480560"/>
            <a:ext cx="5303520" cy="1371600"/>
          </a:xfrm>
          <a:prstGeom prst="roundRect">
            <a:avLst>
              <a:gd fmla="val 16667" name="adj"/>
            </a:avLst>
          </a:prstGeom>
          <a:solidFill>
            <a:srgbClr val="3527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3. Better Depth &amp; Vocabulary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Answers get more depth, accuracy,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and right domain vocabulary without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any extra effort from you.</a:t>
            </a:r>
            <a:endParaRPr/>
          </a:p>
        </p:txBody>
      </p:sp>
      <p:sp>
        <p:nvSpPr>
          <p:cNvPr id="167" name="Google Shape;167;p11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Quick Comparison — Explain Compound Interest</a:t>
            </a:r>
            <a:endParaRPr/>
          </a:p>
        </p:txBody>
      </p:sp>
      <p:graphicFrame>
        <p:nvGraphicFramePr>
          <p:cNvPr id="168" name="Google Shape;168;p11"/>
          <p:cNvGraphicFramePr/>
          <p:nvPr/>
        </p:nvGraphicFramePr>
        <p:xfrm>
          <a:off x="6400800" y="19202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{F5CAF53D-7DBE-4DCF-B68F-CE6028628958}</a:tableStyleId>
              </a:tblPr>
              <a:tblGrid>
                <a:gridCol w="2514600"/>
                <a:gridCol w="2514600"/>
              </a:tblGrid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Version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Without Role: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"Explain compound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interest."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Textbook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With Role: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"You are a bank RM.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Explain to a 40-yr-old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shopkeeper."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 from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 shop savings,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Hindi-English mix,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 numbers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Writing Effective Prompts</a:t>
            </a:r>
            <a:endParaRPr/>
          </a:p>
        </p:txBody>
      </p:sp>
      <p:sp>
        <p:nvSpPr>
          <p:cNvPr id="175" name="Google Shape;175;p12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C-I-F-C Formula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The C-I-F-C Formula for a Good Prompt</a:t>
            </a:r>
            <a:endParaRPr/>
          </a:p>
        </p:txBody>
      </p:sp>
      <p:sp>
        <p:nvSpPr>
          <p:cNvPr id="181" name="Google Shape;181;p13"/>
          <p:cNvSpPr/>
          <p:nvPr/>
        </p:nvSpPr>
        <p:spPr>
          <a:xfrm>
            <a:off x="731520" y="1371600"/>
            <a:ext cx="2651760" cy="210312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C — Context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Who you are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or what the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situation is.</a:t>
            </a:r>
            <a:endParaRPr/>
          </a:p>
        </p:txBody>
      </p:sp>
      <p:sp>
        <p:nvSpPr>
          <p:cNvPr id="182" name="Google Shape;182;p13"/>
          <p:cNvSpPr/>
          <p:nvPr/>
        </p:nvSpPr>
        <p:spPr>
          <a:xfrm>
            <a:off x="3566160" y="1371600"/>
            <a:ext cx="2651760" cy="210312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I — Instruction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What exact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task the AI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should do.</a:t>
            </a:r>
            <a:endParaRPr/>
          </a:p>
        </p:txBody>
      </p:sp>
      <p:sp>
        <p:nvSpPr>
          <p:cNvPr id="183" name="Google Shape;183;p13"/>
          <p:cNvSpPr/>
          <p:nvPr/>
        </p:nvSpPr>
        <p:spPr>
          <a:xfrm>
            <a:off x="6400800" y="1371600"/>
            <a:ext cx="2651760" cy="2103120"/>
          </a:xfrm>
          <a:prstGeom prst="roundRect">
            <a:avLst>
              <a:gd fmla="val 16667" name="adj"/>
            </a:avLst>
          </a:prstGeom>
          <a:solidFill>
            <a:srgbClr val="3527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F — Format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How the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output should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look.</a:t>
            </a:r>
            <a:endParaRPr/>
          </a:p>
        </p:txBody>
      </p:sp>
      <p:sp>
        <p:nvSpPr>
          <p:cNvPr id="184" name="Google Shape;184;p13"/>
          <p:cNvSpPr/>
          <p:nvPr/>
        </p:nvSpPr>
        <p:spPr>
          <a:xfrm>
            <a:off x="9235440" y="1371600"/>
            <a:ext cx="2468880" cy="210312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C — Constraints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Limits: word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count, tone,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things to avoid.</a:t>
            </a:r>
            <a:endParaRPr/>
          </a:p>
        </p:txBody>
      </p:sp>
      <p:sp>
        <p:nvSpPr>
          <p:cNvPr id="185" name="Google Shape;185;p13"/>
          <p:cNvSpPr txBox="1"/>
          <p:nvPr/>
        </p:nvSpPr>
        <p:spPr>
          <a:xfrm>
            <a:off x="731520" y="3749039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WhatsApp-to-Maid Analogy</a:t>
            </a:r>
            <a:endParaRPr/>
          </a:p>
        </p:txBody>
      </p:sp>
      <p:graphicFrame>
        <p:nvGraphicFramePr>
          <p:cNvPr id="186" name="Google Shape;186;p13"/>
          <p:cNvGraphicFramePr/>
          <p:nvPr/>
        </p:nvGraphicFramePr>
        <p:xfrm>
          <a:off x="731520" y="4297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{F5CAF53D-7DBE-4DCF-B68F-CE6028628958}</a:tableStyleId>
              </a:tblPr>
              <a:tblGrid>
                <a:gridCol w="5349250"/>
                <a:gridCol w="5349250"/>
              </a:tblGrid>
              <a:tr h="4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"Aaj subzi bana do."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"Aaj lunch ke liye aloo-gobhi banao,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CDD6F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thoda kam teekha, 2 logon ke liye, 12 baje tak."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Weak vs Strong Prompt — Diwali Speech</a:t>
            </a:r>
            <a:endParaRPr/>
          </a:p>
        </p:txBody>
      </p:sp>
      <p:sp>
        <p:nvSpPr>
          <p:cNvPr id="192" name="Google Shape;192;p14"/>
          <p:cNvSpPr/>
          <p:nvPr/>
        </p:nvSpPr>
        <p:spPr>
          <a:xfrm>
            <a:off x="731520" y="1371600"/>
            <a:ext cx="5303520" cy="128016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Weak Prompt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"Write something about Diwali."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-&gt; something generic, hard to use.</a:t>
            </a:r>
            <a:endParaRPr/>
          </a:p>
        </p:txBody>
      </p:sp>
      <p:sp>
        <p:nvSpPr>
          <p:cNvPr id="193" name="Google Shape;193;p14"/>
          <p:cNvSpPr/>
          <p:nvPr/>
        </p:nvSpPr>
        <p:spPr>
          <a:xfrm>
            <a:off x="731520" y="2834640"/>
            <a:ext cx="5303520" cy="320040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Strong Prompt (C-I-F-C)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"I am a school teacher (C).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Write a short speech on Diwali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for Class 5 students (I).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Use 5 bullet points, each one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line (F). Keep language simple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and avoid any religious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controversy (C)."</a:t>
            </a:r>
            <a:endParaRPr/>
          </a:p>
        </p:txBody>
      </p:sp>
      <p:sp>
        <p:nvSpPr>
          <p:cNvPr id="194" name="Google Shape;194;p1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Common Beginner Mistakes</a:t>
            </a:r>
            <a:endParaRPr/>
          </a:p>
        </p:txBody>
      </p:sp>
      <p:sp>
        <p:nvSpPr>
          <p:cNvPr id="195" name="Google Shape;195;p14"/>
          <p:cNvSpPr txBox="1"/>
          <p:nvPr/>
        </p:nvSpPr>
        <p:spPr>
          <a:xfrm>
            <a:off x="6400800" y="1828800"/>
            <a:ext cx="5029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Too short -&gt; "Tell me about marketing"</a:t>
            </a:r>
            <a:b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gives a Wikipedia-like reply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Too long &amp; confusing -&gt; asking 5 things</a:t>
            </a:r>
            <a:b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 one prompt mixes them up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No examples -&gt; can't get a specific</a:t>
            </a:r>
            <a:b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style without showing one sample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Forgetting the audience -&gt; always</a:t>
            </a:r>
            <a:b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mention "for a 10-year-old" or</a:t>
            </a:r>
            <a:b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"for a CEO" to control depth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Controlling Output Format</a:t>
            </a:r>
            <a:endParaRPr/>
          </a:p>
        </p:txBody>
      </p:sp>
      <p:sp>
        <p:nvSpPr>
          <p:cNvPr id="202" name="Google Shape;202;p15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Format is not decoration — format is delivery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Popular Output Formats</a:t>
            </a:r>
            <a:endParaRPr/>
          </a:p>
        </p:txBody>
      </p:sp>
      <p:graphicFrame>
        <p:nvGraphicFramePr>
          <p:cNvPr id="208" name="Google Shape;208;p16"/>
          <p:cNvGraphicFramePr/>
          <p:nvPr/>
        </p:nvGraphicFramePr>
        <p:xfrm>
          <a:off x="73152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{F5CAF53D-7DBE-4DCF-B68F-CE6028628958}</a:tableStyleId>
              </a:tblPr>
              <a:tblGrid>
                <a:gridCol w="2651750"/>
                <a:gridCol w="2651750"/>
              </a:tblGrid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For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Bullet Points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Quick scanning, presentations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Numbered Steps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Tutorials, how-to guides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Tables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Comparisons (phones, plans)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 / Key-Value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Feeding output into software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Short Answer (1 line)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Dashboards, chatbots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Markdown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Documentation, blogs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209" name="Google Shape;209;p1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Example — JSON Extraction</a:t>
            </a:r>
            <a:endParaRPr/>
          </a:p>
        </p:txBody>
      </p:sp>
      <p:sp>
        <p:nvSpPr>
          <p:cNvPr id="210" name="Google Shape;210;p16"/>
          <p:cNvSpPr/>
          <p:nvPr/>
        </p:nvSpPr>
        <p:spPr>
          <a:xfrm>
            <a:off x="6400800" y="1828800"/>
            <a:ext cx="5029200" cy="2286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Extract the name, age, and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city from this sentence and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return ONLY a JSON object: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"Rahul, 27, lives in Pune."</a:t>
            </a:r>
            <a:endParaRPr/>
          </a:p>
        </p:txBody>
      </p:sp>
      <p:sp>
        <p:nvSpPr>
          <p:cNvPr id="211" name="Google Shape;211;p16"/>
          <p:cNvSpPr/>
          <p:nvPr/>
        </p:nvSpPr>
        <p:spPr>
          <a:xfrm>
            <a:off x="6400800" y="4297680"/>
            <a:ext cx="5029200" cy="182880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Pro Tip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When output goes into your app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or Excel, ALWAYS ask for JSON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or CSV.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Paragraphs = humans.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Structured formats = machines.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Experimenting with Prompt Variations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A/B testing like real Prompt Engineers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Same Topic "Explain EMI" — 4 Variations</a:t>
            </a:r>
            <a:endParaRPr/>
          </a:p>
        </p:txBody>
      </p:sp>
      <p:graphicFrame>
        <p:nvGraphicFramePr>
          <p:cNvPr id="224" name="Google Shape;224;p18"/>
          <p:cNvGraphicFramePr/>
          <p:nvPr/>
        </p:nvGraphicFramePr>
        <p:xfrm>
          <a:off x="73152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{F5CAF53D-7DBE-4DCF-B68F-CE6028628958}</a:tableStyleId>
              </a:tblPr>
              <a:tblGrid>
                <a:gridCol w="3566150"/>
                <a:gridCol w="3566150"/>
                <a:gridCol w="3566150"/>
              </a:tblGrid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Prompt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V1 — Plain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"Explain EMI."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Generic definition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V2 — Role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"As a bank manager, explain EMI to a first-time loan taker."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Friendly, practical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V3 — Format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"Explain EMI in 3 bullets, each under 15 words."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Crisp, tweet-ready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V4 — Example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"Explain EMI using a Rs 5 lakh car loan for 5 years."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Concrete, relatable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225" name="Google Shape;225;p18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What You Can Vary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731520" y="4937760"/>
            <a:ext cx="5303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Role — "as a teacher" vs "as a CEO"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Tone — formal vs casual vs funny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Length — "50 words" vs "500 words"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6400800" y="4937760"/>
            <a:ext cx="5303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Format — bullets vs table vs paragraph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Examples — zero-shot vs one-shot vs few-shot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Photographer analogy: 5 angles, pick one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Exploring Real-World Use Cases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Where AI agents are already saving crores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Top Business Use Cases Today</a:t>
            </a:r>
            <a:endParaRPr/>
          </a:p>
        </p:txBody>
      </p:sp>
      <p:sp>
        <p:nvSpPr>
          <p:cNvPr id="240" name="Google Shape;240;p20"/>
          <p:cNvSpPr/>
          <p:nvPr/>
        </p:nvSpPr>
        <p:spPr>
          <a:xfrm>
            <a:off x="731520" y="1371600"/>
            <a:ext cx="3566160" cy="146304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Customer Support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FAQs, order tracking,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refunds (Flipkart, Swiggy)</a:t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4389120" y="1371600"/>
            <a:ext cx="3566160" cy="146304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Coding Assistants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Generate, debug, review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(GitHub Copilot, Cursor)</a:t>
            </a:r>
            <a:endParaRPr/>
          </a:p>
        </p:txBody>
      </p:sp>
      <p:sp>
        <p:nvSpPr>
          <p:cNvPr id="242" name="Google Shape;242;p20"/>
          <p:cNvSpPr/>
          <p:nvPr/>
        </p:nvSpPr>
        <p:spPr>
          <a:xfrm>
            <a:off x="7955279" y="1371600"/>
            <a:ext cx="3566160" cy="1463040"/>
          </a:xfrm>
          <a:prstGeom prst="roundRect">
            <a:avLst>
              <a:gd fmla="val 16667" name="adj"/>
            </a:avLst>
          </a:prstGeom>
          <a:solidFill>
            <a:srgbClr val="3527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Research Assistants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Summarise PDFs,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compare companies</a:t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731520" y="3017520"/>
            <a:ext cx="3566160" cy="146304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Sales Email Writers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Personalise emails to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thousands of leads</a:t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4389120" y="3017520"/>
            <a:ext cx="3566160" cy="146304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Resume Screeners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Shortlist 1,000 CVs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 minutes</a:t>
            </a:r>
            <a:endParaRPr/>
          </a:p>
        </p:txBody>
      </p:sp>
      <p:sp>
        <p:nvSpPr>
          <p:cNvPr id="245" name="Google Shape;245;p20"/>
          <p:cNvSpPr/>
          <p:nvPr/>
        </p:nvSpPr>
        <p:spPr>
          <a:xfrm>
            <a:off x="7955279" y="3017520"/>
            <a:ext cx="3566160" cy="146304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Content Creators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Blogs, social posts,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ad copy</a:t>
            </a:r>
            <a:endParaRPr/>
          </a:p>
        </p:txBody>
      </p:sp>
      <p:sp>
        <p:nvSpPr>
          <p:cNvPr id="246" name="Google Shape;246;p20"/>
          <p:cNvSpPr/>
          <p:nvPr/>
        </p:nvSpPr>
        <p:spPr>
          <a:xfrm>
            <a:off x="731520" y="4663440"/>
            <a:ext cx="3566160" cy="1463040"/>
          </a:xfrm>
          <a:prstGeom prst="roundRect">
            <a:avLst>
              <a:gd fmla="val 16667" name="adj"/>
            </a:avLst>
          </a:prstGeom>
          <a:solidFill>
            <a:srgbClr val="3527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Data Analysts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Read Excel, give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insights in English</a:t>
            </a:r>
            <a:endParaRPr/>
          </a:p>
        </p:txBody>
      </p:sp>
      <p:sp>
        <p:nvSpPr>
          <p:cNvPr id="247" name="Google Shape;247;p20"/>
          <p:cNvSpPr/>
          <p:nvPr/>
        </p:nvSpPr>
        <p:spPr>
          <a:xfrm>
            <a:off x="4389120" y="4663440"/>
            <a:ext cx="3566160" cy="146304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Legal Assistants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Read contracts,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flag risky clauses</a:t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7955279" y="4663440"/>
            <a:ext cx="3566160" cy="146304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Learning Tutors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Doubt-solving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(Byju's, Unacademy AI)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Spotting a Good Use Case + Agent Mapping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731520" y="12801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How to Spot a Good Use Case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731520" y="1828800"/>
            <a:ext cx="53035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Repetitive — done many times a day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Involves reading, writing, or text</a:t>
            </a:r>
            <a:b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decision-making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Does not need physical hands</a:t>
            </a:r>
            <a:b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(AI is not a robot yet, mostly)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Has clear rules or clear examples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Mistakes are correctable (not</a:t>
            </a:r>
            <a:b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life-and-death without human check)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Use Case -&gt; Agent Behavior</a:t>
            </a:r>
            <a:endParaRPr/>
          </a:p>
        </p:txBody>
      </p:sp>
      <p:graphicFrame>
        <p:nvGraphicFramePr>
          <p:cNvPr id="257" name="Google Shape;257;p21"/>
          <p:cNvGraphicFramePr/>
          <p:nvPr/>
        </p:nvGraphicFramePr>
        <p:xfrm>
          <a:off x="640080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{F5CAF53D-7DBE-4DCF-B68F-CE6028628958}</a:tableStyleId>
              </a:tblPr>
              <a:tblGrid>
                <a:gridCol w="2651750"/>
                <a:gridCol w="2651750"/>
              </a:tblGrid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Case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Tool / Skill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 Support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Knowledge base, polite tone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Coding Help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 tools, terminal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Research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PDF reader, web search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 Emails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CRM data, tone control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Analyst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Database tools, charts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Frameworks Exist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LangChain, CrewAI, AutoGen — ready-made chassis for your agent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Why Frameworks Exist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731520" y="1371600"/>
            <a:ext cx="53035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Pre-built toolkit with ready-made components:</a:t>
            </a:r>
            <a:b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memory, tools, planning, multi-agent comm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Build agents faster and more reliably —</a:t>
            </a:r>
            <a:b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not invent every wheel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Like cooking with MTR masala, Amul paneer,</a:t>
            </a:r>
            <a:b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and store-bought rotis — cook 10x faster</a:t>
            </a:r>
            <a:endParaRPr/>
          </a:p>
        </p:txBody>
      </p:sp>
      <p:sp>
        <p:nvSpPr>
          <p:cNvPr id="271" name="Google Shape;271;p23"/>
          <p:cNvSpPr/>
          <p:nvPr/>
        </p:nvSpPr>
        <p:spPr>
          <a:xfrm>
            <a:off x="6400800" y="1371600"/>
            <a:ext cx="5029200" cy="274320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Why Not Just Use ChatGPT?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- No memory of YOUR business data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- Cannot click buttons, send emails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or update databases on its own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- Cannot call other agents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or split tasks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Frameworks add these missing powers.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What Frameworks Usually Provide</a:t>
            </a:r>
            <a:endParaRPr/>
          </a:p>
        </p:txBody>
      </p:sp>
      <p:graphicFrame>
        <p:nvGraphicFramePr>
          <p:cNvPr id="273" name="Google Shape;273;p23"/>
          <p:cNvGraphicFramePr/>
          <p:nvPr/>
        </p:nvGraphicFramePr>
        <p:xfrm>
          <a:off x="731520" y="5120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{F5CAF53D-7DBE-4DCF-B68F-CE6028628958}</a:tableStyleId>
              </a:tblPr>
              <a:tblGrid>
                <a:gridCol w="1783075"/>
                <a:gridCol w="1783075"/>
                <a:gridCol w="1783075"/>
                <a:gridCol w="1783075"/>
                <a:gridCol w="1783075"/>
                <a:gridCol w="1783075"/>
              </a:tblGrid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 Connectors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Memory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Tools/Plugins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Planning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Multi-Agent Coord.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Logging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GPT, Claude,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Past chats,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details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Search, email,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PDF, DB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Break big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tasks -&gt; steps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Agents work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 a team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See WHY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 did X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LangChain — The LEGO Blocks for AI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731520" y="1371600"/>
            <a:ext cx="53035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Oldest and most popular framework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Open-source, modular components,</a:t>
            </a:r>
            <a:b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standardised interfaces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Connects LLMs with external tools,</a:t>
            </a:r>
            <a:b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data sources, memory, workflows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Snap blocks together into an app</a:t>
            </a:r>
            <a:endParaRPr/>
          </a:p>
        </p:txBody>
      </p:sp>
      <p:sp>
        <p:nvSpPr>
          <p:cNvPr id="280" name="Google Shape;280;p24"/>
          <p:cNvSpPr/>
          <p:nvPr/>
        </p:nvSpPr>
        <p:spPr>
          <a:xfrm>
            <a:off x="6400800" y="1371600"/>
            <a:ext cx="5029200" cy="256032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Dabbawala Analogy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LangChain is the SYSTEM that: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- picks tiffin from home (data)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- takes it to station (LLM)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- delivers to office (tool)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- brings back empty box (memory)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It is the full workflow connector.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What LangChain Is Good For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731520" y="4937760"/>
            <a:ext cx="5303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Connecting LLMs to your own docs (PDFs, DB)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Chains — link multiple LLM calls in sequence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RAG — answer from your data, not public data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6400800" y="4937760"/>
            <a:ext cx="5303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Single, powerful agents with many tools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500+ integrations — Gmail, Slack, Notion, Drive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Best choice when you need ONE strong agent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5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CrewAI — A Team of AI Workers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731520" y="1371600"/>
            <a:ext cx="5303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For when ONE agent is not enough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Orchestrate multiple autonomous agents</a:t>
            </a:r>
            <a:b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with defined roles, goals, and tasks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Collaborate like a real-world team</a:t>
            </a:r>
            <a:endParaRPr/>
          </a:p>
        </p:txBody>
      </p:sp>
      <p:sp>
        <p:nvSpPr>
          <p:cNvPr id="290" name="Google Shape;290;p25"/>
          <p:cNvSpPr/>
          <p:nvPr/>
        </p:nvSpPr>
        <p:spPr>
          <a:xfrm>
            <a:off x="6400800" y="1371600"/>
            <a:ext cx="5029200" cy="228600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Newspaper Office Analogy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Reporter + Editor + Photographer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+ Publisher — no single person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runs the paper alone.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They work as a CREW.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CrewAI does this with AI agents.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731520" y="40233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Key Ideas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731520" y="4572000"/>
            <a:ext cx="5303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Agent — one AI worker with a specific role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Task — a specific job given to that agent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Crew — a team of agents + tasks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Process — sequential or parallel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6400800" y="40233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Example — Blog Writing Crew</a:t>
            </a:r>
            <a:endParaRPr/>
          </a:p>
        </p:txBody>
      </p:sp>
      <p:sp>
        <p:nvSpPr>
          <p:cNvPr id="294" name="Google Shape;294;p25"/>
          <p:cNvSpPr/>
          <p:nvPr/>
        </p:nvSpPr>
        <p:spPr>
          <a:xfrm>
            <a:off x="6400800" y="4572000"/>
            <a:ext cx="5303520" cy="201168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Researcher -&gt; finds trends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Writer     -&gt; writes 500-word blog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Editor     -&gt; checks grammar, SEO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Publisher  -&gt; posts to WordPress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6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AutoGen — Agents in a Chatroom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731520" y="1371600"/>
            <a:ext cx="53035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Built by Microsoft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Multiple AI agents (and humans)</a:t>
            </a:r>
            <a:b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interact via conversational messaging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Like a WhatsApp group of AI agents —</a:t>
            </a:r>
            <a:b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they chat, ask, and agree on a solution</a:t>
            </a:r>
            <a:endParaRPr/>
          </a:p>
        </p:txBody>
      </p:sp>
      <p:sp>
        <p:nvSpPr>
          <p:cNvPr id="301" name="Google Shape;301;p26"/>
          <p:cNvSpPr/>
          <p:nvPr/>
        </p:nvSpPr>
        <p:spPr>
          <a:xfrm>
            <a:off x="6400800" y="1371600"/>
            <a:ext cx="5029200" cy="2743200"/>
          </a:xfrm>
          <a:prstGeom prst="roundRect">
            <a:avLst>
              <a:gd fmla="val 16667" name="adj"/>
            </a:avLst>
          </a:prstGeom>
          <a:solidFill>
            <a:srgbClr val="3527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Group Chat Analogy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Tough problem -&gt; WhatsApp group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with a CA, a lawyer, and a doctor.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They discuss, argue, and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together give you the best advice.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AutoGen builds this — but for AI.</a:t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Key Ideas</a:t>
            </a:r>
            <a:endParaRPr/>
          </a:p>
        </p:txBody>
      </p:sp>
      <p:graphicFrame>
        <p:nvGraphicFramePr>
          <p:cNvPr id="303" name="Google Shape;303;p26"/>
          <p:cNvGraphicFramePr/>
          <p:nvPr/>
        </p:nvGraphicFramePr>
        <p:xfrm>
          <a:off x="731520" y="5120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{F5CAF53D-7DBE-4DCF-B68F-CE6028628958}</a:tableStyleId>
              </a:tblPr>
              <a:tblGrid>
                <a:gridCol w="2139700"/>
                <a:gridCol w="2139700"/>
                <a:gridCol w="2139700"/>
                <a:gridCol w="2139700"/>
                <a:gridCol w="2139700"/>
              </a:tblGrid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Conversable Agents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Proxy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Assistant Agents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Group Chat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 Execution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 send &amp;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receive messages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Represents YOU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 the chat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 the actual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Many agents,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taking turns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Agents write &amp;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 code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LangChain vs CrewAI vs AutoGen</a:t>
            </a:r>
            <a:endParaRPr/>
          </a:p>
        </p:txBody>
      </p:sp>
      <p:graphicFrame>
        <p:nvGraphicFramePr>
          <p:cNvPr id="309" name="Google Shape;309;p27"/>
          <p:cNvGraphicFramePr/>
          <p:nvPr/>
        </p:nvGraphicFramePr>
        <p:xfrm>
          <a:off x="36576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{F5CAF53D-7DBE-4DCF-B68F-CE6028628958}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LangChain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CrewAI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AutoGen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Main Idea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Chains + Tools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Role-based team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 conversation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For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 smart agent, many tools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Multi-step workflows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Collaborative problem-solving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Learning Curve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Easy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Multi-Agent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Limited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Very Strong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Very Strong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Human-in-Loop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Possible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Possible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Native, built-in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Community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Largest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Growing fast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Microsoft-backed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Typical Use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RAG, doc Q&amp;A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Blog factory, research crew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 debugging, analysis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310" name="Google Shape;310;p27"/>
          <p:cNvSpPr/>
          <p:nvPr/>
        </p:nvSpPr>
        <p:spPr>
          <a:xfrm>
            <a:off x="731520" y="5029200"/>
            <a:ext cx="10698480" cy="164592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Simple Decision Rule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ONE agent with access to YOUR data -&gt; LangChain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TEAM of agents with different job roles -&gt; CrewAI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Agents CHAT back and forth, even run code -&gt; AutoGen   |   You can also combine them!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8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8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Designing a Simple Agent Flow</a:t>
            </a:r>
            <a:endParaRPr/>
          </a:p>
        </p:txBody>
      </p:sp>
      <p:sp>
        <p:nvSpPr>
          <p:cNvPr id="317" name="Google Shape;317;p28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Prompt -&gt; LLM -&gt; Tool -&gt; Output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4 Building Blocks of Any Agent</a:t>
            </a:r>
            <a:endParaRPr/>
          </a:p>
        </p:txBody>
      </p:sp>
      <p:sp>
        <p:nvSpPr>
          <p:cNvPr id="323" name="Google Shape;323;p29"/>
          <p:cNvSpPr/>
          <p:nvPr/>
        </p:nvSpPr>
        <p:spPr>
          <a:xfrm>
            <a:off x="731520" y="1371600"/>
            <a:ext cx="2651760" cy="164592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Input (Prompt)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user's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question or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goal.</a:t>
            </a:r>
            <a:endParaRPr/>
          </a:p>
        </p:txBody>
      </p:sp>
      <p:sp>
        <p:nvSpPr>
          <p:cNvPr id="324" name="Google Shape;324;p29"/>
          <p:cNvSpPr/>
          <p:nvPr/>
        </p:nvSpPr>
        <p:spPr>
          <a:xfrm>
            <a:off x="3566160" y="1371600"/>
            <a:ext cx="2651760" cy="164592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Brain (LLM)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model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that thinks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and plans.</a:t>
            </a:r>
            <a:endParaRPr/>
          </a:p>
        </p:txBody>
      </p:sp>
      <p:sp>
        <p:nvSpPr>
          <p:cNvPr id="325" name="Google Shape;325;p29"/>
          <p:cNvSpPr/>
          <p:nvPr/>
        </p:nvSpPr>
        <p:spPr>
          <a:xfrm>
            <a:off x="6400800" y="1371600"/>
            <a:ext cx="2651760" cy="1645920"/>
          </a:xfrm>
          <a:prstGeom prst="roundRect">
            <a:avLst>
              <a:gd fmla="val 16667" name="adj"/>
            </a:avLst>
          </a:prstGeom>
          <a:solidFill>
            <a:srgbClr val="3527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Hands (Tools)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APIs, search,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email, DB —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HOW it acts.</a:t>
            </a:r>
            <a:endParaRPr/>
          </a:p>
        </p:txBody>
      </p:sp>
      <p:sp>
        <p:nvSpPr>
          <p:cNvPr id="326" name="Google Shape;326;p29"/>
          <p:cNvSpPr/>
          <p:nvPr/>
        </p:nvSpPr>
        <p:spPr>
          <a:xfrm>
            <a:off x="9235440" y="1371600"/>
            <a:ext cx="2468880" cy="164592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Output (Result)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final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answer or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action.</a:t>
            </a:r>
            <a:endParaRPr/>
          </a:p>
        </p:txBody>
      </p:sp>
      <p:sp>
        <p:nvSpPr>
          <p:cNvPr id="327" name="Google Shape;327;p29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Example Flow — "Career Advisor Agent"</a:t>
            </a:r>
            <a:endParaRPr/>
          </a:p>
        </p:txBody>
      </p:sp>
      <p:sp>
        <p:nvSpPr>
          <p:cNvPr id="328" name="Google Shape;328;p29"/>
          <p:cNvSpPr/>
          <p:nvPr/>
        </p:nvSpPr>
        <p:spPr>
          <a:xfrm>
            <a:off x="731525" y="3931924"/>
            <a:ext cx="10698600" cy="19971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1. User: "Suggest 3 careers based on skills: Python, Excel, communication."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2. System Prompt: "You are a friendly Indian career counsellor."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3. LLM thinks: "Skills match - Data Analyst, Business Analyst, Python Dev."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4. Tool call: Agent searches job portals for current demand.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5. LLM writes final answer: table with 3 careers, avg salary, top companies.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6. Output -&gt; Student reads and picks one.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0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Capstone — "Personal Finance Coach Agent"</a:t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731520" y="1280160"/>
            <a:ext cx="530352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Step 1 — System Prompt: role, tone,</a:t>
            </a:r>
            <a:br>
              <a:rPr b="0" i="0" lang="en-US" sz="15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language, boundaries (e.g., no crypto)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Step 2 — Role: "Act as experienced</a:t>
            </a:r>
            <a:br>
              <a:rPr b="0" i="0" lang="en-US" sz="15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SEBI-registered financial planner"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Step 3 — User Prompt: apply C-I-F-C</a:t>
            </a:r>
            <a:br>
              <a:rPr b="0" i="0" lang="en-US" sz="15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(Rs 40K salary, savings plan, table, no crypto)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Step 4 — Output Format: table with</a:t>
            </a:r>
            <a:br>
              <a:rPr b="0" i="0" lang="en-US" sz="15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Category, Amount (Rs), Why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Step 5 — 3 Variations: strict father tone,</a:t>
            </a:r>
            <a:br>
              <a:rPr b="0" i="0" lang="en-US" sz="15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5 bullets format, user has 2-yr-old kid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Step 6 — Compare &amp; discuss in groups of 3</a:t>
            </a:r>
            <a:endParaRPr/>
          </a:p>
        </p:txBody>
      </p:sp>
      <p:sp>
        <p:nvSpPr>
          <p:cNvPr id="335" name="Google Shape;335;p30"/>
          <p:cNvSpPr/>
          <p:nvPr/>
        </p:nvSpPr>
        <p:spPr>
          <a:xfrm>
            <a:off x="6400800" y="1280160"/>
            <a:ext cx="5029200" cy="457200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What You Will Learn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- How a SYSTEM PROMPT changes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the entire personality of the agent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- How ROLE PROMPTING adjusts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depth and style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- How small PROMPT CHANGES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create very different outputs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- How OUTPUT FORMAT CONTROL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makes answers ready-to-use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- How a real AGENT FLOW feels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-without writing any code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Session 09 — Key Takeaways</a:t>
            </a:r>
            <a:endParaRPr/>
          </a:p>
        </p:txBody>
      </p:sp>
      <p:sp>
        <p:nvSpPr>
          <p:cNvPr id="341" name="Google Shape;341;p31"/>
          <p:cNvSpPr txBox="1"/>
          <p:nvPr/>
        </p:nvSpPr>
        <p:spPr>
          <a:xfrm>
            <a:off x="731520" y="1371600"/>
            <a:ext cx="530352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Prompt Engineering = asking AI the right</a:t>
            </a:r>
            <a:b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way to get reliable outputs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System Prompts set identity, tone,</a:t>
            </a:r>
            <a:b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and boundaries for the whole conversation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Role Prompting instantly upgrades</a:t>
            </a:r>
            <a:b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answer quality by assigning a persona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C-I-F-C formula: Context, Instruction,</a:t>
            </a:r>
            <a:b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Format, Constraints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Output Format Control (tables, JSON, bullets)</a:t>
            </a:r>
            <a:b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makes AI outputs usable in real tools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Prompt Variations — A/B test, pick the best</a:t>
            </a:r>
            <a:endParaRPr/>
          </a:p>
        </p:txBody>
      </p:sp>
      <p:sp>
        <p:nvSpPr>
          <p:cNvPr id="342" name="Google Shape;342;p31"/>
          <p:cNvSpPr txBox="1"/>
          <p:nvPr/>
        </p:nvSpPr>
        <p:spPr>
          <a:xfrm>
            <a:off x="6400800" y="1371600"/>
            <a:ext cx="530352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Use Cases: support bots, coders, research,</a:t>
            </a:r>
            <a:b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sales, HR, content, legal, medical, education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LangChain — ONE smart agent + many tools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CrewAI — TEAM of role-based agents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AutoGen — Agents CHAT to solve a problem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Every agent = a loop of</a:t>
            </a:r>
            <a:b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Prompt -&gt; LLM -&gt; Tool -&gt; Output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Frameworks are building blocks,</a:t>
            </a:r>
            <a:b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not competitors — combine them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Quick Reference — Key Terms</a:t>
            </a:r>
            <a:endParaRPr/>
          </a:p>
        </p:txBody>
      </p:sp>
      <p:graphicFrame>
        <p:nvGraphicFramePr>
          <p:cNvPr id="348" name="Google Shape;348;p32"/>
          <p:cNvGraphicFramePr/>
          <p:nvPr/>
        </p:nvGraphicFramePr>
        <p:xfrm>
          <a:off x="365760" y="1280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{F5CAF53D-7DBE-4DCF-B68F-CE6028628958}</a:tableStyleId>
              </a:tblPr>
              <a:tblGrid>
                <a:gridCol w="3810000"/>
                <a:gridCol w="3810000"/>
                <a:gridCol w="3810000"/>
              </a:tblGrid>
              <a:tr h="3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Term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Meaning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 to Use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Prompt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 you give to an LLM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Every time you talk to AI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 Prompt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Hidden instruction fixing identity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Starting any new AI product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 Prompting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Assigning a persona (teacher, CA)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 expert-style answers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Zero-shot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 with no examples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Simple, direct tasks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Few-shot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Give 2-3 examples in prompt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 a specific output style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C-I-F-C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Context + Instruction + Format + Constraints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Writing any strong prompt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Formats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Bullets, Table, JSON, Steps, Markdown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 make output usable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Case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 business problem solved by AI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Picking where to apply agents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 Flow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Prompt -&gt; LLM -&gt; Tool -&gt; Output loop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Designing any AI agent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LangChain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Framework: single agent + tools + data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RAG, chatbots, doc Q&amp;A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CrewAI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Framework: team of role-based agents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Multi-step workflows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AutoGen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Framework: conversational multi-agents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Collaborative &amp; code tasks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Retrieval-Augmented Generation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Answering from your own docs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