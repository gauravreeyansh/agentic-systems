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7" roundtripDataSignature="AMtx7mgl8DMu/FxmbC/MNi5Q3QaNApPL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CA089B-9318-4F43-A4A2-6AA9B0BD1243}">
  <a:tblStyle styleId="{FCCA089B-9318-4F43-A4A2-6AA9B0BD124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0"/>
          <p:cNvSpPr/>
          <p:nvPr>
            <p:ph idx="2" type="pic"/>
          </p:nvPr>
        </p:nvSpPr>
        <p:spPr>
          <a:xfrm>
            <a:off x="1792288" y="612775"/>
            <a:ext cx="5486400" cy="4114800"/>
          </a:xfrm>
          <a:prstGeom prst="rect">
            <a:avLst/>
          </a:prstGeom>
          <a:noFill/>
          <a:ln>
            <a:noFill/>
          </a:ln>
        </p:spPr>
      </p:sp>
      <p:sp>
        <p:nvSpPr>
          <p:cNvPr id="64" name="Google Shape;64;p4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linkedin.com/in/sakshamarora9575"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83" name="Shape 83"/>
        <p:cNvGrpSpPr/>
        <p:nvPr/>
      </p:nvGrpSpPr>
      <p:grpSpPr>
        <a:xfrm>
          <a:off x="0" y="0"/>
          <a:ext cx="0" cy="0"/>
          <a:chOff x="0" y="0"/>
          <a:chExt cx="0" cy="0"/>
        </a:xfrm>
      </p:grpSpPr>
      <p:sp>
        <p:nvSpPr>
          <p:cNvPr id="84" name="Google Shape;84;p1"/>
          <p:cNvSpPr/>
          <p:nvPr/>
        </p:nvSpPr>
        <p:spPr>
          <a:xfrm>
            <a:off x="914400" y="1645920"/>
            <a:ext cx="1828800" cy="54864"/>
          </a:xfrm>
          <a:prstGeom prst="rect">
            <a:avLst/>
          </a:prstGeom>
          <a:solidFill>
            <a:srgbClr val="89B4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
          <p:cNvSpPr txBox="1"/>
          <p:nvPr/>
        </p:nvSpPr>
        <p:spPr>
          <a:xfrm>
            <a:off x="914400" y="1828800"/>
            <a:ext cx="10058400" cy="13716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4200" u="none" cap="none" strike="noStrike">
                <a:solidFill>
                  <a:srgbClr val="FFFFFF"/>
                </a:solidFill>
                <a:latin typeface="Calibri"/>
                <a:ea typeface="Calibri"/>
                <a:cs typeface="Calibri"/>
                <a:sym typeface="Calibri"/>
              </a:rPr>
              <a:t>Defining Agentic Systems</a:t>
            </a:r>
            <a:br>
              <a:rPr b="1" i="0" lang="en-US" sz="4200" u="none" cap="none" strike="noStrike">
                <a:solidFill>
                  <a:srgbClr val="FFFFFF"/>
                </a:solidFill>
                <a:latin typeface="Calibri"/>
                <a:ea typeface="Calibri"/>
                <a:cs typeface="Calibri"/>
                <a:sym typeface="Calibri"/>
              </a:rPr>
            </a:br>
            <a:r>
              <a:rPr b="1" i="0" lang="en-US" sz="4200" u="none" cap="none" strike="noStrike">
                <a:solidFill>
                  <a:srgbClr val="FFFFFF"/>
                </a:solidFill>
                <a:latin typeface="Calibri"/>
                <a:ea typeface="Calibri"/>
                <a:cs typeface="Calibri"/>
                <a:sym typeface="Calibri"/>
              </a:rPr>
              <a:t>&amp; Core Components</a:t>
            </a:r>
            <a:endParaRPr/>
          </a:p>
        </p:txBody>
      </p:sp>
      <p:sp>
        <p:nvSpPr>
          <p:cNvPr id="86" name="Google Shape;86;p1"/>
          <p:cNvSpPr txBox="1"/>
          <p:nvPr/>
        </p:nvSpPr>
        <p:spPr>
          <a:xfrm>
            <a:off x="914400" y="3657600"/>
            <a:ext cx="10058400" cy="54864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0" i="0" lang="en-US" sz="2800" u="none" cap="none" strike="noStrike">
                <a:solidFill>
                  <a:srgbClr val="89B4FA"/>
                </a:solidFill>
                <a:latin typeface="Calibri"/>
                <a:ea typeface="Calibri"/>
                <a:cs typeface="Calibri"/>
                <a:sym typeface="Calibri"/>
              </a:rPr>
              <a:t>Session 07</a:t>
            </a:r>
            <a:endParaRPr/>
          </a:p>
        </p:txBody>
      </p:sp>
      <p:sp>
        <p:nvSpPr>
          <p:cNvPr id="87" name="Google Shape;87;p1"/>
          <p:cNvSpPr txBox="1"/>
          <p:nvPr/>
        </p:nvSpPr>
        <p:spPr>
          <a:xfrm>
            <a:off x="914400" y="4754880"/>
            <a:ext cx="10058400" cy="790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0" i="0" lang="en-US" sz="1600" u="none" cap="none" strike="noStrike">
                <a:solidFill>
                  <a:schemeClr val="lt1"/>
                </a:solidFill>
                <a:latin typeface="Calibri"/>
                <a:ea typeface="Calibri"/>
                <a:cs typeface="Calibri"/>
                <a:sym typeface="Calibri"/>
              </a:rPr>
              <a:t>Saksham Arora</a:t>
            </a:r>
            <a:br>
              <a:rPr b="0" i="0" lang="en-US" sz="1600" u="none" cap="none" strike="noStrike">
                <a:solidFill>
                  <a:schemeClr val="lt1"/>
                </a:solidFill>
                <a:latin typeface="Calibri"/>
                <a:ea typeface="Calibri"/>
                <a:cs typeface="Calibri"/>
                <a:sym typeface="Calibri"/>
              </a:rPr>
            </a:br>
            <a:r>
              <a:rPr b="0" i="0" lang="en-US" sz="1600" u="none" cap="none" strike="noStrike">
                <a:solidFill>
                  <a:schemeClr val="lt1"/>
                </a:solidFill>
                <a:latin typeface="Calibri"/>
                <a:ea typeface="Calibri"/>
                <a:cs typeface="Calibri"/>
                <a:sym typeface="Calibri"/>
              </a:rPr>
              <a:t>Software Engineer 2 @ Intuit  |  Ex - Microsoft  |  2x Intern @ Microsoft + 1x Intern @ Amazon</a:t>
            </a:r>
            <a:br>
              <a:rPr b="0" i="0" lang="en-US" sz="1600" u="none" cap="none" strike="noStrike">
                <a:solidFill>
                  <a:schemeClr val="lt1"/>
                </a:solidFill>
                <a:latin typeface="Calibri"/>
                <a:ea typeface="Calibri"/>
                <a:cs typeface="Calibri"/>
                <a:sym typeface="Calibri"/>
              </a:rPr>
            </a:br>
            <a:r>
              <a:rPr b="0" i="0" lang="en-US" sz="1600" u="sng" cap="none" strike="noStrike">
                <a:solidFill>
                  <a:schemeClr val="lt1"/>
                </a:solidFill>
                <a:latin typeface="Calibri"/>
                <a:ea typeface="Calibri"/>
                <a:cs typeface="Calibri"/>
                <a:sym typeface="Calibri"/>
                <a:hlinkClick r:id="rId3">
                  <a:extLst>
                    <a:ext uri="{A12FA001-AC4F-418D-AE19-62706E023703}">
                      <ahyp:hlinkClr val="tx"/>
                    </a:ext>
                  </a:extLst>
                </a:hlinkClick>
              </a:rPr>
              <a:t>linkedin.com/in/sakshamarora9575</a:t>
            </a:r>
            <a:r>
              <a:rPr b="0" i="0" lang="en-US" sz="1600" u="none" cap="none" strike="noStrike">
                <a:solidFill>
                  <a:schemeClr val="lt1"/>
                </a:solidFill>
                <a:latin typeface="Calibri"/>
                <a:ea typeface="Calibri"/>
                <a:cs typeface="Calibri"/>
                <a:sym typeface="Calibri"/>
              </a:rPr>
              <a:t> </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91" name="Shape 91"/>
        <p:cNvGrpSpPr/>
        <p:nvPr/>
      </p:nvGrpSpPr>
      <p:grpSpPr>
        <a:xfrm>
          <a:off x="0" y="0"/>
          <a:ext cx="0" cy="0"/>
          <a:chOff x="0" y="0"/>
          <a:chExt cx="0" cy="0"/>
        </a:xfrm>
      </p:grpSpPr>
      <p:sp>
        <p:nvSpPr>
          <p:cNvPr id="92" name="Google Shape;92;p2"/>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What You Will Learn Today</a:t>
            </a:r>
            <a:endParaRPr/>
          </a:p>
        </p:txBody>
      </p:sp>
      <p:sp>
        <p:nvSpPr>
          <p:cNvPr id="93" name="Google Shape;93;p2"/>
          <p:cNvSpPr txBox="1"/>
          <p:nvPr/>
        </p:nvSpPr>
        <p:spPr>
          <a:xfrm>
            <a:off x="731520" y="1463040"/>
            <a:ext cx="10058400" cy="45720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2100" u="none" cap="none" strike="noStrike">
                <a:solidFill>
                  <a:srgbClr val="CDD6F4"/>
                </a:solidFill>
                <a:latin typeface="Calibri"/>
                <a:ea typeface="Calibri"/>
                <a:cs typeface="Calibri"/>
                <a:sym typeface="Calibri"/>
              </a:rPr>
              <a:t>1.  What is an AI Agent and how is it different from traditional systems</a:t>
            </a:r>
            <a:endParaRPr/>
          </a:p>
          <a:p>
            <a:pPr indent="0" lvl="0" marL="0" marR="0" rtl="0" algn="l">
              <a:spcBef>
                <a:spcPts val="1400"/>
              </a:spcBef>
              <a:spcAft>
                <a:spcPts val="0"/>
              </a:spcAft>
              <a:buNone/>
            </a:pPr>
            <a:r>
              <a:rPr b="0" i="0" lang="en-US" sz="2100" u="none" cap="none" strike="noStrike">
                <a:solidFill>
                  <a:srgbClr val="CDD6F4"/>
                </a:solidFill>
                <a:latin typeface="Calibri"/>
                <a:ea typeface="Calibri"/>
                <a:cs typeface="Calibri"/>
                <a:sym typeface="Calibri"/>
              </a:rPr>
              <a:t>2.  The four core components: Planning, Reasoning, Memory, Action</a:t>
            </a:r>
            <a:endParaRPr/>
          </a:p>
          <a:p>
            <a:pPr indent="0" lvl="0" marL="0" marR="0" rtl="0" algn="l">
              <a:spcBef>
                <a:spcPts val="1400"/>
              </a:spcBef>
              <a:spcAft>
                <a:spcPts val="0"/>
              </a:spcAft>
              <a:buNone/>
            </a:pPr>
            <a:r>
              <a:rPr b="0" i="0" lang="en-US" sz="2100" u="none" cap="none" strike="noStrike">
                <a:solidFill>
                  <a:srgbClr val="CDD6F4"/>
                </a:solidFill>
                <a:latin typeface="Calibri"/>
                <a:ea typeface="Calibri"/>
                <a:cs typeface="Calibri"/>
                <a:sym typeface="Calibri"/>
              </a:rPr>
              <a:t>3.  How Planning breaks goals into ordered, actionable steps</a:t>
            </a:r>
            <a:endParaRPr/>
          </a:p>
          <a:p>
            <a:pPr indent="0" lvl="0" marL="0" marR="0" rtl="0" algn="l">
              <a:spcBef>
                <a:spcPts val="1400"/>
              </a:spcBef>
              <a:spcAft>
                <a:spcPts val="0"/>
              </a:spcAft>
              <a:buNone/>
            </a:pPr>
            <a:r>
              <a:rPr b="0" i="0" lang="en-US" sz="2100" u="none" cap="none" strike="noStrike">
                <a:solidFill>
                  <a:srgbClr val="CDD6F4"/>
                </a:solidFill>
                <a:latin typeface="Calibri"/>
                <a:ea typeface="Calibri"/>
                <a:cs typeface="Calibri"/>
                <a:sym typeface="Calibri"/>
              </a:rPr>
              <a:t>4.  How Reasoning handles decisions and unexpected situations</a:t>
            </a:r>
            <a:endParaRPr/>
          </a:p>
          <a:p>
            <a:pPr indent="0" lvl="0" marL="0" marR="0" rtl="0" algn="l">
              <a:spcBef>
                <a:spcPts val="1400"/>
              </a:spcBef>
              <a:spcAft>
                <a:spcPts val="0"/>
              </a:spcAft>
              <a:buNone/>
            </a:pPr>
            <a:r>
              <a:rPr b="0" i="0" lang="en-US" sz="2100" u="none" cap="none" strike="noStrike">
                <a:solidFill>
                  <a:srgbClr val="CDD6F4"/>
                </a:solidFill>
                <a:latin typeface="Calibri"/>
                <a:ea typeface="Calibri"/>
                <a:cs typeface="Calibri"/>
                <a:sym typeface="Calibri"/>
              </a:rPr>
              <a:t>5.  Short-term vs Long-term Memory and why both matter</a:t>
            </a:r>
            <a:endParaRPr/>
          </a:p>
          <a:p>
            <a:pPr indent="0" lvl="0" marL="0" marR="0" rtl="0" algn="l">
              <a:spcBef>
                <a:spcPts val="1400"/>
              </a:spcBef>
              <a:spcAft>
                <a:spcPts val="0"/>
              </a:spcAft>
              <a:buNone/>
            </a:pPr>
            <a:r>
              <a:rPr b="0" i="0" lang="en-US" sz="2100" u="none" cap="none" strike="noStrike">
                <a:solidFill>
                  <a:srgbClr val="CDD6F4"/>
                </a:solidFill>
                <a:latin typeface="Calibri"/>
                <a:ea typeface="Calibri"/>
                <a:cs typeface="Calibri"/>
                <a:sym typeface="Calibri"/>
              </a:rPr>
              <a:t>6.  Action — where the agent interacts with the real world</a:t>
            </a:r>
            <a:endParaRPr/>
          </a:p>
          <a:p>
            <a:pPr indent="0" lvl="0" marL="0" marR="0" rtl="0" algn="l">
              <a:spcBef>
                <a:spcPts val="1400"/>
              </a:spcBef>
              <a:spcAft>
                <a:spcPts val="0"/>
              </a:spcAft>
              <a:buNone/>
            </a:pPr>
            <a:r>
              <a:rPr b="0" i="0" lang="en-US" sz="2100" u="none" cap="none" strike="noStrike">
                <a:solidFill>
                  <a:srgbClr val="CDD6F4"/>
                </a:solidFill>
                <a:latin typeface="Calibri"/>
                <a:ea typeface="Calibri"/>
                <a:cs typeface="Calibri"/>
                <a:sym typeface="Calibri"/>
              </a:rPr>
              <a:t>7.  The Observe -&gt; Think -&gt; Act loop that powers every agent</a:t>
            </a:r>
            <a:endParaRPr/>
          </a:p>
          <a:p>
            <a:pPr indent="0" lvl="0" marL="0" marR="0" rtl="0" algn="l">
              <a:spcBef>
                <a:spcPts val="1400"/>
              </a:spcBef>
              <a:spcAft>
                <a:spcPts val="0"/>
              </a:spcAft>
              <a:buNone/>
            </a:pPr>
            <a:r>
              <a:rPr b="0" i="0" lang="en-US" sz="2100" u="none" cap="none" strike="noStrike">
                <a:solidFill>
                  <a:srgbClr val="CDD6F4"/>
                </a:solidFill>
                <a:latin typeface="Calibri"/>
                <a:ea typeface="Calibri"/>
                <a:cs typeface="Calibri"/>
                <a:sym typeface="Calibri"/>
              </a:rPr>
              <a:t>8.  Real-world use cases and common failure modes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243A"/>
        </a:solidFill>
      </p:bgPr>
    </p:bg>
    <p:spTree>
      <p:nvGrpSpPr>
        <p:cNvPr id="97" name="Shape 97"/>
        <p:cNvGrpSpPr/>
        <p:nvPr/>
      </p:nvGrpSpPr>
      <p:grpSpPr>
        <a:xfrm>
          <a:off x="0" y="0"/>
          <a:ext cx="0" cy="0"/>
          <a:chOff x="0" y="0"/>
          <a:chExt cx="0" cy="0"/>
        </a:xfrm>
      </p:grpSpPr>
      <p:sp>
        <p:nvSpPr>
          <p:cNvPr id="98" name="Google Shape;98;p3"/>
          <p:cNvSpPr/>
          <p:nvPr/>
        </p:nvSpPr>
        <p:spPr>
          <a:xfrm>
            <a:off x="0" y="2926080"/>
            <a:ext cx="137160" cy="1005840"/>
          </a:xfrm>
          <a:prstGeom prst="rect">
            <a:avLst/>
          </a:prstGeom>
          <a:solidFill>
            <a:srgbClr val="89B4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3"/>
          <p:cNvSpPr txBox="1"/>
          <p:nvPr/>
        </p:nvSpPr>
        <p:spPr>
          <a:xfrm>
            <a:off x="731520" y="2286000"/>
            <a:ext cx="10058400" cy="13716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4400" u="none" cap="none" strike="noStrike">
                <a:solidFill>
                  <a:srgbClr val="FFFFFF"/>
                </a:solidFill>
                <a:latin typeface="Calibri"/>
                <a:ea typeface="Calibri"/>
                <a:cs typeface="Calibri"/>
                <a:sym typeface="Calibri"/>
              </a:rPr>
              <a:t>What Is an AI Agent?</a:t>
            </a:r>
            <a:endParaRPr/>
          </a:p>
        </p:txBody>
      </p:sp>
      <p:sp>
        <p:nvSpPr>
          <p:cNvPr id="100" name="Google Shape;100;p3"/>
          <p:cNvSpPr txBox="1"/>
          <p:nvPr/>
        </p:nvSpPr>
        <p:spPr>
          <a:xfrm>
            <a:off x="731520" y="384048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0" i="0" lang="en-US" sz="2200" u="none" cap="none" strike="noStrike">
                <a:solidFill>
                  <a:srgbClr val="CDD6F4"/>
                </a:solidFill>
                <a:latin typeface="Calibri"/>
                <a:ea typeface="Calibri"/>
                <a:cs typeface="Calibri"/>
                <a:sym typeface="Calibri"/>
              </a:rPr>
              <a:t>Perceive, decide, and act toward a goal — autonomously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04" name="Shape 104"/>
        <p:cNvGrpSpPr/>
        <p:nvPr/>
      </p:nvGrpSpPr>
      <p:grpSpPr>
        <a:xfrm>
          <a:off x="0" y="0"/>
          <a:ext cx="0" cy="0"/>
          <a:chOff x="0" y="0"/>
          <a:chExt cx="0" cy="0"/>
        </a:xfrm>
      </p:grpSpPr>
      <p:sp>
        <p:nvSpPr>
          <p:cNvPr id="105" name="Google Shape;105;p4"/>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What Is an AI Agent?</a:t>
            </a:r>
            <a:endParaRPr/>
          </a:p>
        </p:txBody>
      </p:sp>
      <p:sp>
        <p:nvSpPr>
          <p:cNvPr id="106" name="Google Shape;106;p4"/>
          <p:cNvSpPr txBox="1"/>
          <p:nvPr/>
        </p:nvSpPr>
        <p:spPr>
          <a:xfrm>
            <a:off x="731520" y="1371600"/>
            <a:ext cx="5029200" cy="22860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2000" u="none" cap="none" strike="noStrike">
                <a:solidFill>
                  <a:srgbClr val="CDD6F4"/>
                </a:solidFill>
                <a:latin typeface="Calibri"/>
                <a:ea typeface="Calibri"/>
                <a:cs typeface="Calibri"/>
                <a:sym typeface="Calibri"/>
              </a:rPr>
              <a:t>A software system that perceives its</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environment, makes decisions, and takes</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actions on its own to achieve a goal</a:t>
            </a:r>
            <a:endParaRPr/>
          </a:p>
          <a:p>
            <a:pPr indent="0" lvl="0" marL="0" marR="0" rtl="0" algn="l">
              <a:spcBef>
                <a:spcPts val="1200"/>
              </a:spcBef>
              <a:spcAft>
                <a:spcPts val="0"/>
              </a:spcAft>
              <a:buNone/>
            </a:pPr>
            <a:r>
              <a:rPr b="0" i="0" lang="en-US" sz="2000" u="none" cap="none" strike="noStrike">
                <a:solidFill>
                  <a:srgbClr val="CDD6F4"/>
                </a:solidFill>
                <a:latin typeface="Calibri"/>
                <a:ea typeface="Calibri"/>
                <a:cs typeface="Calibri"/>
                <a:sym typeface="Calibri"/>
              </a:rPr>
              <a:t>You tell it WHAT you want,</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not HOW to do it</a:t>
            </a:r>
            <a:endParaRPr/>
          </a:p>
          <a:p>
            <a:pPr indent="0" lvl="0" marL="0" marR="0" rtl="0" algn="l">
              <a:spcBef>
                <a:spcPts val="1200"/>
              </a:spcBef>
              <a:spcAft>
                <a:spcPts val="0"/>
              </a:spcAft>
              <a:buNone/>
            </a:pPr>
            <a:r>
              <a:rPr b="0" i="0" lang="en-US" sz="2000" u="none" cap="none" strike="noStrike">
                <a:solidFill>
                  <a:srgbClr val="CDD6F4"/>
                </a:solidFill>
                <a:latin typeface="Calibri"/>
                <a:ea typeface="Calibri"/>
                <a:cs typeface="Calibri"/>
                <a:sym typeface="Calibri"/>
              </a:rPr>
              <a:t>It figures out all the steps itself</a:t>
            </a:r>
            <a:endParaRPr/>
          </a:p>
        </p:txBody>
      </p:sp>
      <p:sp>
        <p:nvSpPr>
          <p:cNvPr id="107" name="Google Shape;107;p4"/>
          <p:cNvSpPr txBox="1"/>
          <p:nvPr/>
        </p:nvSpPr>
        <p:spPr>
          <a:xfrm>
            <a:off x="731520" y="3657600"/>
            <a:ext cx="5029200" cy="457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200" u="none" cap="none" strike="noStrike">
                <a:solidFill>
                  <a:srgbClr val="F9E2AF"/>
                </a:solidFill>
                <a:latin typeface="Calibri"/>
                <a:ea typeface="Calibri"/>
                <a:cs typeface="Calibri"/>
                <a:sym typeface="Calibri"/>
              </a:rPr>
              <a:t>Real-Life Examples</a:t>
            </a:r>
            <a:endParaRPr/>
          </a:p>
        </p:txBody>
      </p:sp>
      <p:sp>
        <p:nvSpPr>
          <p:cNvPr id="108" name="Google Shape;108;p4"/>
          <p:cNvSpPr txBox="1"/>
          <p:nvPr/>
        </p:nvSpPr>
        <p:spPr>
          <a:xfrm>
            <a:off x="731520" y="4114800"/>
            <a:ext cx="5029200" cy="22860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800" u="none" cap="none" strike="noStrike">
                <a:solidFill>
                  <a:srgbClr val="CDD6F4"/>
                </a:solidFill>
                <a:latin typeface="Calibri"/>
                <a:ea typeface="Calibri"/>
                <a:cs typeface="Calibri"/>
                <a:sym typeface="Calibri"/>
              </a:rPr>
              <a:t>Google Maps: you say where, it plans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the route and reroutes in traffic</a:t>
            </a:r>
            <a:endParaRPr/>
          </a:p>
          <a:p>
            <a:pPr indent="0" lvl="0" marL="0" marR="0" rtl="0" algn="l">
              <a:spcBef>
                <a:spcPts val="1000"/>
              </a:spcBef>
              <a:spcAft>
                <a:spcPts val="0"/>
              </a:spcAft>
              <a:buNone/>
            </a:pPr>
            <a:r>
              <a:rPr b="0" i="0" lang="en-US" sz="1800" u="none" cap="none" strike="noStrike">
                <a:solidFill>
                  <a:srgbClr val="CDD6F4"/>
                </a:solidFill>
                <a:latin typeface="Calibri"/>
                <a:ea typeface="Calibri"/>
                <a:cs typeface="Calibri"/>
                <a:sym typeface="Calibri"/>
              </a:rPr>
              <a:t>Swiggy/Zomato: you say "I want biryani",</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it finds, compares, and orders</a:t>
            </a:r>
            <a:endParaRPr/>
          </a:p>
          <a:p>
            <a:pPr indent="0" lvl="0" marL="0" marR="0" rtl="0" algn="l">
              <a:spcBef>
                <a:spcPts val="1000"/>
              </a:spcBef>
              <a:spcAft>
                <a:spcPts val="0"/>
              </a:spcAft>
              <a:buNone/>
            </a:pPr>
            <a:r>
              <a:rPr b="0" i="0" lang="en-US" sz="1800" u="none" cap="none" strike="noStrike">
                <a:solidFill>
                  <a:srgbClr val="CDD6F4"/>
                </a:solidFill>
                <a:latin typeface="Calibri"/>
                <a:ea typeface="Calibri"/>
                <a:cs typeface="Calibri"/>
                <a:sym typeface="Calibri"/>
              </a:rPr>
              <a:t>Placement officer: gets "find 5 engineers",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handles everything autonomously</a:t>
            </a:r>
            <a:endParaRPr/>
          </a:p>
        </p:txBody>
      </p:sp>
      <p:sp>
        <p:nvSpPr>
          <p:cNvPr id="109" name="Google Shape;109;p4"/>
          <p:cNvSpPr/>
          <p:nvPr/>
        </p:nvSpPr>
        <p:spPr>
          <a:xfrm>
            <a:off x="6400800" y="1371600"/>
            <a:ext cx="5029200" cy="2286000"/>
          </a:xfrm>
          <a:prstGeom prst="roundRect">
            <a:avLst>
              <a:gd fmla="val 16667" name="adj"/>
            </a:avLst>
          </a:prstGeom>
          <a:solidFill>
            <a:srgbClr val="2735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A6E3A1"/>
                </a:solidFill>
                <a:latin typeface="Calibri"/>
                <a:ea typeface="Calibri"/>
                <a:cs typeface="Calibri"/>
                <a:sym typeface="Calibri"/>
              </a:rPr>
              <a:t>The Key Idea</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An AI Agent is like hiring a very smart</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personal assistant. You just tell them</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what you want — they figure out how</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to do it on their own.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13" name="Shape 113"/>
        <p:cNvGrpSpPr/>
        <p:nvPr/>
      </p:nvGrpSpPr>
      <p:grpSpPr>
        <a:xfrm>
          <a:off x="0" y="0"/>
          <a:ext cx="0" cy="0"/>
          <a:chOff x="0" y="0"/>
          <a:chExt cx="0" cy="0"/>
        </a:xfrm>
      </p:grpSpPr>
      <p:sp>
        <p:nvSpPr>
          <p:cNvPr id="114" name="Google Shape;114;p5"/>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Traditional System vs AI Agent</a:t>
            </a:r>
            <a:endParaRPr/>
          </a:p>
        </p:txBody>
      </p:sp>
      <p:graphicFrame>
        <p:nvGraphicFramePr>
          <p:cNvPr id="115" name="Google Shape;115;p5"/>
          <p:cNvGraphicFramePr/>
          <p:nvPr/>
        </p:nvGraphicFramePr>
        <p:xfrm>
          <a:off x="731520" y="1371600"/>
          <a:ext cx="3000000" cy="3000000"/>
        </p:xfrm>
        <a:graphic>
          <a:graphicData uri="http://schemas.openxmlformats.org/drawingml/2006/table">
            <a:tbl>
              <a:tblPr bandRow="1" firstRow="1">
                <a:noFill/>
                <a:tableStyleId>{FCCA089B-9318-4F43-A4A2-6AA9B0BD1243}</a:tableStyleId>
              </a:tblPr>
              <a:tblGrid>
                <a:gridCol w="3505200"/>
                <a:gridCol w="3505200"/>
                <a:gridCol w="3505200"/>
              </a:tblGrid>
              <a:tr h="430000">
                <a:tc>
                  <a:txBody>
                    <a:bodyPr/>
                    <a:lstStyle/>
                    <a:p>
                      <a:pPr indent="0" lvl="0" marL="0" marR="0" rtl="0" algn="l">
                        <a:spcBef>
                          <a:spcPts val="0"/>
                        </a:spcBef>
                        <a:spcAft>
                          <a:spcPts val="0"/>
                        </a:spcAft>
                        <a:buNone/>
                      </a:pPr>
                      <a:r>
                        <a:rPr b="1" lang="en-US" sz="1700" u="none" cap="none" strike="noStrike">
                          <a:solidFill>
                            <a:srgbClr val="1E1E2E"/>
                          </a:solidFill>
                          <a:latin typeface="Calibri"/>
                          <a:ea typeface="Calibri"/>
                          <a:cs typeface="Calibri"/>
                          <a:sym typeface="Calibri"/>
                        </a:rPr>
                        <a:t>Feature</a:t>
                      </a:r>
                      <a:endParaRPr/>
                    </a:p>
                  </a:txBody>
                  <a:tcPr marT="76200" marB="76200" marR="127000" marL="127000">
                    <a:solidFill>
                      <a:srgbClr val="89B4FA"/>
                    </a:solidFill>
                  </a:tcPr>
                </a:tc>
                <a:tc>
                  <a:txBody>
                    <a:bodyPr/>
                    <a:lstStyle/>
                    <a:p>
                      <a:pPr indent="0" lvl="0" marL="0" marR="0" rtl="0" algn="l">
                        <a:spcBef>
                          <a:spcPts val="0"/>
                        </a:spcBef>
                        <a:spcAft>
                          <a:spcPts val="0"/>
                        </a:spcAft>
                        <a:buNone/>
                      </a:pPr>
                      <a:r>
                        <a:rPr b="1" lang="en-US" sz="1700" u="none" cap="none" strike="noStrike">
                          <a:solidFill>
                            <a:srgbClr val="1E1E2E"/>
                          </a:solidFill>
                          <a:latin typeface="Calibri"/>
                          <a:ea typeface="Calibri"/>
                          <a:cs typeface="Calibri"/>
                          <a:sym typeface="Calibri"/>
                        </a:rPr>
                        <a:t>Traditional System</a:t>
                      </a:r>
                      <a:endParaRPr/>
                    </a:p>
                  </a:txBody>
                  <a:tcPr marT="76200" marB="76200" marR="127000" marL="127000">
                    <a:solidFill>
                      <a:srgbClr val="89B4FA"/>
                    </a:solidFill>
                  </a:tcPr>
                </a:tc>
                <a:tc>
                  <a:txBody>
                    <a:bodyPr/>
                    <a:lstStyle/>
                    <a:p>
                      <a:pPr indent="0" lvl="0" marL="0" marR="0" rtl="0" algn="l">
                        <a:spcBef>
                          <a:spcPts val="0"/>
                        </a:spcBef>
                        <a:spcAft>
                          <a:spcPts val="0"/>
                        </a:spcAft>
                        <a:buNone/>
                      </a:pPr>
                      <a:r>
                        <a:rPr b="1" lang="en-US" sz="1700" u="none" cap="none" strike="noStrike">
                          <a:solidFill>
                            <a:srgbClr val="1E1E2E"/>
                          </a:solidFill>
                          <a:latin typeface="Calibri"/>
                          <a:ea typeface="Calibri"/>
                          <a:cs typeface="Calibri"/>
                          <a:sym typeface="Calibri"/>
                        </a:rPr>
                        <a:t>AI Agent</a:t>
                      </a:r>
                      <a:endParaRPr/>
                    </a:p>
                  </a:txBody>
                  <a:tcPr marT="76200" marB="76200" marR="127000" marL="127000">
                    <a:solidFill>
                      <a:srgbClr val="89B4FA"/>
                    </a:solidFill>
                  </a:tcPr>
                </a:tc>
              </a:tr>
              <a:tr h="430000">
                <a:tc>
                  <a:txBody>
                    <a:bodyPr/>
                    <a:lstStyle/>
                    <a:p>
                      <a:pPr indent="0" lvl="0" marL="0" marR="0" rtl="0" algn="l">
                        <a:spcBef>
                          <a:spcPts val="0"/>
                        </a:spcBef>
                        <a:spcAft>
                          <a:spcPts val="0"/>
                        </a:spcAft>
                        <a:buNone/>
                      </a:pPr>
                      <a:r>
                        <a:rPr lang="en-US" sz="1700" u="none" cap="none" strike="noStrike">
                          <a:solidFill>
                            <a:srgbClr val="CDD6F4"/>
                          </a:solidFill>
                          <a:latin typeface="Calibri"/>
                          <a:ea typeface="Calibri"/>
                          <a:cs typeface="Calibri"/>
                          <a:sym typeface="Calibri"/>
                        </a:rPr>
                        <a:t>Decision-making</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700" u="none" cap="none" strike="noStrike">
                          <a:solidFill>
                            <a:srgbClr val="CDD6F4"/>
                          </a:solidFill>
                          <a:latin typeface="Calibri"/>
                          <a:ea typeface="Calibri"/>
                          <a:cs typeface="Calibri"/>
                          <a:sym typeface="Calibri"/>
                        </a:rPr>
                        <a:t>Only pre-programmed rules</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700" u="none" cap="none" strike="noStrike">
                          <a:solidFill>
                            <a:srgbClr val="CDD6F4"/>
                          </a:solidFill>
                          <a:latin typeface="Calibri"/>
                          <a:ea typeface="Calibri"/>
                          <a:cs typeface="Calibri"/>
                          <a:sym typeface="Calibri"/>
                        </a:rPr>
                        <a:t>Reasons and decides on its own</a:t>
                      </a:r>
                      <a:endParaRPr/>
                    </a:p>
                  </a:txBody>
                  <a:tcPr marT="76200" marB="76200" marR="127000" marL="127000">
                    <a:solidFill>
                      <a:srgbClr val="24243A"/>
                    </a:solidFill>
                  </a:tcPr>
                </a:tc>
              </a:tr>
              <a:tr h="430000">
                <a:tc>
                  <a:txBody>
                    <a:bodyPr/>
                    <a:lstStyle/>
                    <a:p>
                      <a:pPr indent="0" lvl="0" marL="0" marR="0" rtl="0" algn="l">
                        <a:spcBef>
                          <a:spcPts val="0"/>
                        </a:spcBef>
                        <a:spcAft>
                          <a:spcPts val="0"/>
                        </a:spcAft>
                        <a:buNone/>
                      </a:pPr>
                      <a:r>
                        <a:rPr lang="en-US" sz="1700" u="none" cap="none" strike="noStrike">
                          <a:solidFill>
                            <a:srgbClr val="CDD6F4"/>
                          </a:solidFill>
                          <a:latin typeface="Calibri"/>
                          <a:ea typeface="Calibri"/>
                          <a:cs typeface="Calibri"/>
                          <a:sym typeface="Calibri"/>
                        </a:rPr>
                        <a:t>Handles new situations</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700" u="none" cap="none" strike="noStrike">
                          <a:solidFill>
                            <a:srgbClr val="CDD6F4"/>
                          </a:solidFill>
                          <a:latin typeface="Calibri"/>
                          <a:ea typeface="Calibri"/>
                          <a:cs typeface="Calibri"/>
                          <a:sym typeface="Calibri"/>
                        </a:rPr>
                        <a:t>No — breaks or errors</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700" u="none" cap="none" strike="noStrike">
                          <a:solidFill>
                            <a:srgbClr val="CDD6F4"/>
                          </a:solidFill>
                          <a:latin typeface="Calibri"/>
                          <a:ea typeface="Calibri"/>
                          <a:cs typeface="Calibri"/>
                          <a:sym typeface="Calibri"/>
                        </a:rPr>
                        <a:t>Yes — adapts and finds a way</a:t>
                      </a:r>
                      <a:endParaRPr/>
                    </a:p>
                  </a:txBody>
                  <a:tcPr marT="76200" marB="76200" marR="127000" marL="127000">
                    <a:solidFill>
                      <a:srgbClr val="24243A"/>
                    </a:solidFill>
                  </a:tcPr>
                </a:tc>
              </a:tr>
              <a:tr h="430000">
                <a:tc>
                  <a:txBody>
                    <a:bodyPr/>
                    <a:lstStyle/>
                    <a:p>
                      <a:pPr indent="0" lvl="0" marL="0" marR="0" rtl="0" algn="l">
                        <a:spcBef>
                          <a:spcPts val="0"/>
                        </a:spcBef>
                        <a:spcAft>
                          <a:spcPts val="0"/>
                        </a:spcAft>
                        <a:buNone/>
                      </a:pPr>
                      <a:r>
                        <a:rPr lang="en-US" sz="1700" u="none" cap="none" strike="noStrike">
                          <a:solidFill>
                            <a:srgbClr val="CDD6F4"/>
                          </a:solidFill>
                          <a:latin typeface="Calibri"/>
                          <a:ea typeface="Calibri"/>
                          <a:cs typeface="Calibri"/>
                          <a:sym typeface="Calibri"/>
                        </a:rPr>
                        <a:t>Uses tools/APIs</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700" u="none" cap="none" strike="noStrike">
                          <a:solidFill>
                            <a:srgbClr val="CDD6F4"/>
                          </a:solidFill>
                          <a:latin typeface="Calibri"/>
                          <a:ea typeface="Calibri"/>
                          <a:cs typeface="Calibri"/>
                          <a:sym typeface="Calibri"/>
                        </a:rPr>
                        <a:t>Very limited</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700" u="none" cap="none" strike="noStrike">
                          <a:solidFill>
                            <a:srgbClr val="CDD6F4"/>
                          </a:solidFill>
                          <a:latin typeface="Calibri"/>
                          <a:ea typeface="Calibri"/>
                          <a:cs typeface="Calibri"/>
                          <a:sym typeface="Calibri"/>
                        </a:rPr>
                        <a:t>Yes — search, APIs, files, etc.</a:t>
                      </a:r>
                      <a:endParaRPr/>
                    </a:p>
                  </a:txBody>
                  <a:tcPr marT="76200" marB="76200" marR="127000" marL="127000">
                    <a:solidFill>
                      <a:srgbClr val="24243A"/>
                    </a:solidFill>
                  </a:tcPr>
                </a:tc>
              </a:tr>
              <a:tr h="430000">
                <a:tc>
                  <a:txBody>
                    <a:bodyPr/>
                    <a:lstStyle/>
                    <a:p>
                      <a:pPr indent="0" lvl="0" marL="0" marR="0" rtl="0" algn="l">
                        <a:spcBef>
                          <a:spcPts val="0"/>
                        </a:spcBef>
                        <a:spcAft>
                          <a:spcPts val="0"/>
                        </a:spcAft>
                        <a:buNone/>
                      </a:pPr>
                      <a:r>
                        <a:rPr lang="en-US" sz="1700" u="none" cap="none" strike="noStrike">
                          <a:solidFill>
                            <a:srgbClr val="CDD6F4"/>
                          </a:solidFill>
                          <a:latin typeface="Calibri"/>
                          <a:ea typeface="Calibri"/>
                          <a:cs typeface="Calibri"/>
                          <a:sym typeface="Calibri"/>
                        </a:rPr>
                        <a:t>Pursues goals step by step</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700" u="none" cap="none" strike="noStrike">
                          <a:solidFill>
                            <a:srgbClr val="CDD6F4"/>
                          </a:solidFill>
                          <a:latin typeface="Calibri"/>
                          <a:ea typeface="Calibri"/>
                          <a:cs typeface="Calibri"/>
                          <a:sym typeface="Calibri"/>
                        </a:rPr>
                        <a:t>No</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700" u="none" cap="none" strike="noStrike">
                          <a:solidFill>
                            <a:srgbClr val="CDD6F4"/>
                          </a:solidFill>
                          <a:latin typeface="Calibri"/>
                          <a:ea typeface="Calibri"/>
                          <a:cs typeface="Calibri"/>
                          <a:sym typeface="Calibri"/>
                        </a:rPr>
                        <a:t>Yes — decomposes into steps</a:t>
                      </a:r>
                      <a:endParaRPr/>
                    </a:p>
                  </a:txBody>
                  <a:tcPr marT="76200" marB="76200" marR="127000" marL="127000">
                    <a:solidFill>
                      <a:srgbClr val="24243A"/>
                    </a:solidFill>
                  </a:tcPr>
                </a:tc>
              </a:tr>
              <a:tr h="430000">
                <a:tc>
                  <a:txBody>
                    <a:bodyPr/>
                    <a:lstStyle/>
                    <a:p>
                      <a:pPr indent="0" lvl="0" marL="0" marR="0" rtl="0" algn="l">
                        <a:spcBef>
                          <a:spcPts val="0"/>
                        </a:spcBef>
                        <a:spcAft>
                          <a:spcPts val="0"/>
                        </a:spcAft>
                        <a:buNone/>
                      </a:pPr>
                      <a:r>
                        <a:rPr lang="en-US" sz="1700" u="none" cap="none" strike="noStrike">
                          <a:solidFill>
                            <a:srgbClr val="CDD6F4"/>
                          </a:solidFill>
                          <a:latin typeface="Calibri"/>
                          <a:ea typeface="Calibri"/>
                          <a:cs typeface="Calibri"/>
                          <a:sym typeface="Calibri"/>
                        </a:rPr>
                        <a:t>Examples</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700" u="none" cap="none" strike="noStrike">
                          <a:solidFill>
                            <a:srgbClr val="CDD6F4"/>
                          </a:solidFill>
                          <a:latin typeface="Calibri"/>
                          <a:ea typeface="Calibri"/>
                          <a:cs typeface="Calibri"/>
                          <a:sym typeface="Calibri"/>
                        </a:rPr>
                        <a:t>ATM, Traffic Light, Alarm</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700" u="none" cap="none" strike="noStrike">
                          <a:solidFill>
                            <a:srgbClr val="CDD6F4"/>
                          </a:solidFill>
                          <a:latin typeface="Calibri"/>
                          <a:ea typeface="Calibri"/>
                          <a:cs typeface="Calibri"/>
                          <a:sym typeface="Calibri"/>
                        </a:rPr>
                        <a:t>Google Maps, Siri, Support Bot</a:t>
                      </a:r>
                      <a:endParaRPr/>
                    </a:p>
                  </a:txBody>
                  <a:tcPr marT="76200" marB="76200" marR="127000" marL="127000">
                    <a:solidFill>
                      <a:srgbClr val="24243A"/>
                    </a:solidFill>
                  </a:tcPr>
                </a:tc>
              </a:tr>
            </a:tbl>
          </a:graphicData>
        </a:graphic>
      </p:graphicFrame>
      <p:sp>
        <p:nvSpPr>
          <p:cNvPr id="116" name="Google Shape;116;p5"/>
          <p:cNvSpPr/>
          <p:nvPr/>
        </p:nvSpPr>
        <p:spPr>
          <a:xfrm>
            <a:off x="731520" y="5029200"/>
            <a:ext cx="5029200" cy="1371600"/>
          </a:xfrm>
          <a:prstGeom prst="roundRect">
            <a:avLst>
              <a:gd fmla="val 16667" name="adj"/>
            </a:avLst>
          </a:prstGeom>
          <a:solidFill>
            <a:srgbClr val="4527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AB387"/>
                </a:solidFill>
                <a:latin typeface="Calibri"/>
                <a:ea typeface="Calibri"/>
                <a:cs typeface="Calibri"/>
                <a:sym typeface="Calibri"/>
              </a:rPr>
              <a:t>Traditional = Fixed Recipe</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ATM: only PIN, balance, cash.</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Traffic light: red/yellow/green on a timer.</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If something unexpected happens, it breaks.</a:t>
            </a:r>
            <a:endParaRPr/>
          </a:p>
        </p:txBody>
      </p:sp>
      <p:sp>
        <p:nvSpPr>
          <p:cNvPr id="117" name="Google Shape;117;p5"/>
          <p:cNvSpPr/>
          <p:nvPr/>
        </p:nvSpPr>
        <p:spPr>
          <a:xfrm>
            <a:off x="6400800" y="5029200"/>
            <a:ext cx="5029200" cy="1371600"/>
          </a:xfrm>
          <a:prstGeom prst="roundRect">
            <a:avLst>
              <a:gd fmla="val 16667" name="adj"/>
            </a:avLst>
          </a:prstGeom>
          <a:solidFill>
            <a:srgbClr val="2735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A6E3A1"/>
                </a:solidFill>
                <a:latin typeface="Calibri"/>
                <a:ea typeface="Calibri"/>
                <a:cs typeface="Calibri"/>
                <a:sym typeface="Calibri"/>
              </a:rPr>
              <a:t>Agent = Thinks Toward a Goal</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Support bot: understands complaint,</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checks history, offers resolution.</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Smart traffic: reads cameras, adapts lights.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243A"/>
        </a:solidFill>
      </p:bgPr>
    </p:bg>
    <p:spTree>
      <p:nvGrpSpPr>
        <p:cNvPr id="121" name="Shape 121"/>
        <p:cNvGrpSpPr/>
        <p:nvPr/>
      </p:nvGrpSpPr>
      <p:grpSpPr>
        <a:xfrm>
          <a:off x="0" y="0"/>
          <a:ext cx="0" cy="0"/>
          <a:chOff x="0" y="0"/>
          <a:chExt cx="0" cy="0"/>
        </a:xfrm>
      </p:grpSpPr>
      <p:sp>
        <p:nvSpPr>
          <p:cNvPr id="122" name="Google Shape;122;p6"/>
          <p:cNvSpPr/>
          <p:nvPr/>
        </p:nvSpPr>
        <p:spPr>
          <a:xfrm>
            <a:off x="0" y="2926080"/>
            <a:ext cx="137160" cy="1005840"/>
          </a:xfrm>
          <a:prstGeom prst="rect">
            <a:avLst/>
          </a:prstGeom>
          <a:solidFill>
            <a:srgbClr val="89B4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6"/>
          <p:cNvSpPr txBox="1"/>
          <p:nvPr/>
        </p:nvSpPr>
        <p:spPr>
          <a:xfrm>
            <a:off x="731520" y="2286000"/>
            <a:ext cx="10058400" cy="13716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4400" u="none" cap="none" strike="noStrike">
                <a:solidFill>
                  <a:srgbClr val="FFFFFF"/>
                </a:solidFill>
                <a:latin typeface="Calibri"/>
                <a:ea typeface="Calibri"/>
                <a:cs typeface="Calibri"/>
                <a:sym typeface="Calibri"/>
              </a:rPr>
              <a:t>The Four Core Components</a:t>
            </a:r>
            <a:endParaRPr/>
          </a:p>
        </p:txBody>
      </p:sp>
      <p:sp>
        <p:nvSpPr>
          <p:cNvPr id="124" name="Google Shape;124;p6"/>
          <p:cNvSpPr txBox="1"/>
          <p:nvPr/>
        </p:nvSpPr>
        <p:spPr>
          <a:xfrm>
            <a:off x="731520" y="384048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0" i="0" lang="en-US" sz="2200" u="none" cap="none" strike="noStrike">
                <a:solidFill>
                  <a:srgbClr val="CDD6F4"/>
                </a:solidFill>
                <a:latin typeface="Calibri"/>
                <a:ea typeface="Calibri"/>
                <a:cs typeface="Calibri"/>
                <a:sym typeface="Calibri"/>
              </a:rPr>
              <a:t>Planning, Reasoning, Memory, and Action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28" name="Shape 128"/>
        <p:cNvGrpSpPr/>
        <p:nvPr/>
      </p:nvGrpSpPr>
      <p:grpSpPr>
        <a:xfrm>
          <a:off x="0" y="0"/>
          <a:ext cx="0" cy="0"/>
          <a:chOff x="0" y="0"/>
          <a:chExt cx="0" cy="0"/>
        </a:xfrm>
      </p:grpSpPr>
      <p:sp>
        <p:nvSpPr>
          <p:cNvPr id="129" name="Google Shape;129;p7"/>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The Four Pillars of Every AI Agent</a:t>
            </a:r>
            <a:endParaRPr/>
          </a:p>
        </p:txBody>
      </p:sp>
      <p:sp>
        <p:nvSpPr>
          <p:cNvPr id="130" name="Google Shape;130;p7"/>
          <p:cNvSpPr/>
          <p:nvPr/>
        </p:nvSpPr>
        <p:spPr>
          <a:xfrm>
            <a:off x="731520" y="1371600"/>
            <a:ext cx="5029200" cy="1188720"/>
          </a:xfrm>
          <a:prstGeom prst="roundRect">
            <a:avLst>
              <a:gd fmla="val 16667" name="adj"/>
            </a:avLst>
          </a:prstGeom>
          <a:solidFill>
            <a:srgbClr val="27274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89B4FA"/>
                </a:solidFill>
                <a:latin typeface="Calibri"/>
                <a:ea typeface="Calibri"/>
                <a:cs typeface="Calibri"/>
                <a:sym typeface="Calibri"/>
              </a:rPr>
              <a:t>1. Planning</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Deciding what steps to take to reach the goal</a:t>
            </a:r>
            <a:endParaRPr/>
          </a:p>
        </p:txBody>
      </p:sp>
      <p:sp>
        <p:nvSpPr>
          <p:cNvPr id="131" name="Google Shape;131;p7"/>
          <p:cNvSpPr/>
          <p:nvPr/>
        </p:nvSpPr>
        <p:spPr>
          <a:xfrm>
            <a:off x="6400800" y="1371600"/>
            <a:ext cx="5029200" cy="1188720"/>
          </a:xfrm>
          <a:prstGeom prst="roundRect">
            <a:avLst>
              <a:gd fmla="val 16667" name="adj"/>
            </a:avLst>
          </a:prstGeom>
          <a:solidFill>
            <a:srgbClr val="2735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A6E3A1"/>
                </a:solidFill>
                <a:latin typeface="Calibri"/>
                <a:ea typeface="Calibri"/>
                <a:cs typeface="Calibri"/>
                <a:sym typeface="Calibri"/>
              </a:rPr>
              <a:t>2. Reasoning</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Thinking through information to make the right decisions</a:t>
            </a:r>
            <a:endParaRPr/>
          </a:p>
        </p:txBody>
      </p:sp>
      <p:sp>
        <p:nvSpPr>
          <p:cNvPr id="132" name="Google Shape;132;p7"/>
          <p:cNvSpPr/>
          <p:nvPr/>
        </p:nvSpPr>
        <p:spPr>
          <a:xfrm>
            <a:off x="731520" y="2834640"/>
            <a:ext cx="5029200" cy="1188720"/>
          </a:xfrm>
          <a:prstGeom prst="roundRect">
            <a:avLst>
              <a:gd fmla="val 16667" name="adj"/>
            </a:avLst>
          </a:prstGeom>
          <a:solidFill>
            <a:srgbClr val="35273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9E2AF"/>
                </a:solidFill>
                <a:latin typeface="Calibri"/>
                <a:ea typeface="Calibri"/>
                <a:cs typeface="Calibri"/>
                <a:sym typeface="Calibri"/>
              </a:rPr>
              <a:t>3. Memory</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Remembering what happened to avoid repeating work</a:t>
            </a:r>
            <a:endParaRPr/>
          </a:p>
        </p:txBody>
      </p:sp>
      <p:sp>
        <p:nvSpPr>
          <p:cNvPr id="133" name="Google Shape;133;p7"/>
          <p:cNvSpPr/>
          <p:nvPr/>
        </p:nvSpPr>
        <p:spPr>
          <a:xfrm>
            <a:off x="6400800" y="2834640"/>
            <a:ext cx="5029200" cy="1188720"/>
          </a:xfrm>
          <a:prstGeom prst="roundRect">
            <a:avLst>
              <a:gd fmla="val 16667" name="adj"/>
            </a:avLst>
          </a:prstGeom>
          <a:solidFill>
            <a:srgbClr val="4527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AB387"/>
                </a:solidFill>
                <a:latin typeface="Calibri"/>
                <a:ea typeface="Calibri"/>
                <a:cs typeface="Calibri"/>
                <a:sym typeface="Calibri"/>
              </a:rPr>
              <a:t>4. Action</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Actually doing something in the real world</a:t>
            </a:r>
            <a:endParaRPr/>
          </a:p>
        </p:txBody>
      </p:sp>
      <p:sp>
        <p:nvSpPr>
          <p:cNvPr id="134" name="Google Shape;134;p7"/>
          <p:cNvSpPr txBox="1"/>
          <p:nvPr/>
        </p:nvSpPr>
        <p:spPr>
          <a:xfrm>
            <a:off x="731520" y="4389120"/>
            <a:ext cx="10515600" cy="457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400" u="none" cap="none" strike="noStrike">
                <a:solidFill>
                  <a:srgbClr val="F9E2AF"/>
                </a:solidFill>
                <a:latin typeface="Calibri"/>
                <a:ea typeface="Calibri"/>
                <a:cs typeface="Calibri"/>
                <a:sym typeface="Calibri"/>
              </a:rPr>
              <a:t>The Secretary Metaphor</a:t>
            </a:r>
            <a:endParaRPr/>
          </a:p>
        </p:txBody>
      </p:sp>
      <p:sp>
        <p:nvSpPr>
          <p:cNvPr id="135" name="Google Shape;135;p7"/>
          <p:cNvSpPr txBox="1"/>
          <p:nvPr/>
        </p:nvSpPr>
        <p:spPr>
          <a:xfrm>
            <a:off x="731520" y="4846320"/>
            <a:ext cx="10515600" cy="18288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900" u="none" cap="none" strike="noStrike">
                <a:solidFill>
                  <a:srgbClr val="CDD6F4"/>
                </a:solidFill>
                <a:latin typeface="Calibri"/>
                <a:ea typeface="Calibri"/>
                <a:cs typeface="Calibri"/>
                <a:sym typeface="Calibri"/>
              </a:rPr>
              <a:t>Boss says: "Organize the annual company event for 200 people next month."</a:t>
            </a:r>
            <a:endParaRPr/>
          </a:p>
          <a:p>
            <a:pPr indent="0" lvl="0" marL="0" marR="0" rtl="0" algn="l">
              <a:spcBef>
                <a:spcPts val="1000"/>
              </a:spcBef>
              <a:spcAft>
                <a:spcPts val="0"/>
              </a:spcAft>
              <a:buNone/>
            </a:pPr>
            <a:r>
              <a:rPr b="0" i="0" lang="en-US" sz="1900" u="none" cap="none" strike="noStrike">
                <a:solidFill>
                  <a:srgbClr val="CDD6F4"/>
                </a:solidFill>
                <a:latin typeface="Calibri"/>
                <a:ea typeface="Calibri"/>
                <a:cs typeface="Calibri"/>
                <a:sym typeface="Calibri"/>
              </a:rPr>
              <a:t>Secretary Plans (what needs doing) -&gt; Reasons (Hotel A or B?) -&gt; Checks Memory (past events, vendors) -&gt; Acts (books venue, sends invites)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39" name="Shape 139"/>
        <p:cNvGrpSpPr/>
        <p:nvPr/>
      </p:nvGrpSpPr>
      <p:grpSpPr>
        <a:xfrm>
          <a:off x="0" y="0"/>
          <a:ext cx="0" cy="0"/>
          <a:chOff x="0" y="0"/>
          <a:chExt cx="0" cy="0"/>
        </a:xfrm>
      </p:grpSpPr>
      <p:sp>
        <p:nvSpPr>
          <p:cNvPr id="140" name="Google Shape;140;p8"/>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Component 1: Planning</a:t>
            </a:r>
            <a:endParaRPr/>
          </a:p>
        </p:txBody>
      </p:sp>
      <p:sp>
        <p:nvSpPr>
          <p:cNvPr id="141" name="Google Shape;141;p8"/>
          <p:cNvSpPr txBox="1"/>
          <p:nvPr/>
        </p:nvSpPr>
        <p:spPr>
          <a:xfrm>
            <a:off x="731520" y="1371600"/>
            <a:ext cx="5029200" cy="22860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2000" u="none" cap="none" strike="noStrike">
                <a:solidFill>
                  <a:srgbClr val="CDD6F4"/>
                </a:solidFill>
                <a:latin typeface="Calibri"/>
                <a:ea typeface="Calibri"/>
                <a:cs typeface="Calibri"/>
                <a:sym typeface="Calibri"/>
              </a:rPr>
              <a:t>Breaking a high-level goal into smaller,</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logically ordered, actionable steps</a:t>
            </a:r>
            <a:endParaRPr/>
          </a:p>
          <a:p>
            <a:pPr indent="0" lvl="0" marL="0" marR="0" rtl="0" algn="l">
              <a:spcBef>
                <a:spcPts val="1200"/>
              </a:spcBef>
              <a:spcAft>
                <a:spcPts val="0"/>
              </a:spcAft>
              <a:buNone/>
            </a:pPr>
            <a:r>
              <a:rPr b="0" i="0" lang="en-US" sz="2000" u="none" cap="none" strike="noStrike">
                <a:solidFill>
                  <a:srgbClr val="CDD6F4"/>
                </a:solidFill>
                <a:latin typeface="Calibri"/>
                <a:ea typeface="Calibri"/>
                <a:cs typeface="Calibri"/>
                <a:sym typeface="Calibri"/>
              </a:rPr>
              <a:t>The agent asks: "What do I need to do,</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and in what order?"</a:t>
            </a:r>
            <a:endParaRPr/>
          </a:p>
          <a:p>
            <a:pPr indent="0" lvl="0" marL="0" marR="0" rtl="0" algn="l">
              <a:spcBef>
                <a:spcPts val="1200"/>
              </a:spcBef>
              <a:spcAft>
                <a:spcPts val="0"/>
              </a:spcAft>
              <a:buNone/>
            </a:pPr>
            <a:r>
              <a:rPr b="0" i="0" lang="en-US" sz="2000" u="none" cap="none" strike="noStrike">
                <a:solidFill>
                  <a:srgbClr val="CDD6F4"/>
                </a:solidFill>
                <a:latin typeface="Calibri"/>
                <a:ea typeface="Calibri"/>
                <a:cs typeface="Calibri"/>
                <a:sym typeface="Calibri"/>
              </a:rPr>
              <a:t>ORDER MATTERS — you can't pay</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before filling passenger details!</a:t>
            </a:r>
            <a:endParaRPr/>
          </a:p>
        </p:txBody>
      </p:sp>
      <p:sp>
        <p:nvSpPr>
          <p:cNvPr id="142" name="Google Shape;142;p8"/>
          <p:cNvSpPr txBox="1"/>
          <p:nvPr/>
        </p:nvSpPr>
        <p:spPr>
          <a:xfrm>
            <a:off x="731520" y="3840480"/>
            <a:ext cx="5029200" cy="457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000" u="none" cap="none" strike="noStrike">
                <a:solidFill>
                  <a:srgbClr val="F9E2AF"/>
                </a:solidFill>
                <a:latin typeface="Calibri"/>
                <a:ea typeface="Calibri"/>
                <a:cs typeface="Calibri"/>
                <a:sym typeface="Calibri"/>
              </a:rPr>
              <a:t>Example: Booking a Train on IRCTC</a:t>
            </a:r>
            <a:endParaRPr/>
          </a:p>
        </p:txBody>
      </p:sp>
      <p:sp>
        <p:nvSpPr>
          <p:cNvPr id="143" name="Google Shape;143;p8"/>
          <p:cNvSpPr txBox="1"/>
          <p:nvPr/>
        </p:nvSpPr>
        <p:spPr>
          <a:xfrm>
            <a:off x="731520" y="4297680"/>
            <a:ext cx="5029200" cy="22860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700" u="none" cap="none" strike="noStrike">
                <a:solidFill>
                  <a:srgbClr val="CDD6F4"/>
                </a:solidFill>
                <a:latin typeface="Calibri"/>
                <a:ea typeface="Calibri"/>
                <a:cs typeface="Calibri"/>
                <a:sym typeface="Calibri"/>
              </a:rPr>
              <a:t>1. Search trains between cities</a:t>
            </a:r>
            <a:endParaRPr/>
          </a:p>
          <a:p>
            <a:pPr indent="0" lvl="0" marL="0" marR="0" rtl="0" algn="l">
              <a:spcBef>
                <a:spcPts val="600"/>
              </a:spcBef>
              <a:spcAft>
                <a:spcPts val="0"/>
              </a:spcAft>
              <a:buNone/>
            </a:pPr>
            <a:r>
              <a:rPr b="0" i="0" lang="en-US" sz="1700" u="none" cap="none" strike="noStrike">
                <a:solidFill>
                  <a:srgbClr val="CDD6F4"/>
                </a:solidFill>
                <a:latin typeface="Calibri"/>
                <a:ea typeface="Calibri"/>
                <a:cs typeface="Calibri"/>
                <a:sym typeface="Calibri"/>
              </a:rPr>
              <a:t>2. Check seat availability</a:t>
            </a:r>
            <a:endParaRPr/>
          </a:p>
          <a:p>
            <a:pPr indent="0" lvl="0" marL="0" marR="0" rtl="0" algn="l">
              <a:spcBef>
                <a:spcPts val="600"/>
              </a:spcBef>
              <a:spcAft>
                <a:spcPts val="0"/>
              </a:spcAft>
              <a:buNone/>
            </a:pPr>
            <a:r>
              <a:rPr b="0" i="0" lang="en-US" sz="1700" u="none" cap="none" strike="noStrike">
                <a:solidFill>
                  <a:srgbClr val="CDD6F4"/>
                </a:solidFill>
                <a:latin typeface="Calibri"/>
                <a:ea typeface="Calibri"/>
                <a:cs typeface="Calibri"/>
                <a:sym typeface="Calibri"/>
              </a:rPr>
              <a:t>3. Select train and seat type</a:t>
            </a:r>
            <a:endParaRPr/>
          </a:p>
          <a:p>
            <a:pPr indent="0" lvl="0" marL="0" marR="0" rtl="0" algn="l">
              <a:spcBef>
                <a:spcPts val="600"/>
              </a:spcBef>
              <a:spcAft>
                <a:spcPts val="0"/>
              </a:spcAft>
              <a:buNone/>
            </a:pPr>
            <a:r>
              <a:rPr b="0" i="0" lang="en-US" sz="1700" u="none" cap="none" strike="noStrike">
                <a:solidFill>
                  <a:srgbClr val="CDD6F4"/>
                </a:solidFill>
                <a:latin typeface="Calibri"/>
                <a:ea typeface="Calibri"/>
                <a:cs typeface="Calibri"/>
                <a:sym typeface="Calibri"/>
              </a:rPr>
              <a:t>4. Fill passenger details</a:t>
            </a:r>
            <a:endParaRPr/>
          </a:p>
          <a:p>
            <a:pPr indent="0" lvl="0" marL="0" marR="0" rtl="0" algn="l">
              <a:spcBef>
                <a:spcPts val="600"/>
              </a:spcBef>
              <a:spcAft>
                <a:spcPts val="0"/>
              </a:spcAft>
              <a:buNone/>
            </a:pPr>
            <a:r>
              <a:rPr b="0" i="0" lang="en-US" sz="1700" u="none" cap="none" strike="noStrike">
                <a:solidFill>
                  <a:srgbClr val="CDD6F4"/>
                </a:solidFill>
                <a:latin typeface="Calibri"/>
                <a:ea typeface="Calibri"/>
                <a:cs typeface="Calibri"/>
                <a:sym typeface="Calibri"/>
              </a:rPr>
              <a:t>5. Make payment</a:t>
            </a:r>
            <a:endParaRPr/>
          </a:p>
          <a:p>
            <a:pPr indent="0" lvl="0" marL="0" marR="0" rtl="0" algn="l">
              <a:spcBef>
                <a:spcPts val="600"/>
              </a:spcBef>
              <a:spcAft>
                <a:spcPts val="0"/>
              </a:spcAft>
              <a:buNone/>
            </a:pPr>
            <a:r>
              <a:rPr b="0" i="0" lang="en-US" sz="1700" u="none" cap="none" strike="noStrike">
                <a:solidFill>
                  <a:srgbClr val="CDD6F4"/>
                </a:solidFill>
                <a:latin typeface="Calibri"/>
                <a:ea typeface="Calibri"/>
                <a:cs typeface="Calibri"/>
                <a:sym typeface="Calibri"/>
              </a:rPr>
              <a:t>6. Download confirmed ticket</a:t>
            </a:r>
            <a:endParaRPr/>
          </a:p>
        </p:txBody>
      </p:sp>
      <p:sp>
        <p:nvSpPr>
          <p:cNvPr id="144" name="Google Shape;144;p8"/>
          <p:cNvSpPr txBox="1"/>
          <p:nvPr/>
        </p:nvSpPr>
        <p:spPr>
          <a:xfrm>
            <a:off x="6400800" y="1371600"/>
            <a:ext cx="5029200" cy="457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000" u="none" cap="none" strike="noStrike">
                <a:solidFill>
                  <a:srgbClr val="F9E2AF"/>
                </a:solidFill>
                <a:latin typeface="Calibri"/>
                <a:ea typeface="Calibri"/>
                <a:cs typeface="Calibri"/>
                <a:sym typeface="Calibri"/>
              </a:rPr>
              <a:t>How Planning Works Inside an Agent</a:t>
            </a:r>
            <a:endParaRPr/>
          </a:p>
        </p:txBody>
      </p:sp>
      <p:sp>
        <p:nvSpPr>
          <p:cNvPr id="145" name="Google Shape;145;p8"/>
          <p:cNvSpPr txBox="1"/>
          <p:nvPr/>
        </p:nvSpPr>
        <p:spPr>
          <a:xfrm>
            <a:off x="6400800" y="1920240"/>
            <a:ext cx="5029200" cy="22860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800" u="none" cap="none" strike="noStrike">
                <a:solidFill>
                  <a:srgbClr val="CDD6F4"/>
                </a:solidFill>
                <a:latin typeface="Calibri"/>
                <a:ea typeface="Calibri"/>
                <a:cs typeface="Calibri"/>
                <a:sym typeface="Calibri"/>
              </a:rPr>
              <a:t>1. Receives a goal from the user</a:t>
            </a:r>
            <a:endParaRPr/>
          </a:p>
          <a:p>
            <a:pPr indent="0" lvl="0" marL="0" marR="0" rtl="0" algn="l">
              <a:spcBef>
                <a:spcPts val="1000"/>
              </a:spcBef>
              <a:spcAft>
                <a:spcPts val="0"/>
              </a:spcAft>
              <a:buNone/>
            </a:pPr>
            <a:r>
              <a:rPr b="0" i="0" lang="en-US" sz="1800" u="none" cap="none" strike="noStrike">
                <a:solidFill>
                  <a:srgbClr val="CDD6F4"/>
                </a:solidFill>
                <a:latin typeface="Calibri"/>
                <a:ea typeface="Calibri"/>
                <a:cs typeface="Calibri"/>
                <a:sym typeface="Calibri"/>
              </a:rPr>
              <a:t>2. Decomposes it into sub-tasks</a:t>
            </a:r>
            <a:endParaRPr/>
          </a:p>
          <a:p>
            <a:pPr indent="0" lvl="0" marL="0" marR="0" rtl="0" algn="l">
              <a:spcBef>
                <a:spcPts val="1000"/>
              </a:spcBef>
              <a:spcAft>
                <a:spcPts val="0"/>
              </a:spcAft>
              <a:buNone/>
            </a:pPr>
            <a:r>
              <a:rPr b="0" i="0" lang="en-US" sz="1800" u="none" cap="none" strike="noStrike">
                <a:solidFill>
                  <a:srgbClr val="CDD6F4"/>
                </a:solidFill>
                <a:latin typeface="Calibri"/>
                <a:ea typeface="Calibri"/>
                <a:cs typeface="Calibri"/>
                <a:sym typeface="Calibri"/>
              </a:rPr>
              <a:t>3. Orders sub-tasks logically</a:t>
            </a:r>
            <a:endParaRPr/>
          </a:p>
          <a:p>
            <a:pPr indent="0" lvl="0" marL="0" marR="0" rtl="0" algn="l">
              <a:spcBef>
                <a:spcPts val="1000"/>
              </a:spcBef>
              <a:spcAft>
                <a:spcPts val="0"/>
              </a:spcAft>
              <a:buNone/>
            </a:pPr>
            <a:r>
              <a:rPr b="0" i="0" lang="en-US" sz="1800" u="none" cap="none" strike="noStrike">
                <a:solidFill>
                  <a:srgbClr val="CDD6F4"/>
                </a:solidFill>
                <a:latin typeface="Calibri"/>
                <a:ea typeface="Calibri"/>
                <a:cs typeface="Calibri"/>
                <a:sym typeface="Calibri"/>
              </a:rPr>
              <a:t>4. Tracks which steps are done</a:t>
            </a:r>
            <a:endParaRPr/>
          </a:p>
          <a:p>
            <a:pPr indent="0" lvl="0" marL="0" marR="0" rtl="0" algn="l">
              <a:spcBef>
                <a:spcPts val="1000"/>
              </a:spcBef>
              <a:spcAft>
                <a:spcPts val="0"/>
              </a:spcAft>
              <a:buNone/>
            </a:pPr>
            <a:r>
              <a:rPr b="0" i="0" lang="en-US" sz="1800" u="none" cap="none" strike="noStrike">
                <a:solidFill>
                  <a:srgbClr val="CDD6F4"/>
                </a:solidFill>
                <a:latin typeface="Calibri"/>
                <a:ea typeface="Calibri"/>
                <a:cs typeface="Calibri"/>
                <a:sym typeface="Calibri"/>
              </a:rPr>
              <a:t>5. Goal complete when all done</a:t>
            </a:r>
            <a:endParaRPr/>
          </a:p>
        </p:txBody>
      </p:sp>
      <p:sp>
        <p:nvSpPr>
          <p:cNvPr id="146" name="Google Shape;146;p8"/>
          <p:cNvSpPr/>
          <p:nvPr/>
        </p:nvSpPr>
        <p:spPr>
          <a:xfrm>
            <a:off x="6400800" y="4389120"/>
            <a:ext cx="5029200" cy="1828800"/>
          </a:xfrm>
          <a:prstGeom prst="roundRect">
            <a:avLst>
              <a:gd fmla="val 16667" name="adj"/>
            </a:avLst>
          </a:prstGeom>
          <a:solidFill>
            <a:srgbClr val="4527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AB387"/>
                </a:solidFill>
                <a:latin typeface="Calibri"/>
                <a:ea typeface="Calibri"/>
                <a:cs typeface="Calibri"/>
                <a:sym typeface="Calibri"/>
              </a:rPr>
              <a:t>Without Planning = Disaster</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Like cooking biryani without sequence:</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add raw chicken before marinating,</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salt at end, forgot spices in the middle.</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Result = a complete mess!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50" name="Shape 150"/>
        <p:cNvGrpSpPr/>
        <p:nvPr/>
      </p:nvGrpSpPr>
      <p:grpSpPr>
        <a:xfrm>
          <a:off x="0" y="0"/>
          <a:ext cx="0" cy="0"/>
          <a:chOff x="0" y="0"/>
          <a:chExt cx="0" cy="0"/>
        </a:xfrm>
      </p:grpSpPr>
      <p:sp>
        <p:nvSpPr>
          <p:cNvPr id="151" name="Google Shape;151;p9"/>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Planning — The Python Connection</a:t>
            </a:r>
            <a:endParaRPr/>
          </a:p>
        </p:txBody>
      </p:sp>
      <p:sp>
        <p:nvSpPr>
          <p:cNvPr id="152" name="Google Shape;152;p9"/>
          <p:cNvSpPr txBox="1"/>
          <p:nvPr/>
        </p:nvSpPr>
        <p:spPr>
          <a:xfrm>
            <a:off x="731520" y="1371600"/>
            <a:ext cx="5029200" cy="457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200" u="none" cap="none" strike="noStrike">
                <a:solidFill>
                  <a:srgbClr val="F9E2AF"/>
                </a:solidFill>
                <a:latin typeface="Calibri"/>
                <a:ea typeface="Calibri"/>
                <a:cs typeface="Calibri"/>
                <a:sym typeface="Calibri"/>
              </a:rPr>
              <a:t>A plan is just a list of steps!</a:t>
            </a:r>
            <a:endParaRPr/>
          </a:p>
        </p:txBody>
      </p:sp>
      <p:sp>
        <p:nvSpPr>
          <p:cNvPr id="153" name="Google Shape;153;p9"/>
          <p:cNvSpPr/>
          <p:nvPr/>
        </p:nvSpPr>
        <p:spPr>
          <a:xfrm>
            <a:off x="731525" y="1920252"/>
            <a:ext cx="4992600" cy="3930900"/>
          </a:xfrm>
          <a:prstGeom prst="roundRect">
            <a:avLst>
              <a:gd fmla="val 16667" name="adj"/>
            </a:avLst>
          </a:prstGeom>
          <a:solidFill>
            <a:srgbClr val="313244"/>
          </a:solidFill>
          <a:ln>
            <a:noFill/>
          </a:ln>
        </p:spPr>
        <p:txBody>
          <a:bodyPr anchorCtr="0" anchor="ctr" bIns="177800" lIns="228600" spcFirstLastPara="1" rIns="228600" wrap="square" tIns="177800">
            <a:noAutofit/>
          </a:bodyPr>
          <a:lstStyle/>
          <a:p>
            <a:pPr indent="0" lvl="0" marL="0" marR="0" rtl="0" algn="l">
              <a:spcBef>
                <a:spcPts val="0"/>
              </a:spcBef>
              <a:spcAft>
                <a:spcPts val="0"/>
              </a:spcAft>
              <a:buNone/>
            </a:pPr>
            <a:r>
              <a:rPr b="0" i="0" lang="en-US" sz="1700" u="none" cap="none" strike="noStrike">
                <a:solidFill>
                  <a:srgbClr val="A6E3A1"/>
                </a:solidFill>
                <a:latin typeface="Courier New"/>
                <a:ea typeface="Courier New"/>
                <a:cs typeface="Courier New"/>
                <a:sym typeface="Courier New"/>
              </a:rPr>
              <a:t>plan = [</a:t>
            </a:r>
            <a:endParaRPr/>
          </a:p>
          <a:p>
            <a:pPr indent="0" lvl="0" marL="0" marR="0" rtl="0" algn="l">
              <a:spcBef>
                <a:spcPts val="300"/>
              </a:spcBef>
              <a:spcAft>
                <a:spcPts val="0"/>
              </a:spcAft>
              <a:buNone/>
            </a:pPr>
            <a:r>
              <a:rPr b="0" i="0" lang="en-US" sz="1700" u="none" cap="none" strike="noStrike">
                <a:solidFill>
                  <a:srgbClr val="A6E3A1"/>
                </a:solidFill>
                <a:latin typeface="Courier New"/>
                <a:ea typeface="Courier New"/>
                <a:cs typeface="Courier New"/>
                <a:sym typeface="Courier New"/>
              </a:rPr>
              <a:t>    "search_for_trains",</a:t>
            </a:r>
            <a:endParaRPr/>
          </a:p>
          <a:p>
            <a:pPr indent="0" lvl="0" marL="0" marR="0" rtl="0" algn="l">
              <a:spcBef>
                <a:spcPts val="300"/>
              </a:spcBef>
              <a:spcAft>
                <a:spcPts val="0"/>
              </a:spcAft>
              <a:buNone/>
            </a:pPr>
            <a:r>
              <a:rPr b="0" i="0" lang="en-US" sz="1700" u="none" cap="none" strike="noStrike">
                <a:solidFill>
                  <a:srgbClr val="A6E3A1"/>
                </a:solidFill>
                <a:latin typeface="Courier New"/>
                <a:ea typeface="Courier New"/>
                <a:cs typeface="Courier New"/>
                <a:sym typeface="Courier New"/>
              </a:rPr>
              <a:t>    "check_seat_availability",</a:t>
            </a:r>
            <a:endParaRPr/>
          </a:p>
          <a:p>
            <a:pPr indent="0" lvl="0" marL="0" marR="0" rtl="0" algn="l">
              <a:spcBef>
                <a:spcPts val="300"/>
              </a:spcBef>
              <a:spcAft>
                <a:spcPts val="0"/>
              </a:spcAft>
              <a:buNone/>
            </a:pPr>
            <a:r>
              <a:rPr b="0" i="0" lang="en-US" sz="1700" u="none" cap="none" strike="noStrike">
                <a:solidFill>
                  <a:srgbClr val="A6E3A1"/>
                </a:solidFill>
                <a:latin typeface="Courier New"/>
                <a:ea typeface="Courier New"/>
                <a:cs typeface="Courier New"/>
                <a:sym typeface="Courier New"/>
              </a:rPr>
              <a:t>    "fill_passenger_details",</a:t>
            </a:r>
            <a:endParaRPr/>
          </a:p>
          <a:p>
            <a:pPr indent="0" lvl="0" marL="0" marR="0" rtl="0" algn="l">
              <a:spcBef>
                <a:spcPts val="300"/>
              </a:spcBef>
              <a:spcAft>
                <a:spcPts val="0"/>
              </a:spcAft>
              <a:buNone/>
            </a:pPr>
            <a:r>
              <a:rPr b="0" i="0" lang="en-US" sz="1700" u="none" cap="none" strike="noStrike">
                <a:solidFill>
                  <a:srgbClr val="A6E3A1"/>
                </a:solidFill>
                <a:latin typeface="Courier New"/>
                <a:ea typeface="Courier New"/>
                <a:cs typeface="Courier New"/>
                <a:sym typeface="Courier New"/>
              </a:rPr>
              <a:t>    "make_payment",</a:t>
            </a:r>
            <a:endParaRPr/>
          </a:p>
          <a:p>
            <a:pPr indent="0" lvl="0" marL="0" marR="0" rtl="0" algn="l">
              <a:spcBef>
                <a:spcPts val="300"/>
              </a:spcBef>
              <a:spcAft>
                <a:spcPts val="0"/>
              </a:spcAft>
              <a:buNone/>
            </a:pPr>
            <a:r>
              <a:rPr b="0" i="0" lang="en-US" sz="1700" u="none" cap="none" strike="noStrike">
                <a:solidFill>
                  <a:srgbClr val="A6E3A1"/>
                </a:solidFill>
                <a:latin typeface="Courier New"/>
                <a:ea typeface="Courier New"/>
                <a:cs typeface="Courier New"/>
                <a:sym typeface="Courier New"/>
              </a:rPr>
              <a:t>    "download_ticket"</a:t>
            </a:r>
            <a:endParaRPr/>
          </a:p>
          <a:p>
            <a:pPr indent="0" lvl="0" marL="0" marR="0" rtl="0" algn="l">
              <a:spcBef>
                <a:spcPts val="300"/>
              </a:spcBef>
              <a:spcAft>
                <a:spcPts val="0"/>
              </a:spcAft>
              <a:buNone/>
            </a:pPr>
            <a:r>
              <a:rPr b="0" i="0" lang="en-US" sz="1700" u="none" cap="none" strike="noStrike">
                <a:solidFill>
                  <a:srgbClr val="A6E3A1"/>
                </a:solidFill>
                <a:latin typeface="Courier New"/>
                <a:ea typeface="Courier New"/>
                <a:cs typeface="Courier New"/>
                <a:sym typeface="Courier New"/>
              </a:rPr>
              <a:t>]</a:t>
            </a:r>
            <a:endParaRPr/>
          </a:p>
          <a:p>
            <a:pPr indent="0" lvl="0" marL="0" marR="0" rtl="0" algn="l">
              <a:spcBef>
                <a:spcPts val="300"/>
              </a:spcBef>
              <a:spcAft>
                <a:spcPts val="0"/>
              </a:spcAft>
              <a:buNone/>
            </a:pPr>
            <a:r>
              <a:t/>
            </a:r>
            <a:endParaRPr b="0" i="0" sz="1700" u="none" cap="none" strike="noStrike">
              <a:solidFill>
                <a:srgbClr val="A6E3A1"/>
              </a:solidFill>
              <a:latin typeface="Courier New"/>
              <a:ea typeface="Courier New"/>
              <a:cs typeface="Courier New"/>
              <a:sym typeface="Courier New"/>
            </a:endParaRPr>
          </a:p>
          <a:p>
            <a:pPr indent="0" lvl="0" marL="0" marR="0" rtl="0" algn="l">
              <a:spcBef>
                <a:spcPts val="300"/>
              </a:spcBef>
              <a:spcAft>
                <a:spcPts val="0"/>
              </a:spcAft>
              <a:buNone/>
            </a:pPr>
            <a:r>
              <a:rPr b="0" i="0" lang="en-US" sz="1700" u="none" cap="none" strike="noStrike">
                <a:solidFill>
                  <a:srgbClr val="A6E3A1"/>
                </a:solidFill>
                <a:latin typeface="Courier New"/>
                <a:ea typeface="Courier New"/>
                <a:cs typeface="Courier New"/>
                <a:sym typeface="Courier New"/>
              </a:rPr>
              <a:t># Agent goes through one by one</a:t>
            </a:r>
            <a:endParaRPr/>
          </a:p>
          <a:p>
            <a:pPr indent="0" lvl="0" marL="0" marR="0" rtl="0" algn="l">
              <a:spcBef>
                <a:spcPts val="300"/>
              </a:spcBef>
              <a:spcAft>
                <a:spcPts val="0"/>
              </a:spcAft>
              <a:buNone/>
            </a:pPr>
            <a:r>
              <a:rPr b="0" i="0" lang="en-US" sz="1700" u="none" cap="none" strike="noStrike">
                <a:solidFill>
                  <a:srgbClr val="A6E3A1"/>
                </a:solidFill>
                <a:latin typeface="Courier New"/>
                <a:ea typeface="Courier New"/>
                <a:cs typeface="Courier New"/>
                <a:sym typeface="Courier New"/>
              </a:rPr>
              <a:t>for step in plan:</a:t>
            </a:r>
            <a:endParaRPr/>
          </a:p>
          <a:p>
            <a:pPr indent="0" lvl="0" marL="0" marR="0" rtl="0" algn="l">
              <a:spcBef>
                <a:spcPts val="300"/>
              </a:spcBef>
              <a:spcAft>
                <a:spcPts val="0"/>
              </a:spcAft>
              <a:buNone/>
            </a:pPr>
            <a:r>
              <a:rPr b="0" i="0" lang="en-US" sz="1700" u="none" cap="none" strike="noStrike">
                <a:solidFill>
                  <a:srgbClr val="A6E3A1"/>
                </a:solidFill>
                <a:latin typeface="Courier New"/>
                <a:ea typeface="Courier New"/>
                <a:cs typeface="Courier New"/>
                <a:sym typeface="Courier New"/>
              </a:rPr>
              <a:t>    execute(step)</a:t>
            </a:r>
            <a:endParaRPr/>
          </a:p>
        </p:txBody>
      </p:sp>
      <p:sp>
        <p:nvSpPr>
          <p:cNvPr id="154" name="Google Shape;154;p9"/>
          <p:cNvSpPr txBox="1"/>
          <p:nvPr/>
        </p:nvSpPr>
        <p:spPr>
          <a:xfrm>
            <a:off x="6400800" y="1371600"/>
            <a:ext cx="5029200" cy="457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200" u="none" cap="none" strike="noStrike">
                <a:solidFill>
                  <a:srgbClr val="F9E2AF"/>
                </a:solidFill>
                <a:latin typeface="Calibri"/>
                <a:ea typeface="Calibri"/>
                <a:cs typeface="Calibri"/>
                <a:sym typeface="Calibri"/>
              </a:rPr>
              <a:t>Cricket Captain Analogy</a:t>
            </a:r>
            <a:endParaRPr/>
          </a:p>
        </p:txBody>
      </p:sp>
      <p:sp>
        <p:nvSpPr>
          <p:cNvPr id="155" name="Google Shape;155;p9"/>
          <p:cNvSpPr txBox="1"/>
          <p:nvPr/>
        </p:nvSpPr>
        <p:spPr>
          <a:xfrm>
            <a:off x="6400800" y="1920240"/>
            <a:ext cx="5029200" cy="22860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800" u="none" cap="none" strike="noStrike">
                <a:solidFill>
                  <a:srgbClr val="CDD6F4"/>
                </a:solidFill>
                <a:latin typeface="Calibri"/>
                <a:ea typeface="Calibri"/>
                <a:cs typeface="Calibri"/>
                <a:sym typeface="Calibri"/>
              </a:rPr>
              <a:t>Before bowling, a good captain PLANS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the field placement</a:t>
            </a:r>
            <a:endParaRPr/>
          </a:p>
          <a:p>
            <a:pPr indent="0" lvl="0" marL="0" marR="0" rtl="0" algn="l">
              <a:spcBef>
                <a:spcPts val="1200"/>
              </a:spcBef>
              <a:spcAft>
                <a:spcPts val="0"/>
              </a:spcAft>
              <a:buNone/>
            </a:pPr>
            <a:r>
              <a:rPr b="0" i="0" lang="en-US" sz="1800" u="none" cap="none" strike="noStrike">
                <a:solidFill>
                  <a:srgbClr val="CDD6F4"/>
                </a:solidFill>
                <a:latin typeface="Calibri"/>
                <a:ea typeface="Calibri"/>
                <a:cs typeface="Calibri"/>
                <a:sym typeface="Calibri"/>
              </a:rPr>
              <a:t>Thinks about batsman's weakness,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places slip, gully, cover, fine leg</a:t>
            </a:r>
            <a:endParaRPr/>
          </a:p>
          <a:p>
            <a:pPr indent="0" lvl="0" marL="0" marR="0" rtl="0" algn="l">
              <a:spcBef>
                <a:spcPts val="1200"/>
              </a:spcBef>
              <a:spcAft>
                <a:spcPts val="0"/>
              </a:spcAft>
              <a:buNone/>
            </a:pPr>
            <a:r>
              <a:rPr b="0" i="0" lang="en-US" sz="1800" u="none" cap="none" strike="noStrike">
                <a:solidFill>
                  <a:srgbClr val="CDD6F4"/>
                </a:solidFill>
                <a:latin typeface="Calibri"/>
                <a:ea typeface="Calibri"/>
                <a:cs typeface="Calibri"/>
                <a:sym typeface="Calibri"/>
              </a:rPr>
              <a:t>Plan comes FIRST, then execution</a:t>
            </a:r>
            <a:endParaRPr/>
          </a:p>
          <a:p>
            <a:pPr indent="0" lvl="0" marL="0" marR="0" rtl="0" algn="l">
              <a:spcBef>
                <a:spcPts val="1200"/>
              </a:spcBef>
              <a:spcAft>
                <a:spcPts val="0"/>
              </a:spcAft>
              <a:buNone/>
            </a:pPr>
            <a:r>
              <a:rPr b="0" i="0" lang="en-US" sz="1800" u="none" cap="none" strike="noStrike">
                <a:solidFill>
                  <a:srgbClr val="CDD6F4"/>
                </a:solidFill>
                <a:latin typeface="Calibri"/>
                <a:ea typeface="Calibri"/>
                <a:cs typeface="Calibri"/>
                <a:sym typeface="Calibri"/>
              </a:rPr>
              <a:t>An AI agent works the same way —</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thinks about steps before acting</a:t>
            </a:r>
            <a:endParaRPr/>
          </a:p>
        </p:txBody>
      </p:sp>
      <p:sp>
        <p:nvSpPr>
          <p:cNvPr id="156" name="Google Shape;156;p9"/>
          <p:cNvSpPr/>
          <p:nvPr/>
        </p:nvSpPr>
        <p:spPr>
          <a:xfrm>
            <a:off x="6400800" y="4572000"/>
            <a:ext cx="5029200" cy="1645920"/>
          </a:xfrm>
          <a:prstGeom prst="roundRect">
            <a:avLst>
              <a:gd fmla="val 16667" name="adj"/>
            </a:avLst>
          </a:prstGeom>
          <a:solidFill>
            <a:srgbClr val="27274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9E2AF"/>
                </a:solidFill>
                <a:latin typeface="Calibri"/>
                <a:ea typeface="Calibri"/>
                <a:cs typeface="Calibri"/>
                <a:sym typeface="Calibri"/>
              </a:rPr>
              <a:t>Common Doubt</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"Does the agent literally write a plan?"</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Yes! Many frameworks generate a written</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plan ("chain of thought") before executing.</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You'll see this in later sessions.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243A"/>
        </a:solidFill>
      </p:bgPr>
    </p:bg>
    <p:spTree>
      <p:nvGrpSpPr>
        <p:cNvPr id="160" name="Shape 160"/>
        <p:cNvGrpSpPr/>
        <p:nvPr/>
      </p:nvGrpSpPr>
      <p:grpSpPr>
        <a:xfrm>
          <a:off x="0" y="0"/>
          <a:ext cx="0" cy="0"/>
          <a:chOff x="0" y="0"/>
          <a:chExt cx="0" cy="0"/>
        </a:xfrm>
      </p:grpSpPr>
      <p:sp>
        <p:nvSpPr>
          <p:cNvPr id="161" name="Google Shape;161;p10"/>
          <p:cNvSpPr/>
          <p:nvPr/>
        </p:nvSpPr>
        <p:spPr>
          <a:xfrm>
            <a:off x="0" y="2926080"/>
            <a:ext cx="137160" cy="1005840"/>
          </a:xfrm>
          <a:prstGeom prst="rect">
            <a:avLst/>
          </a:prstGeom>
          <a:solidFill>
            <a:srgbClr val="89B4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0"/>
          <p:cNvSpPr txBox="1"/>
          <p:nvPr/>
        </p:nvSpPr>
        <p:spPr>
          <a:xfrm>
            <a:off x="731520" y="2286000"/>
            <a:ext cx="10058400" cy="13716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4400" u="none" cap="none" strike="noStrike">
                <a:solidFill>
                  <a:srgbClr val="FFFFFF"/>
                </a:solidFill>
                <a:latin typeface="Calibri"/>
                <a:ea typeface="Calibri"/>
                <a:cs typeface="Calibri"/>
                <a:sym typeface="Calibri"/>
              </a:rPr>
              <a:t>Component 2: Reasoning</a:t>
            </a:r>
            <a:endParaRPr/>
          </a:p>
        </p:txBody>
      </p:sp>
      <p:sp>
        <p:nvSpPr>
          <p:cNvPr id="163" name="Google Shape;163;p10"/>
          <p:cNvSpPr txBox="1"/>
          <p:nvPr/>
        </p:nvSpPr>
        <p:spPr>
          <a:xfrm>
            <a:off x="731520" y="384048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0" i="0" lang="en-US" sz="2200" u="none" cap="none" strike="noStrike">
                <a:solidFill>
                  <a:srgbClr val="CDD6F4"/>
                </a:solidFill>
                <a:latin typeface="Calibri"/>
                <a:ea typeface="Calibri"/>
                <a:cs typeface="Calibri"/>
                <a:sym typeface="Calibri"/>
              </a:rPr>
              <a:t>The agent's thinking brain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67" name="Shape 167"/>
        <p:cNvGrpSpPr/>
        <p:nvPr/>
      </p:nvGrpSpPr>
      <p:grpSpPr>
        <a:xfrm>
          <a:off x="0" y="0"/>
          <a:ext cx="0" cy="0"/>
          <a:chOff x="0" y="0"/>
          <a:chExt cx="0" cy="0"/>
        </a:xfrm>
      </p:grpSpPr>
      <p:sp>
        <p:nvSpPr>
          <p:cNvPr id="168" name="Google Shape;168;p11"/>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Reasoning — Making Smart Decisions</a:t>
            </a:r>
            <a:endParaRPr/>
          </a:p>
        </p:txBody>
      </p:sp>
      <p:sp>
        <p:nvSpPr>
          <p:cNvPr id="169" name="Google Shape;169;p11"/>
          <p:cNvSpPr txBox="1"/>
          <p:nvPr/>
        </p:nvSpPr>
        <p:spPr>
          <a:xfrm>
            <a:off x="731520" y="1371600"/>
            <a:ext cx="5029200" cy="22860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2000" u="none" cap="none" strike="noStrike">
                <a:solidFill>
                  <a:srgbClr val="CDD6F4"/>
                </a:solidFill>
                <a:latin typeface="Calibri"/>
                <a:ea typeface="Calibri"/>
                <a:cs typeface="Calibri"/>
                <a:sym typeface="Calibri"/>
              </a:rPr>
              <a:t>Analyzing information, drawing conclusions,</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evaluating options, making the best decision</a:t>
            </a:r>
            <a:endParaRPr/>
          </a:p>
          <a:p>
            <a:pPr indent="0" lvl="0" marL="0" marR="0" rtl="0" algn="l">
              <a:spcBef>
                <a:spcPts val="1200"/>
              </a:spcBef>
              <a:spcAft>
                <a:spcPts val="0"/>
              </a:spcAft>
              <a:buNone/>
            </a:pPr>
            <a:r>
              <a:rPr b="0" i="0" lang="en-US" sz="2000" u="none" cap="none" strike="noStrike">
                <a:solidFill>
                  <a:srgbClr val="CDD6F4"/>
                </a:solidFill>
                <a:latin typeface="Calibri"/>
                <a:ea typeface="Calibri"/>
                <a:cs typeface="Calibri"/>
                <a:sym typeface="Calibri"/>
              </a:rPr>
              <a:t>Especially when facing uncertainty,</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incomplete info, or surprises</a:t>
            </a:r>
            <a:endParaRPr/>
          </a:p>
          <a:p>
            <a:pPr indent="0" lvl="0" marL="0" marR="0" rtl="0" algn="l">
              <a:spcBef>
                <a:spcPts val="1200"/>
              </a:spcBef>
              <a:spcAft>
                <a:spcPts val="0"/>
              </a:spcAft>
              <a:buNone/>
            </a:pPr>
            <a:r>
              <a:rPr b="0" i="0" lang="en-US" sz="2000" u="none" cap="none" strike="noStrike">
                <a:solidFill>
                  <a:srgbClr val="CDD6F4"/>
                </a:solidFill>
                <a:latin typeface="Calibri"/>
                <a:ea typeface="Calibri"/>
                <a:cs typeface="Calibri"/>
                <a:sym typeface="Calibri"/>
              </a:rPr>
              <a:t>The agent asks: "Given what I know</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right now, what's the smartest move?"</a:t>
            </a:r>
            <a:endParaRPr/>
          </a:p>
        </p:txBody>
      </p:sp>
      <p:sp>
        <p:nvSpPr>
          <p:cNvPr id="170" name="Google Shape;170;p11"/>
          <p:cNvSpPr txBox="1"/>
          <p:nvPr/>
        </p:nvSpPr>
        <p:spPr>
          <a:xfrm>
            <a:off x="731520" y="3840480"/>
            <a:ext cx="5029200" cy="457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200" u="none" cap="none" strike="noStrike">
                <a:solidFill>
                  <a:srgbClr val="F9E2AF"/>
                </a:solidFill>
                <a:latin typeface="Calibri"/>
                <a:ea typeface="Calibri"/>
                <a:cs typeface="Calibri"/>
                <a:sym typeface="Calibri"/>
              </a:rPr>
              <a:t>How Reasoning Works</a:t>
            </a:r>
            <a:endParaRPr/>
          </a:p>
        </p:txBody>
      </p:sp>
      <p:sp>
        <p:nvSpPr>
          <p:cNvPr id="171" name="Google Shape;171;p11"/>
          <p:cNvSpPr txBox="1"/>
          <p:nvPr/>
        </p:nvSpPr>
        <p:spPr>
          <a:xfrm>
            <a:off x="731520" y="4297680"/>
            <a:ext cx="5029200" cy="22860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800" u="none" cap="none" strike="noStrike">
                <a:solidFill>
                  <a:srgbClr val="CDD6F4"/>
                </a:solidFill>
                <a:latin typeface="Calibri"/>
                <a:ea typeface="Calibri"/>
                <a:cs typeface="Calibri"/>
                <a:sym typeface="Calibri"/>
              </a:rPr>
              <a:t>1. Look at current context</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2. Identify possible options</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3. Evaluate each option</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4. Pick the best action</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5. Update if new info arrives</a:t>
            </a:r>
            <a:endParaRPr/>
          </a:p>
        </p:txBody>
      </p:sp>
      <p:sp>
        <p:nvSpPr>
          <p:cNvPr id="172" name="Google Shape;172;p11"/>
          <p:cNvSpPr txBox="1"/>
          <p:nvPr/>
        </p:nvSpPr>
        <p:spPr>
          <a:xfrm>
            <a:off x="6400800" y="1371600"/>
            <a:ext cx="5029200" cy="457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200" u="none" cap="none" strike="noStrike">
                <a:solidFill>
                  <a:srgbClr val="F9E2AF"/>
                </a:solidFill>
                <a:latin typeface="Calibri"/>
                <a:ea typeface="Calibri"/>
                <a:cs typeface="Calibri"/>
                <a:sym typeface="Calibri"/>
              </a:rPr>
              <a:t>Real-Life Examples</a:t>
            </a:r>
            <a:endParaRPr/>
          </a:p>
        </p:txBody>
      </p:sp>
      <p:sp>
        <p:nvSpPr>
          <p:cNvPr id="173" name="Google Shape;173;p11"/>
          <p:cNvSpPr/>
          <p:nvPr/>
        </p:nvSpPr>
        <p:spPr>
          <a:xfrm>
            <a:off x="6400800" y="1920240"/>
            <a:ext cx="5029200" cy="1645920"/>
          </a:xfrm>
          <a:prstGeom prst="roundRect">
            <a:avLst>
              <a:gd fmla="val 16667" name="adj"/>
            </a:avLst>
          </a:prstGeom>
          <a:solidFill>
            <a:srgbClr val="27274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9E2AF"/>
                </a:solidFill>
                <a:latin typeface="Calibri"/>
                <a:ea typeface="Calibri"/>
                <a:cs typeface="Calibri"/>
                <a:sym typeface="Calibri"/>
              </a:rPr>
              <a:t>The Doctor</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Patient says: headache + fever.</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Could be flu, viral, dehydration...</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Doctor asks questions, connects clues,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then decides on the right diagnosis.</a:t>
            </a:r>
            <a:endParaRPr/>
          </a:p>
        </p:txBody>
      </p:sp>
      <p:sp>
        <p:nvSpPr>
          <p:cNvPr id="174" name="Google Shape;174;p11"/>
          <p:cNvSpPr/>
          <p:nvPr/>
        </p:nvSpPr>
        <p:spPr>
          <a:xfrm>
            <a:off x="6400800" y="3840480"/>
            <a:ext cx="5029200" cy="1645920"/>
          </a:xfrm>
          <a:prstGeom prst="roundRect">
            <a:avLst>
              <a:gd fmla="val 16667" name="adj"/>
            </a:avLst>
          </a:prstGeom>
          <a:solidFill>
            <a:srgbClr val="2735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A6E3A1"/>
                </a:solidFill>
                <a:latin typeface="Calibri"/>
                <a:ea typeface="Calibri"/>
                <a:cs typeface="Calibri"/>
                <a:sym typeface="Calibri"/>
              </a:rPr>
              <a:t>Train Fully Booked</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Traditional system: "No seats available."</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Agent reasons: check waitlist? alternate</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train? connecting route? Finds a way.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78" name="Shape 178"/>
        <p:cNvGrpSpPr/>
        <p:nvPr/>
      </p:nvGrpSpPr>
      <p:grpSpPr>
        <a:xfrm>
          <a:off x="0" y="0"/>
          <a:ext cx="0" cy="0"/>
          <a:chOff x="0" y="0"/>
          <a:chExt cx="0" cy="0"/>
        </a:xfrm>
      </p:grpSpPr>
      <p:sp>
        <p:nvSpPr>
          <p:cNvPr id="179" name="Google Shape;179;p12"/>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Planning vs Reasoning — Key Difference</a:t>
            </a:r>
            <a:endParaRPr/>
          </a:p>
        </p:txBody>
      </p:sp>
      <p:sp>
        <p:nvSpPr>
          <p:cNvPr id="180" name="Google Shape;180;p12"/>
          <p:cNvSpPr/>
          <p:nvPr/>
        </p:nvSpPr>
        <p:spPr>
          <a:xfrm>
            <a:off x="731520" y="1371600"/>
            <a:ext cx="5029200" cy="2011680"/>
          </a:xfrm>
          <a:prstGeom prst="roundRect">
            <a:avLst>
              <a:gd fmla="val 16667" name="adj"/>
            </a:avLst>
          </a:prstGeom>
          <a:solidFill>
            <a:srgbClr val="27274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89B4FA"/>
                </a:solidFill>
                <a:latin typeface="Calibri"/>
                <a:ea typeface="Calibri"/>
                <a:cs typeface="Calibri"/>
                <a:sym typeface="Calibri"/>
              </a:rPr>
              <a:t>Planning = BEFORE you start</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Proactive, forward-looking.</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"What are all the steps I need to take?"</a:t>
            </a:r>
            <a:br>
              <a:rPr b="0" i="0" lang="en-US" sz="1800" u="none" cap="none" strike="noStrike">
                <a:solidFill>
                  <a:srgbClr val="CDD6F4"/>
                </a:solidFill>
                <a:latin typeface="Calibri"/>
                <a:ea typeface="Calibri"/>
                <a:cs typeface="Calibri"/>
                <a:sym typeface="Calibri"/>
              </a:rPr>
            </a:b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Cricket: team strategy decided</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in the dressing room before the match.</a:t>
            </a:r>
            <a:endParaRPr/>
          </a:p>
        </p:txBody>
      </p:sp>
      <p:sp>
        <p:nvSpPr>
          <p:cNvPr id="181" name="Google Shape;181;p12"/>
          <p:cNvSpPr/>
          <p:nvPr/>
        </p:nvSpPr>
        <p:spPr>
          <a:xfrm>
            <a:off x="6400800" y="1371600"/>
            <a:ext cx="5029200" cy="2011680"/>
          </a:xfrm>
          <a:prstGeom prst="roundRect">
            <a:avLst>
              <a:gd fmla="val 16667" name="adj"/>
            </a:avLst>
          </a:prstGeom>
          <a:solidFill>
            <a:srgbClr val="2735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A6E3A1"/>
                </a:solidFill>
                <a:latin typeface="Calibri"/>
                <a:ea typeface="Calibri"/>
                <a:cs typeface="Calibri"/>
                <a:sym typeface="Calibri"/>
              </a:rPr>
              <a:t>Reasoning = AS YOU GO</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Reactive, in-the-moment.</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"Given what just happened, what now?"</a:t>
            </a:r>
            <a:br>
              <a:rPr b="0" i="0" lang="en-US" sz="1800" u="none" cap="none" strike="noStrike">
                <a:solidFill>
                  <a:srgbClr val="CDD6F4"/>
                </a:solidFill>
                <a:latin typeface="Calibri"/>
                <a:ea typeface="Calibri"/>
                <a:cs typeface="Calibri"/>
                <a:sym typeface="Calibri"/>
              </a:rPr>
            </a:b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Cricket: captain's on-field decisions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when the situation changes mid-match.</a:t>
            </a:r>
            <a:endParaRPr/>
          </a:p>
        </p:txBody>
      </p:sp>
      <p:sp>
        <p:nvSpPr>
          <p:cNvPr id="182" name="Google Shape;182;p12"/>
          <p:cNvSpPr txBox="1"/>
          <p:nvPr/>
        </p:nvSpPr>
        <p:spPr>
          <a:xfrm>
            <a:off x="731520" y="3749039"/>
            <a:ext cx="10515600" cy="457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200" u="none" cap="none" strike="noStrike">
                <a:solidFill>
                  <a:srgbClr val="F9E2AF"/>
                </a:solidFill>
                <a:latin typeface="Calibri"/>
                <a:ea typeface="Calibri"/>
                <a:cs typeface="Calibri"/>
                <a:sym typeface="Calibri"/>
              </a:rPr>
              <a:t>Driving Analogy</a:t>
            </a:r>
            <a:endParaRPr/>
          </a:p>
        </p:txBody>
      </p:sp>
      <p:sp>
        <p:nvSpPr>
          <p:cNvPr id="183" name="Google Shape;183;p12"/>
          <p:cNvSpPr txBox="1"/>
          <p:nvPr/>
        </p:nvSpPr>
        <p:spPr>
          <a:xfrm>
            <a:off x="731520" y="4206240"/>
            <a:ext cx="10515600" cy="9144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2000" u="none" cap="none" strike="noStrike">
                <a:solidFill>
                  <a:srgbClr val="CDD6F4"/>
                </a:solidFill>
                <a:latin typeface="Calibri"/>
                <a:ea typeface="Calibri"/>
                <a:cs typeface="Calibri"/>
                <a:sym typeface="Calibri"/>
              </a:rPr>
              <a:t>Planning = choosing which route to take before you leave home</a:t>
            </a:r>
            <a:endParaRPr/>
          </a:p>
          <a:p>
            <a:pPr indent="0" lvl="0" marL="0" marR="0" rtl="0" algn="l">
              <a:spcBef>
                <a:spcPts val="1000"/>
              </a:spcBef>
              <a:spcAft>
                <a:spcPts val="0"/>
              </a:spcAft>
              <a:buNone/>
            </a:pPr>
            <a:r>
              <a:rPr b="0" i="0" lang="en-US" sz="2000" u="none" cap="none" strike="noStrike">
                <a:solidFill>
                  <a:srgbClr val="CDD6F4"/>
                </a:solidFill>
                <a:latin typeface="Calibri"/>
                <a:ea typeface="Calibri"/>
                <a:cs typeface="Calibri"/>
                <a:sym typeface="Calibri"/>
              </a:rPr>
              <a:t>Reasoning = deciding to take a U-turn when you hit a traffic jam mid-journey</a:t>
            </a:r>
            <a:endParaRPr/>
          </a:p>
        </p:txBody>
      </p:sp>
      <p:sp>
        <p:nvSpPr>
          <p:cNvPr id="184" name="Google Shape;184;p12"/>
          <p:cNvSpPr txBox="1"/>
          <p:nvPr/>
        </p:nvSpPr>
        <p:spPr>
          <a:xfrm>
            <a:off x="731520" y="5120640"/>
            <a:ext cx="10515600" cy="457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200" u="none" cap="none" strike="noStrike">
                <a:solidFill>
                  <a:srgbClr val="F9E2AF"/>
                </a:solidFill>
                <a:latin typeface="Calibri"/>
                <a:ea typeface="Calibri"/>
                <a:cs typeface="Calibri"/>
                <a:sym typeface="Calibri"/>
              </a:rPr>
              <a:t>Types of Reasoning</a:t>
            </a:r>
            <a:endParaRPr/>
          </a:p>
        </p:txBody>
      </p:sp>
      <p:graphicFrame>
        <p:nvGraphicFramePr>
          <p:cNvPr id="185" name="Google Shape;185;p12"/>
          <p:cNvGraphicFramePr/>
          <p:nvPr/>
        </p:nvGraphicFramePr>
        <p:xfrm>
          <a:off x="731520" y="5577840"/>
          <a:ext cx="3000000" cy="3000000"/>
        </p:xfrm>
        <a:graphic>
          <a:graphicData uri="http://schemas.openxmlformats.org/drawingml/2006/table">
            <a:tbl>
              <a:tblPr bandRow="1" firstRow="1">
                <a:noFill/>
                <a:tableStyleId>{FCCA089B-9318-4F43-A4A2-6AA9B0BD1243}</a:tableStyleId>
              </a:tblPr>
              <a:tblGrid>
                <a:gridCol w="2628900"/>
                <a:gridCol w="2628900"/>
                <a:gridCol w="2628900"/>
                <a:gridCol w="2628900"/>
              </a:tblGrid>
              <a:tr h="340000">
                <a:tc>
                  <a:txBody>
                    <a:bodyPr/>
                    <a:lstStyle/>
                    <a:p>
                      <a:pPr indent="0" lvl="0" marL="0" marR="0" rtl="0" algn="l">
                        <a:spcBef>
                          <a:spcPts val="0"/>
                        </a:spcBef>
                        <a:spcAft>
                          <a:spcPts val="0"/>
                        </a:spcAft>
                        <a:buNone/>
                      </a:pPr>
                      <a:r>
                        <a:rPr b="1" lang="en-US" sz="1400" u="none" cap="none" strike="noStrike">
                          <a:solidFill>
                            <a:srgbClr val="1E1E2E"/>
                          </a:solidFill>
                          <a:latin typeface="Calibri"/>
                          <a:ea typeface="Calibri"/>
                          <a:cs typeface="Calibri"/>
                          <a:sym typeface="Calibri"/>
                        </a:rPr>
                        <a:t>If-Else</a:t>
                      </a:r>
                      <a:endParaRPr/>
                    </a:p>
                  </a:txBody>
                  <a:tcPr marT="76200" marB="76200" marR="127000" marL="127000">
                    <a:solidFill>
                      <a:srgbClr val="89B4FA"/>
                    </a:solidFill>
                  </a:tcPr>
                </a:tc>
                <a:tc>
                  <a:txBody>
                    <a:bodyPr/>
                    <a:lstStyle/>
                    <a:p>
                      <a:pPr indent="0" lvl="0" marL="0" marR="0" rtl="0" algn="l">
                        <a:spcBef>
                          <a:spcPts val="0"/>
                        </a:spcBef>
                        <a:spcAft>
                          <a:spcPts val="0"/>
                        </a:spcAft>
                        <a:buNone/>
                      </a:pPr>
                      <a:r>
                        <a:rPr b="1" lang="en-US" sz="1400" u="none" cap="none" strike="noStrike">
                          <a:solidFill>
                            <a:srgbClr val="1E1E2E"/>
                          </a:solidFill>
                          <a:latin typeface="Calibri"/>
                          <a:ea typeface="Calibri"/>
                          <a:cs typeface="Calibri"/>
                          <a:sym typeface="Calibri"/>
                        </a:rPr>
                        <a:t>Comparison</a:t>
                      </a:r>
                      <a:endParaRPr/>
                    </a:p>
                  </a:txBody>
                  <a:tcPr marT="76200" marB="76200" marR="127000" marL="127000">
                    <a:solidFill>
                      <a:srgbClr val="89B4FA"/>
                    </a:solidFill>
                  </a:tcPr>
                </a:tc>
                <a:tc>
                  <a:txBody>
                    <a:bodyPr/>
                    <a:lstStyle/>
                    <a:p>
                      <a:pPr indent="0" lvl="0" marL="0" marR="0" rtl="0" algn="l">
                        <a:spcBef>
                          <a:spcPts val="0"/>
                        </a:spcBef>
                        <a:spcAft>
                          <a:spcPts val="0"/>
                        </a:spcAft>
                        <a:buNone/>
                      </a:pPr>
                      <a:r>
                        <a:rPr b="1" lang="en-US" sz="1400" u="none" cap="none" strike="noStrike">
                          <a:solidFill>
                            <a:srgbClr val="1E1E2E"/>
                          </a:solidFill>
                          <a:latin typeface="Calibri"/>
                          <a:ea typeface="Calibri"/>
                          <a:cs typeface="Calibri"/>
                          <a:sym typeface="Calibri"/>
                        </a:rPr>
                        <a:t>Fallback</a:t>
                      </a:r>
                      <a:endParaRPr/>
                    </a:p>
                  </a:txBody>
                  <a:tcPr marT="76200" marB="76200" marR="127000" marL="127000">
                    <a:solidFill>
                      <a:srgbClr val="89B4FA"/>
                    </a:solidFill>
                  </a:tcPr>
                </a:tc>
                <a:tc>
                  <a:txBody>
                    <a:bodyPr/>
                    <a:lstStyle/>
                    <a:p>
                      <a:pPr indent="0" lvl="0" marL="0" marR="0" rtl="0" algn="l">
                        <a:spcBef>
                          <a:spcPts val="0"/>
                        </a:spcBef>
                        <a:spcAft>
                          <a:spcPts val="0"/>
                        </a:spcAft>
                        <a:buNone/>
                      </a:pPr>
                      <a:r>
                        <a:rPr b="1" lang="en-US" sz="1400" u="none" cap="none" strike="noStrike">
                          <a:solidFill>
                            <a:srgbClr val="1E1E2E"/>
                          </a:solidFill>
                          <a:latin typeface="Calibri"/>
                          <a:ea typeface="Calibri"/>
                          <a:cs typeface="Calibri"/>
                          <a:sym typeface="Calibri"/>
                        </a:rPr>
                        <a:t>Clarification</a:t>
                      </a:r>
                      <a:endParaRPr/>
                    </a:p>
                  </a:txBody>
                  <a:tcPr marT="76200" marB="76200" marR="127000" marL="127000">
                    <a:solidFill>
                      <a:srgbClr val="89B4FA"/>
                    </a:solidFill>
                  </a:tcPr>
                </a:tc>
              </a:tr>
              <a:tr h="34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Seat available? Book.</a:t>
                      </a:r>
                      <a:endParaRPr/>
                    </a:p>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Else? Check next train.</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Restaurant A: 4.5 stars, 20 min.</a:t>
                      </a:r>
                      <a:endParaRPr/>
                    </a:p>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B: 4.3 stars, 10 min. Pick B?</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Plan A fails? Switch</a:t>
                      </a:r>
                      <a:endParaRPr/>
                    </a:p>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to Plan B automatically.</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"Send to my email" — which</a:t>
                      </a:r>
                      <a:endParaRPr/>
                    </a:p>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email? Agent asks.</a:t>
                      </a:r>
                      <a:endParaRPr/>
                    </a:p>
                  </a:txBody>
                  <a:tcPr marT="76200" marB="76200" marR="127000" marL="127000">
                    <a:solidFill>
                      <a:srgbClr val="24243A"/>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243A"/>
        </a:solidFill>
      </p:bgPr>
    </p:bg>
    <p:spTree>
      <p:nvGrpSpPr>
        <p:cNvPr id="189" name="Shape 189"/>
        <p:cNvGrpSpPr/>
        <p:nvPr/>
      </p:nvGrpSpPr>
      <p:grpSpPr>
        <a:xfrm>
          <a:off x="0" y="0"/>
          <a:ext cx="0" cy="0"/>
          <a:chOff x="0" y="0"/>
          <a:chExt cx="0" cy="0"/>
        </a:xfrm>
      </p:grpSpPr>
      <p:sp>
        <p:nvSpPr>
          <p:cNvPr id="190" name="Google Shape;190;p13"/>
          <p:cNvSpPr/>
          <p:nvPr/>
        </p:nvSpPr>
        <p:spPr>
          <a:xfrm>
            <a:off x="0" y="2926080"/>
            <a:ext cx="137160" cy="1005840"/>
          </a:xfrm>
          <a:prstGeom prst="rect">
            <a:avLst/>
          </a:prstGeom>
          <a:solidFill>
            <a:srgbClr val="89B4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3"/>
          <p:cNvSpPr txBox="1"/>
          <p:nvPr/>
        </p:nvSpPr>
        <p:spPr>
          <a:xfrm>
            <a:off x="731520" y="2286000"/>
            <a:ext cx="10058400" cy="13716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4400" u="none" cap="none" strike="noStrike">
                <a:solidFill>
                  <a:srgbClr val="FFFFFF"/>
                </a:solidFill>
                <a:latin typeface="Calibri"/>
                <a:ea typeface="Calibri"/>
                <a:cs typeface="Calibri"/>
                <a:sym typeface="Calibri"/>
              </a:rPr>
              <a:t>Component 3: Memory</a:t>
            </a:r>
            <a:endParaRPr/>
          </a:p>
        </p:txBody>
      </p:sp>
      <p:sp>
        <p:nvSpPr>
          <p:cNvPr id="192" name="Google Shape;192;p13"/>
          <p:cNvSpPr txBox="1"/>
          <p:nvPr/>
        </p:nvSpPr>
        <p:spPr>
          <a:xfrm>
            <a:off x="731520" y="384048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0" i="0" lang="en-US" sz="2200" u="none" cap="none" strike="noStrike">
                <a:solidFill>
                  <a:srgbClr val="CDD6F4"/>
                </a:solidFill>
                <a:latin typeface="Calibri"/>
                <a:ea typeface="Calibri"/>
                <a:cs typeface="Calibri"/>
                <a:sym typeface="Calibri"/>
              </a:rPr>
              <a:t>The agent's "remember everything" system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96" name="Shape 196"/>
        <p:cNvGrpSpPr/>
        <p:nvPr/>
      </p:nvGrpSpPr>
      <p:grpSpPr>
        <a:xfrm>
          <a:off x="0" y="0"/>
          <a:ext cx="0" cy="0"/>
          <a:chOff x="0" y="0"/>
          <a:chExt cx="0" cy="0"/>
        </a:xfrm>
      </p:grpSpPr>
      <p:sp>
        <p:nvSpPr>
          <p:cNvPr id="197" name="Google Shape;197;p14"/>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Why Memory Matters</a:t>
            </a:r>
            <a:endParaRPr/>
          </a:p>
        </p:txBody>
      </p:sp>
      <p:sp>
        <p:nvSpPr>
          <p:cNvPr id="198" name="Google Shape;198;p14"/>
          <p:cNvSpPr txBox="1"/>
          <p:nvPr/>
        </p:nvSpPr>
        <p:spPr>
          <a:xfrm>
            <a:off x="731520" y="1371600"/>
            <a:ext cx="5029200" cy="22860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2000" u="none" cap="none" strike="noStrike">
                <a:solidFill>
                  <a:srgbClr val="CDD6F4"/>
                </a:solidFill>
                <a:latin typeface="Calibri"/>
                <a:ea typeface="Calibri"/>
                <a:cs typeface="Calibri"/>
                <a:sym typeface="Calibri"/>
              </a:rPr>
              <a:t>The ability to store and retrieve info</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from current or past interactions</a:t>
            </a:r>
            <a:endParaRPr/>
          </a:p>
          <a:p>
            <a:pPr indent="0" lvl="0" marL="0" marR="0" rtl="0" algn="l">
              <a:spcBef>
                <a:spcPts val="1200"/>
              </a:spcBef>
              <a:spcAft>
                <a:spcPts val="0"/>
              </a:spcAft>
              <a:buNone/>
            </a:pPr>
            <a:r>
              <a:rPr b="0" i="0" lang="en-US" sz="2000" u="none" cap="none" strike="noStrike">
                <a:solidFill>
                  <a:srgbClr val="CDD6F4"/>
                </a:solidFill>
                <a:latin typeface="Calibri"/>
                <a:ea typeface="Calibri"/>
                <a:cs typeface="Calibri"/>
                <a:sym typeface="Calibri"/>
              </a:rPr>
              <a:t>Without memory: every conversation</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starts from zero</a:t>
            </a:r>
            <a:endParaRPr/>
          </a:p>
          <a:p>
            <a:pPr indent="0" lvl="0" marL="0" marR="0" rtl="0" algn="l">
              <a:spcBef>
                <a:spcPts val="1200"/>
              </a:spcBef>
              <a:spcAft>
                <a:spcPts val="0"/>
              </a:spcAft>
              <a:buNone/>
            </a:pPr>
            <a:r>
              <a:rPr b="0" i="0" lang="en-US" sz="2000" u="none" cap="none" strike="noStrike">
                <a:solidFill>
                  <a:srgbClr val="CDD6F4"/>
                </a:solidFill>
                <a:latin typeface="Calibri"/>
                <a:ea typeface="Calibri"/>
                <a:cs typeface="Calibri"/>
                <a:sym typeface="Calibri"/>
              </a:rPr>
              <a:t>Without memory: agent might repeat</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the same search it already did</a:t>
            </a:r>
            <a:endParaRPr/>
          </a:p>
          <a:p>
            <a:pPr indent="0" lvl="0" marL="0" marR="0" rtl="0" algn="l">
              <a:spcBef>
                <a:spcPts val="1200"/>
              </a:spcBef>
              <a:spcAft>
                <a:spcPts val="0"/>
              </a:spcAft>
              <a:buNone/>
            </a:pPr>
            <a:r>
              <a:rPr b="0" i="0" lang="en-US" sz="2000" u="none" cap="none" strike="noStrike">
                <a:solidFill>
                  <a:srgbClr val="CDD6F4"/>
                </a:solidFill>
                <a:latin typeface="Calibri"/>
                <a:ea typeface="Calibri"/>
                <a:cs typeface="Calibri"/>
                <a:sym typeface="Calibri"/>
              </a:rPr>
              <a:t>Without memory: no personalization,</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no learning from the past</a:t>
            </a:r>
            <a:endParaRPr/>
          </a:p>
        </p:txBody>
      </p:sp>
      <p:sp>
        <p:nvSpPr>
          <p:cNvPr id="199" name="Google Shape;199;p14"/>
          <p:cNvSpPr txBox="1"/>
          <p:nvPr/>
        </p:nvSpPr>
        <p:spPr>
          <a:xfrm>
            <a:off x="6400800" y="1371600"/>
            <a:ext cx="5029200" cy="457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200" u="none" cap="none" strike="noStrike">
                <a:solidFill>
                  <a:srgbClr val="F9E2AF"/>
                </a:solidFill>
                <a:latin typeface="Calibri"/>
                <a:ea typeface="Calibri"/>
                <a:cs typeface="Calibri"/>
                <a:sym typeface="Calibri"/>
              </a:rPr>
              <a:t>Real-Life Examples</a:t>
            </a:r>
            <a:endParaRPr/>
          </a:p>
        </p:txBody>
      </p:sp>
      <p:sp>
        <p:nvSpPr>
          <p:cNvPr id="200" name="Google Shape;200;p14"/>
          <p:cNvSpPr/>
          <p:nvPr/>
        </p:nvSpPr>
        <p:spPr>
          <a:xfrm>
            <a:off x="6400800" y="1920240"/>
            <a:ext cx="5029200" cy="1645920"/>
          </a:xfrm>
          <a:prstGeom prst="roundRect">
            <a:avLst>
              <a:gd fmla="val 16667" name="adj"/>
            </a:avLst>
          </a:prstGeom>
          <a:solidFill>
            <a:srgbClr val="27274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9E2AF"/>
                </a:solidFill>
                <a:latin typeface="Calibri"/>
                <a:ea typeface="Calibri"/>
                <a:cs typeface="Calibri"/>
                <a:sym typeface="Calibri"/>
              </a:rPr>
              <a:t>WhatsApp</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Reopen a chat — all messages are there.</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If it wiped messages every time you</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closed the app, it would be useless.</a:t>
            </a:r>
            <a:endParaRPr/>
          </a:p>
        </p:txBody>
      </p:sp>
      <p:sp>
        <p:nvSpPr>
          <p:cNvPr id="201" name="Google Shape;201;p14"/>
          <p:cNvSpPr/>
          <p:nvPr/>
        </p:nvSpPr>
        <p:spPr>
          <a:xfrm>
            <a:off x="6400800" y="3840480"/>
            <a:ext cx="5029200" cy="1645920"/>
          </a:xfrm>
          <a:prstGeom prst="roundRect">
            <a:avLst>
              <a:gd fmla="val 16667" name="adj"/>
            </a:avLst>
          </a:prstGeom>
          <a:solidFill>
            <a:srgbClr val="2735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A6E3A1"/>
                </a:solidFill>
                <a:latin typeface="Calibri"/>
                <a:ea typeface="Calibri"/>
                <a:cs typeface="Calibri"/>
                <a:sym typeface="Calibri"/>
              </a:rPr>
              <a:t>Your Local Shopkeeper</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Knows your family buys Amul butter,</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Tata salt, Surf Excel. Doesn't ask</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from scratch every time. That's memory!</a:t>
            </a:r>
            <a:endParaRPr/>
          </a:p>
        </p:txBody>
      </p:sp>
      <p:sp>
        <p:nvSpPr>
          <p:cNvPr id="202" name="Google Shape;202;p14"/>
          <p:cNvSpPr/>
          <p:nvPr/>
        </p:nvSpPr>
        <p:spPr>
          <a:xfrm>
            <a:off x="731520" y="4389120"/>
            <a:ext cx="5029200" cy="1828800"/>
          </a:xfrm>
          <a:prstGeom prst="roundRect">
            <a:avLst>
              <a:gd fmla="val 16667" name="adj"/>
            </a:avLst>
          </a:prstGeom>
          <a:solidFill>
            <a:srgbClr val="4527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AB387"/>
                </a:solidFill>
                <a:latin typeface="Calibri"/>
                <a:ea typeface="Calibri"/>
                <a:cs typeface="Calibri"/>
                <a:sym typeface="Calibri"/>
              </a:rPr>
              <a:t>Memory = Smart vs Dumb</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Memory is what separates a smart</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assistant from a dumb chatbot.</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It's the glue that holds Planning,</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Reasoning, and Action together.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206" name="Shape 206"/>
        <p:cNvGrpSpPr/>
        <p:nvPr/>
      </p:nvGrpSpPr>
      <p:grpSpPr>
        <a:xfrm>
          <a:off x="0" y="0"/>
          <a:ext cx="0" cy="0"/>
          <a:chOff x="0" y="0"/>
          <a:chExt cx="0" cy="0"/>
        </a:xfrm>
      </p:grpSpPr>
      <p:sp>
        <p:nvSpPr>
          <p:cNvPr id="207" name="Google Shape;207;p15"/>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Short-Term vs Long-Term Memory</a:t>
            </a:r>
            <a:endParaRPr/>
          </a:p>
        </p:txBody>
      </p:sp>
      <p:sp>
        <p:nvSpPr>
          <p:cNvPr id="208" name="Google Shape;208;p15"/>
          <p:cNvSpPr/>
          <p:nvPr/>
        </p:nvSpPr>
        <p:spPr>
          <a:xfrm>
            <a:off x="731520" y="1371600"/>
            <a:ext cx="5029200" cy="2560320"/>
          </a:xfrm>
          <a:prstGeom prst="roundRect">
            <a:avLst>
              <a:gd fmla="val 16667" name="adj"/>
            </a:avLst>
          </a:prstGeom>
          <a:solidFill>
            <a:srgbClr val="27274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89B4FA"/>
                </a:solidFill>
                <a:latin typeface="Calibri"/>
                <a:ea typeface="Calibri"/>
                <a:cs typeface="Calibri"/>
                <a:sym typeface="Calibri"/>
              </a:rPr>
              <a:t>Short-Term Memory (Working Memory)</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Temporary — only during current task.</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Like your brain's RAM.</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Current chat history, search results,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intermediate findings.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Cleared when session ends.</a:t>
            </a:r>
            <a:endParaRPr/>
          </a:p>
        </p:txBody>
      </p:sp>
      <p:sp>
        <p:nvSpPr>
          <p:cNvPr id="209" name="Google Shape;209;p15"/>
          <p:cNvSpPr/>
          <p:nvPr/>
        </p:nvSpPr>
        <p:spPr>
          <a:xfrm>
            <a:off x="6400800" y="1371600"/>
            <a:ext cx="5029200" cy="2560320"/>
          </a:xfrm>
          <a:prstGeom prst="roundRect">
            <a:avLst>
              <a:gd fmla="val 16667" name="adj"/>
            </a:avLst>
          </a:prstGeom>
          <a:solidFill>
            <a:srgbClr val="2735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A6E3A1"/>
                </a:solidFill>
                <a:latin typeface="Calibri"/>
                <a:ea typeface="Calibri"/>
                <a:cs typeface="Calibri"/>
                <a:sym typeface="Calibri"/>
              </a:rPr>
              <a:t>Long-Term Memory (Persistent)</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Permanent — survives across sessions.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Like your hard drive / notebook.</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User profile, preferences, past orders,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saved conversation summaries.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Still there next month.</a:t>
            </a:r>
            <a:endParaRPr/>
          </a:p>
        </p:txBody>
      </p:sp>
      <p:graphicFrame>
        <p:nvGraphicFramePr>
          <p:cNvPr id="210" name="Google Shape;210;p15"/>
          <p:cNvGraphicFramePr/>
          <p:nvPr/>
        </p:nvGraphicFramePr>
        <p:xfrm>
          <a:off x="731520" y="4297680"/>
          <a:ext cx="3000000" cy="3000000"/>
        </p:xfrm>
        <a:graphic>
          <a:graphicData uri="http://schemas.openxmlformats.org/drawingml/2006/table">
            <a:tbl>
              <a:tblPr bandRow="1" firstRow="1">
                <a:noFill/>
                <a:tableStyleId>{FCCA089B-9318-4F43-A4A2-6AA9B0BD1243}</a:tableStyleId>
              </a:tblPr>
              <a:tblGrid>
                <a:gridCol w="3505200"/>
                <a:gridCol w="3505200"/>
                <a:gridCol w="3505200"/>
              </a:tblGrid>
              <a:tr h="380000">
                <a:tc>
                  <a:txBody>
                    <a:bodyPr/>
                    <a:lstStyle/>
                    <a:p>
                      <a:pPr indent="0" lvl="0" marL="0" marR="0" rtl="0" algn="l">
                        <a:spcBef>
                          <a:spcPts val="0"/>
                        </a:spcBef>
                        <a:spcAft>
                          <a:spcPts val="0"/>
                        </a:spcAft>
                        <a:buNone/>
                      </a:pPr>
                      <a:r>
                        <a:rPr b="1" lang="en-US" sz="1600" u="none" cap="none" strike="noStrike">
                          <a:solidFill>
                            <a:srgbClr val="1E1E2E"/>
                          </a:solidFill>
                          <a:latin typeface="Calibri"/>
                          <a:ea typeface="Calibri"/>
                          <a:cs typeface="Calibri"/>
                          <a:sym typeface="Calibri"/>
                        </a:rPr>
                        <a:t>Feature</a:t>
                      </a:r>
                      <a:endParaRPr/>
                    </a:p>
                  </a:txBody>
                  <a:tcPr marT="76200" marB="76200" marR="127000" marL="127000">
                    <a:solidFill>
                      <a:srgbClr val="89B4FA"/>
                    </a:solidFill>
                  </a:tcPr>
                </a:tc>
                <a:tc>
                  <a:txBody>
                    <a:bodyPr/>
                    <a:lstStyle/>
                    <a:p>
                      <a:pPr indent="0" lvl="0" marL="0" marR="0" rtl="0" algn="l">
                        <a:spcBef>
                          <a:spcPts val="0"/>
                        </a:spcBef>
                        <a:spcAft>
                          <a:spcPts val="0"/>
                        </a:spcAft>
                        <a:buNone/>
                      </a:pPr>
                      <a:r>
                        <a:rPr b="1" lang="en-US" sz="1600" u="none" cap="none" strike="noStrike">
                          <a:solidFill>
                            <a:srgbClr val="1E1E2E"/>
                          </a:solidFill>
                          <a:latin typeface="Calibri"/>
                          <a:ea typeface="Calibri"/>
                          <a:cs typeface="Calibri"/>
                          <a:sym typeface="Calibri"/>
                        </a:rPr>
                        <a:t>Short-Term</a:t>
                      </a:r>
                      <a:endParaRPr/>
                    </a:p>
                  </a:txBody>
                  <a:tcPr marT="76200" marB="76200" marR="127000" marL="127000">
                    <a:solidFill>
                      <a:srgbClr val="89B4FA"/>
                    </a:solidFill>
                  </a:tcPr>
                </a:tc>
                <a:tc>
                  <a:txBody>
                    <a:bodyPr/>
                    <a:lstStyle/>
                    <a:p>
                      <a:pPr indent="0" lvl="0" marL="0" marR="0" rtl="0" algn="l">
                        <a:spcBef>
                          <a:spcPts val="0"/>
                        </a:spcBef>
                        <a:spcAft>
                          <a:spcPts val="0"/>
                        </a:spcAft>
                        <a:buNone/>
                      </a:pPr>
                      <a:r>
                        <a:rPr b="1" lang="en-US" sz="1600" u="none" cap="none" strike="noStrike">
                          <a:solidFill>
                            <a:srgbClr val="1E1E2E"/>
                          </a:solidFill>
                          <a:latin typeface="Calibri"/>
                          <a:ea typeface="Calibri"/>
                          <a:cs typeface="Calibri"/>
                          <a:sym typeface="Calibri"/>
                        </a:rPr>
                        <a:t>Long-Term</a:t>
                      </a:r>
                      <a:endParaRPr/>
                    </a:p>
                  </a:txBody>
                  <a:tcPr marT="76200" marB="76200" marR="127000" marL="127000">
                    <a:solidFill>
                      <a:srgbClr val="89B4FA"/>
                    </a:solidFill>
                  </a:tcPr>
                </a:tc>
              </a:tr>
              <a:tr h="380000">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Duration</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Current session only</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Days, weeks, months</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Storage</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Active context (RAM-like)</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Database / file / vector store</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Speed</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Very fast</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Slower but permanent</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Example</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Current chat history</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Saved user profile</a:t>
                      </a:r>
                      <a:endParaRPr/>
                    </a:p>
                  </a:txBody>
                  <a:tcPr marT="76200" marB="76200" marR="127000" marL="127000">
                    <a:solidFill>
                      <a:srgbClr val="24243A"/>
                    </a:solidFill>
                  </a:tcPr>
                </a:tc>
              </a:tr>
            </a:tbl>
          </a:graphicData>
        </a:graphic>
      </p:graphicFrame>
      <p:sp>
        <p:nvSpPr>
          <p:cNvPr id="211" name="Google Shape;211;p15"/>
          <p:cNvSpPr/>
          <p:nvPr/>
        </p:nvSpPr>
        <p:spPr>
          <a:xfrm>
            <a:off x="731520" y="5943600"/>
            <a:ext cx="10515600" cy="640080"/>
          </a:xfrm>
          <a:prstGeom prst="roundRect">
            <a:avLst>
              <a:gd fmla="val 16667" name="adj"/>
            </a:avLst>
          </a:prstGeom>
          <a:solidFill>
            <a:srgbClr val="27274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9E2AF"/>
                </a:solidFill>
                <a:latin typeface="Calibri"/>
                <a:ea typeface="Calibri"/>
                <a:cs typeface="Calibri"/>
                <a:sym typeface="Calibri"/>
              </a:rPr>
              <a:t>Both are needed!</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Short-term handles the current task fast. Long-term makes the agent smarter and more personal over time.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243A"/>
        </a:solidFill>
      </p:bgPr>
    </p:bg>
    <p:spTree>
      <p:nvGrpSpPr>
        <p:cNvPr id="215" name="Shape 215"/>
        <p:cNvGrpSpPr/>
        <p:nvPr/>
      </p:nvGrpSpPr>
      <p:grpSpPr>
        <a:xfrm>
          <a:off x="0" y="0"/>
          <a:ext cx="0" cy="0"/>
          <a:chOff x="0" y="0"/>
          <a:chExt cx="0" cy="0"/>
        </a:xfrm>
      </p:grpSpPr>
      <p:sp>
        <p:nvSpPr>
          <p:cNvPr id="216" name="Google Shape;216;p16"/>
          <p:cNvSpPr/>
          <p:nvPr/>
        </p:nvSpPr>
        <p:spPr>
          <a:xfrm>
            <a:off x="0" y="2926080"/>
            <a:ext cx="137160" cy="1005840"/>
          </a:xfrm>
          <a:prstGeom prst="rect">
            <a:avLst/>
          </a:prstGeom>
          <a:solidFill>
            <a:srgbClr val="89B4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16"/>
          <p:cNvSpPr txBox="1"/>
          <p:nvPr/>
        </p:nvSpPr>
        <p:spPr>
          <a:xfrm>
            <a:off x="731520" y="2286000"/>
            <a:ext cx="10058400" cy="13716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4400" u="none" cap="none" strike="noStrike">
                <a:solidFill>
                  <a:srgbClr val="FFFFFF"/>
                </a:solidFill>
                <a:latin typeface="Calibri"/>
                <a:ea typeface="Calibri"/>
                <a:cs typeface="Calibri"/>
                <a:sym typeface="Calibri"/>
              </a:rPr>
              <a:t>Component 4: Action</a:t>
            </a:r>
            <a:endParaRPr/>
          </a:p>
        </p:txBody>
      </p:sp>
      <p:sp>
        <p:nvSpPr>
          <p:cNvPr id="218" name="Google Shape;218;p16"/>
          <p:cNvSpPr txBox="1"/>
          <p:nvPr/>
        </p:nvSpPr>
        <p:spPr>
          <a:xfrm>
            <a:off x="731520" y="384048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0" i="0" lang="en-US" sz="2200" u="none" cap="none" strike="noStrike">
                <a:solidFill>
                  <a:srgbClr val="CDD6F4"/>
                </a:solidFill>
                <a:latin typeface="Calibri"/>
                <a:ea typeface="Calibri"/>
                <a:cs typeface="Calibri"/>
                <a:sym typeface="Calibri"/>
              </a:rPr>
              <a:t>Where the agent interacts with the real world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222" name="Shape 222"/>
        <p:cNvGrpSpPr/>
        <p:nvPr/>
      </p:nvGrpSpPr>
      <p:grpSpPr>
        <a:xfrm>
          <a:off x="0" y="0"/>
          <a:ext cx="0" cy="0"/>
          <a:chOff x="0" y="0"/>
          <a:chExt cx="0" cy="0"/>
        </a:xfrm>
      </p:grpSpPr>
      <p:sp>
        <p:nvSpPr>
          <p:cNvPr id="223" name="Google Shape;223;p17"/>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Action — The "Do Something" Engine</a:t>
            </a:r>
            <a:endParaRPr/>
          </a:p>
        </p:txBody>
      </p:sp>
      <p:sp>
        <p:nvSpPr>
          <p:cNvPr id="224" name="Google Shape;224;p17"/>
          <p:cNvSpPr txBox="1"/>
          <p:nvPr/>
        </p:nvSpPr>
        <p:spPr>
          <a:xfrm>
            <a:off x="731520" y="1371600"/>
            <a:ext cx="5029200" cy="18288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2000" u="none" cap="none" strike="noStrike">
                <a:solidFill>
                  <a:srgbClr val="CDD6F4"/>
                </a:solidFill>
                <a:latin typeface="Calibri"/>
                <a:ea typeface="Calibri"/>
                <a:cs typeface="Calibri"/>
                <a:sym typeface="Calibri"/>
              </a:rPr>
              <a:t>Any operation the agent executes to</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make progress toward its goal</a:t>
            </a:r>
            <a:endParaRPr/>
          </a:p>
          <a:p>
            <a:pPr indent="0" lvl="0" marL="0" marR="0" rtl="0" algn="l">
              <a:spcBef>
                <a:spcPts val="1200"/>
              </a:spcBef>
              <a:spcAft>
                <a:spcPts val="0"/>
              </a:spcAft>
              <a:buNone/>
            </a:pPr>
            <a:r>
              <a:rPr b="0" i="0" lang="en-US" sz="2000" u="none" cap="none" strike="noStrike">
                <a:solidFill>
                  <a:srgbClr val="CDD6F4"/>
                </a:solidFill>
                <a:latin typeface="Calibri"/>
                <a:ea typeface="Calibri"/>
                <a:cs typeface="Calibri"/>
                <a:sym typeface="Calibri"/>
              </a:rPr>
              <a:t>Planning, Reasoning, Memory = internal.</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Action = what the user sees and feels</a:t>
            </a:r>
            <a:endParaRPr/>
          </a:p>
          <a:p>
            <a:pPr indent="0" lvl="0" marL="0" marR="0" rtl="0" algn="l">
              <a:spcBef>
                <a:spcPts val="1200"/>
              </a:spcBef>
              <a:spcAft>
                <a:spcPts val="0"/>
              </a:spcAft>
              <a:buNone/>
            </a:pPr>
            <a:r>
              <a:rPr b="0" i="0" lang="en-US" sz="2000" u="none" cap="none" strike="noStrike">
                <a:solidFill>
                  <a:srgbClr val="CDD6F4"/>
                </a:solidFill>
                <a:latin typeface="Calibri"/>
                <a:ea typeface="Calibri"/>
                <a:cs typeface="Calibri"/>
                <a:sym typeface="Calibri"/>
              </a:rPr>
              <a:t>A thinking agent that never ACTS</a:t>
            </a:r>
            <a:br>
              <a:rPr b="0" i="0" lang="en-US" sz="2000" u="none" cap="none" strike="noStrike">
                <a:solidFill>
                  <a:srgbClr val="CDD6F4"/>
                </a:solidFill>
                <a:latin typeface="Calibri"/>
                <a:ea typeface="Calibri"/>
                <a:cs typeface="Calibri"/>
                <a:sym typeface="Calibri"/>
              </a:rPr>
            </a:br>
            <a:r>
              <a:rPr b="0" i="0" lang="en-US" sz="2000" u="none" cap="none" strike="noStrike">
                <a:solidFill>
                  <a:srgbClr val="CDD6F4"/>
                </a:solidFill>
                <a:latin typeface="Calibri"/>
                <a:ea typeface="Calibri"/>
                <a:cs typeface="Calibri"/>
                <a:sym typeface="Calibri"/>
              </a:rPr>
              <a:t>is completely useless!</a:t>
            </a:r>
            <a:endParaRPr/>
          </a:p>
        </p:txBody>
      </p:sp>
      <p:sp>
        <p:nvSpPr>
          <p:cNvPr id="225" name="Google Shape;225;p17"/>
          <p:cNvSpPr txBox="1"/>
          <p:nvPr/>
        </p:nvSpPr>
        <p:spPr>
          <a:xfrm>
            <a:off x="731520" y="3474720"/>
            <a:ext cx="5029200" cy="457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200" u="none" cap="none" strike="noStrike">
                <a:solidFill>
                  <a:srgbClr val="F9E2AF"/>
                </a:solidFill>
                <a:latin typeface="Calibri"/>
                <a:ea typeface="Calibri"/>
                <a:cs typeface="Calibri"/>
                <a:sym typeface="Calibri"/>
              </a:rPr>
              <a:t>Types of Actions</a:t>
            </a:r>
            <a:endParaRPr/>
          </a:p>
        </p:txBody>
      </p:sp>
      <p:graphicFrame>
        <p:nvGraphicFramePr>
          <p:cNvPr id="226" name="Google Shape;226;p17"/>
          <p:cNvGraphicFramePr/>
          <p:nvPr/>
        </p:nvGraphicFramePr>
        <p:xfrm>
          <a:off x="731520" y="3931920"/>
          <a:ext cx="3000000" cy="3000000"/>
        </p:xfrm>
        <a:graphic>
          <a:graphicData uri="http://schemas.openxmlformats.org/drawingml/2006/table">
            <a:tbl>
              <a:tblPr bandRow="1" firstRow="1">
                <a:noFill/>
                <a:tableStyleId>{FCCA089B-9318-4F43-A4A2-6AA9B0BD1243}</a:tableStyleId>
              </a:tblPr>
              <a:tblGrid>
                <a:gridCol w="2514600"/>
                <a:gridCol w="2514600"/>
              </a:tblGrid>
              <a:tr h="350000">
                <a:tc>
                  <a:txBody>
                    <a:bodyPr/>
                    <a:lstStyle/>
                    <a:p>
                      <a:pPr indent="0" lvl="0" marL="0" marR="0" rtl="0" algn="l">
                        <a:spcBef>
                          <a:spcPts val="0"/>
                        </a:spcBef>
                        <a:spcAft>
                          <a:spcPts val="0"/>
                        </a:spcAft>
                        <a:buNone/>
                      </a:pPr>
                      <a:r>
                        <a:rPr b="1" lang="en-US" sz="1500" u="none" cap="none" strike="noStrike">
                          <a:solidFill>
                            <a:srgbClr val="1E1E2E"/>
                          </a:solidFill>
                          <a:latin typeface="Calibri"/>
                          <a:ea typeface="Calibri"/>
                          <a:cs typeface="Calibri"/>
                          <a:sym typeface="Calibri"/>
                        </a:rPr>
                        <a:t>Type</a:t>
                      </a:r>
                      <a:endParaRPr/>
                    </a:p>
                  </a:txBody>
                  <a:tcPr marT="76200" marB="76200" marR="127000" marL="127000">
                    <a:solidFill>
                      <a:srgbClr val="89B4FA"/>
                    </a:solidFill>
                  </a:tcPr>
                </a:tc>
                <a:tc>
                  <a:txBody>
                    <a:bodyPr/>
                    <a:lstStyle/>
                    <a:p>
                      <a:pPr indent="0" lvl="0" marL="0" marR="0" rtl="0" algn="l">
                        <a:spcBef>
                          <a:spcPts val="0"/>
                        </a:spcBef>
                        <a:spcAft>
                          <a:spcPts val="0"/>
                        </a:spcAft>
                        <a:buNone/>
                      </a:pPr>
                      <a:r>
                        <a:rPr b="1" lang="en-US" sz="1500" u="none" cap="none" strike="noStrike">
                          <a:solidFill>
                            <a:srgbClr val="1E1E2E"/>
                          </a:solidFill>
                          <a:latin typeface="Calibri"/>
                          <a:ea typeface="Calibri"/>
                          <a:cs typeface="Calibri"/>
                          <a:sym typeface="Calibri"/>
                        </a:rPr>
                        <a:t>Example</a:t>
                      </a:r>
                      <a:endParaRPr/>
                    </a:p>
                  </a:txBody>
                  <a:tcPr marT="76200" marB="76200" marR="127000" marL="127000">
                    <a:solidFill>
                      <a:srgbClr val="89B4FA"/>
                    </a:solidFill>
                  </a:tcPr>
                </a:tc>
              </a:tr>
              <a:tr h="350000">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API Call</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Check weather, book flight</a:t>
                      </a:r>
                      <a:endParaRPr/>
                    </a:p>
                  </a:txBody>
                  <a:tcPr marT="76200" marB="76200" marR="127000" marL="127000">
                    <a:solidFill>
                      <a:srgbClr val="24243A"/>
                    </a:solidFill>
                  </a:tcPr>
                </a:tc>
              </a:tr>
              <a:tr h="350000">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Web Search</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Find latest news about AI</a:t>
                      </a:r>
                      <a:endParaRPr/>
                    </a:p>
                  </a:txBody>
                  <a:tcPr marT="76200" marB="76200" marR="127000" marL="127000">
                    <a:solidFill>
                      <a:srgbClr val="24243A"/>
                    </a:solidFill>
                  </a:tcPr>
                </a:tc>
              </a:tr>
              <a:tr h="350000">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File Operations</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Read CSV, write report</a:t>
                      </a:r>
                      <a:endParaRPr/>
                    </a:p>
                  </a:txBody>
                  <a:tcPr marT="76200" marB="76200" marR="127000" marL="127000">
                    <a:solidFill>
                      <a:srgbClr val="24243A"/>
                    </a:solidFill>
                  </a:tcPr>
                </a:tc>
              </a:tr>
              <a:tr h="350000">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Code Execution</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Calculate bill total</a:t>
                      </a:r>
                      <a:endParaRPr/>
                    </a:p>
                  </a:txBody>
                  <a:tcPr marT="76200" marB="76200" marR="127000" marL="127000">
                    <a:solidFill>
                      <a:srgbClr val="24243A"/>
                    </a:solidFill>
                  </a:tcPr>
                </a:tc>
              </a:tr>
              <a:tr h="350000">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Communication</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Send email, Slack message</a:t>
                      </a:r>
                      <a:endParaRPr/>
                    </a:p>
                  </a:txBody>
                  <a:tcPr marT="76200" marB="76200" marR="127000" marL="127000">
                    <a:solidFill>
                      <a:srgbClr val="24243A"/>
                    </a:solidFill>
                  </a:tcPr>
                </a:tc>
              </a:tr>
              <a:tr h="350000">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Database Query</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Fetch order status</a:t>
                      </a:r>
                      <a:endParaRPr/>
                    </a:p>
                  </a:txBody>
                  <a:tcPr marT="76200" marB="76200" marR="127000" marL="127000">
                    <a:solidFill>
                      <a:srgbClr val="24243A"/>
                    </a:solidFill>
                  </a:tcPr>
                </a:tc>
              </a:tr>
            </a:tbl>
          </a:graphicData>
        </a:graphic>
      </p:graphicFrame>
      <p:sp>
        <p:nvSpPr>
          <p:cNvPr id="227" name="Google Shape;227;p17"/>
          <p:cNvSpPr/>
          <p:nvPr/>
        </p:nvSpPr>
        <p:spPr>
          <a:xfrm>
            <a:off x="6400800" y="1371600"/>
            <a:ext cx="5029200" cy="1828800"/>
          </a:xfrm>
          <a:prstGeom prst="roundRect">
            <a:avLst>
              <a:gd fmla="val 16667" name="adj"/>
            </a:avLst>
          </a:prstGeom>
          <a:solidFill>
            <a:srgbClr val="27274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9E2AF"/>
                </a:solidFill>
                <a:latin typeface="Calibri"/>
                <a:ea typeface="Calibri"/>
                <a:cs typeface="Calibri"/>
                <a:sym typeface="Calibri"/>
              </a:rPr>
              <a:t>Waiter Analogy</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Waiter listens (Observe), remembers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(Memory), decides how to convey to</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kitchen (Reasoning). But nothing happens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until they WALK to the kitchen. That's Action.</a:t>
            </a:r>
            <a:endParaRPr/>
          </a:p>
        </p:txBody>
      </p:sp>
      <p:sp>
        <p:nvSpPr>
          <p:cNvPr id="228" name="Google Shape;228;p17"/>
          <p:cNvSpPr/>
          <p:nvPr/>
        </p:nvSpPr>
        <p:spPr>
          <a:xfrm>
            <a:off x="6400800" y="3474720"/>
            <a:ext cx="5029200" cy="1828800"/>
          </a:xfrm>
          <a:prstGeom prst="roundRect">
            <a:avLst>
              <a:gd fmla="val 16667" name="adj"/>
            </a:avLst>
          </a:prstGeom>
          <a:solidFill>
            <a:srgbClr val="2735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A6E3A1"/>
                </a:solidFill>
                <a:latin typeface="Calibri"/>
                <a:ea typeface="Calibri"/>
                <a:cs typeface="Calibri"/>
                <a:sym typeface="Calibri"/>
              </a:rPr>
              <a:t>One Task, Multiple Actions</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"Summarize today's AI news":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1. Web Search -&gt; find articles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2. Code Execution -&gt; summarize</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3. Communication -&gt; send response</a:t>
            </a:r>
            <a:endParaRPr/>
          </a:p>
        </p:txBody>
      </p:sp>
      <p:sp>
        <p:nvSpPr>
          <p:cNvPr id="229" name="Google Shape;229;p17"/>
          <p:cNvSpPr/>
          <p:nvPr/>
        </p:nvSpPr>
        <p:spPr>
          <a:xfrm>
            <a:off x="6400800" y="5486400"/>
            <a:ext cx="5029200" cy="914400"/>
          </a:xfrm>
          <a:prstGeom prst="roundRect">
            <a:avLst>
              <a:gd fmla="val 16667" name="adj"/>
            </a:avLst>
          </a:prstGeom>
          <a:solidFill>
            <a:srgbClr val="4527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AB387"/>
                </a:solidFill>
                <a:latin typeface="Calibri"/>
                <a:ea typeface="Calibri"/>
                <a:cs typeface="Calibri"/>
                <a:sym typeface="Calibri"/>
              </a:rPr>
              <a:t>Yes, text is also an action!</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When an AI sends you a reply, that IS an action.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243A"/>
        </a:solidFill>
      </p:bgPr>
    </p:bg>
    <p:spTree>
      <p:nvGrpSpPr>
        <p:cNvPr id="233" name="Shape 233"/>
        <p:cNvGrpSpPr/>
        <p:nvPr/>
      </p:nvGrpSpPr>
      <p:grpSpPr>
        <a:xfrm>
          <a:off x="0" y="0"/>
          <a:ext cx="0" cy="0"/>
          <a:chOff x="0" y="0"/>
          <a:chExt cx="0" cy="0"/>
        </a:xfrm>
      </p:grpSpPr>
      <p:sp>
        <p:nvSpPr>
          <p:cNvPr id="234" name="Google Shape;234;p18"/>
          <p:cNvSpPr/>
          <p:nvPr/>
        </p:nvSpPr>
        <p:spPr>
          <a:xfrm>
            <a:off x="0" y="2926080"/>
            <a:ext cx="137160" cy="1005840"/>
          </a:xfrm>
          <a:prstGeom prst="rect">
            <a:avLst/>
          </a:prstGeom>
          <a:solidFill>
            <a:srgbClr val="89B4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8"/>
          <p:cNvSpPr txBox="1"/>
          <p:nvPr/>
        </p:nvSpPr>
        <p:spPr>
          <a:xfrm>
            <a:off x="731520" y="2286000"/>
            <a:ext cx="10058400" cy="13716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4400" u="none" cap="none" strike="noStrike">
                <a:solidFill>
                  <a:srgbClr val="FFFFFF"/>
                </a:solidFill>
                <a:latin typeface="Calibri"/>
                <a:ea typeface="Calibri"/>
                <a:cs typeface="Calibri"/>
                <a:sym typeface="Calibri"/>
              </a:rPr>
              <a:t>Observe -&gt; Think -&gt; Act</a:t>
            </a:r>
            <a:endParaRPr/>
          </a:p>
        </p:txBody>
      </p:sp>
      <p:sp>
        <p:nvSpPr>
          <p:cNvPr id="236" name="Google Shape;236;p18"/>
          <p:cNvSpPr txBox="1"/>
          <p:nvPr/>
        </p:nvSpPr>
        <p:spPr>
          <a:xfrm>
            <a:off x="731520" y="384048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0" i="0" lang="en-US" sz="2200" u="none" cap="none" strike="noStrike">
                <a:solidFill>
                  <a:srgbClr val="CDD6F4"/>
                </a:solidFill>
                <a:latin typeface="Calibri"/>
                <a:ea typeface="Calibri"/>
                <a:cs typeface="Calibri"/>
                <a:sym typeface="Calibri"/>
              </a:rPr>
              <a:t>The heartbeat of every agentic system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240" name="Shape 240"/>
        <p:cNvGrpSpPr/>
        <p:nvPr/>
      </p:nvGrpSpPr>
      <p:grpSpPr>
        <a:xfrm>
          <a:off x="0" y="0"/>
          <a:ext cx="0" cy="0"/>
          <a:chOff x="0" y="0"/>
          <a:chExt cx="0" cy="0"/>
        </a:xfrm>
      </p:grpSpPr>
      <p:sp>
        <p:nvSpPr>
          <p:cNvPr id="241" name="Google Shape;241;p19"/>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The Agent Loop</a:t>
            </a:r>
            <a:endParaRPr/>
          </a:p>
        </p:txBody>
      </p:sp>
      <p:sp>
        <p:nvSpPr>
          <p:cNvPr id="242" name="Google Shape;242;p19"/>
          <p:cNvSpPr/>
          <p:nvPr/>
        </p:nvSpPr>
        <p:spPr>
          <a:xfrm>
            <a:off x="731520" y="1371600"/>
            <a:ext cx="3200400" cy="2286000"/>
          </a:xfrm>
          <a:prstGeom prst="roundRect">
            <a:avLst>
              <a:gd fmla="val 16667" name="adj"/>
            </a:avLst>
          </a:prstGeom>
          <a:solidFill>
            <a:srgbClr val="27274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89B4FA"/>
                </a:solidFill>
                <a:latin typeface="Calibri"/>
                <a:ea typeface="Calibri"/>
                <a:cs typeface="Calibri"/>
                <a:sym typeface="Calibri"/>
              </a:rPr>
              <a:t>1. OBSERVE</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"What is happening right now?"</a:t>
            </a:r>
            <a:br>
              <a:rPr b="0" i="0" lang="en-US" sz="1800" u="none" cap="none" strike="noStrike">
                <a:solidFill>
                  <a:srgbClr val="CDD6F4"/>
                </a:solidFill>
                <a:latin typeface="Calibri"/>
                <a:ea typeface="Calibri"/>
                <a:cs typeface="Calibri"/>
                <a:sym typeface="Calibri"/>
              </a:rPr>
            </a:b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Read input, check context,</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check memory, see what</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tools are available.</a:t>
            </a:r>
            <a:endParaRPr/>
          </a:p>
        </p:txBody>
      </p:sp>
      <p:sp>
        <p:nvSpPr>
          <p:cNvPr id="243" name="Google Shape;243;p19"/>
          <p:cNvSpPr/>
          <p:nvPr/>
        </p:nvSpPr>
        <p:spPr>
          <a:xfrm>
            <a:off x="4389120" y="1371600"/>
            <a:ext cx="3383280" cy="2286000"/>
          </a:xfrm>
          <a:prstGeom prst="roundRect">
            <a:avLst>
              <a:gd fmla="val 16667" name="adj"/>
            </a:avLst>
          </a:prstGeom>
          <a:solidFill>
            <a:srgbClr val="2735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A6E3A1"/>
                </a:solidFill>
                <a:latin typeface="Calibri"/>
                <a:ea typeface="Calibri"/>
                <a:cs typeface="Calibri"/>
                <a:sym typeface="Calibri"/>
              </a:rPr>
              <a:t>2. THINK</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"What should I do about this?"</a:t>
            </a:r>
            <a:br>
              <a:rPr b="0" i="0" lang="en-US" sz="1800" u="none" cap="none" strike="noStrike">
                <a:solidFill>
                  <a:srgbClr val="CDD6F4"/>
                </a:solidFill>
                <a:latin typeface="Calibri"/>
                <a:ea typeface="Calibri"/>
                <a:cs typeface="Calibri"/>
                <a:sym typeface="Calibri"/>
              </a:rPr>
            </a:b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Use Planning &amp; Reasoning.</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Check Memory for context.</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Decide the next action.</a:t>
            </a:r>
            <a:endParaRPr/>
          </a:p>
        </p:txBody>
      </p:sp>
      <p:sp>
        <p:nvSpPr>
          <p:cNvPr id="244" name="Google Shape;244;p19"/>
          <p:cNvSpPr/>
          <p:nvPr/>
        </p:nvSpPr>
        <p:spPr>
          <a:xfrm>
            <a:off x="8229600" y="1371600"/>
            <a:ext cx="3474720" cy="2286000"/>
          </a:xfrm>
          <a:prstGeom prst="roundRect">
            <a:avLst>
              <a:gd fmla="val 16667" name="adj"/>
            </a:avLst>
          </a:prstGeom>
          <a:solidFill>
            <a:srgbClr val="35273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9E2AF"/>
                </a:solidFill>
                <a:latin typeface="Calibri"/>
                <a:ea typeface="Calibri"/>
                <a:cs typeface="Calibri"/>
                <a:sym typeface="Calibri"/>
              </a:rPr>
              <a:t>3. ACT</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"Let me actually do it."</a:t>
            </a:r>
            <a:br>
              <a:rPr b="0" i="0" lang="en-US" sz="1800" u="none" cap="none" strike="noStrike">
                <a:solidFill>
                  <a:srgbClr val="CDD6F4"/>
                </a:solidFill>
                <a:latin typeface="Calibri"/>
                <a:ea typeface="Calibri"/>
                <a:cs typeface="Calibri"/>
                <a:sym typeface="Calibri"/>
              </a:rPr>
            </a:b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Call API, search web,</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send message, run code.</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Result -&gt; new Observe input.</a:t>
            </a:r>
            <a:endParaRPr/>
          </a:p>
        </p:txBody>
      </p:sp>
      <p:sp>
        <p:nvSpPr>
          <p:cNvPr id="245" name="Google Shape;245;p19"/>
          <p:cNvSpPr txBox="1"/>
          <p:nvPr/>
        </p:nvSpPr>
        <p:spPr>
          <a:xfrm>
            <a:off x="429450" y="3931925"/>
            <a:ext cx="11438400" cy="728700"/>
          </a:xfrm>
          <a:prstGeom prst="rect">
            <a:avLst/>
          </a:prstGeom>
          <a:noFill/>
          <a:ln>
            <a:noFill/>
          </a:ln>
        </p:spPr>
        <p:txBody>
          <a:bodyPr anchorCtr="0" anchor="t" bIns="25400" lIns="50800" spcFirstLastPara="1" rIns="50800" wrap="square" tIns="25400">
            <a:spAutoFit/>
          </a:bodyPr>
          <a:lstStyle/>
          <a:p>
            <a:pPr indent="0" lvl="0" marL="0" marR="0" rtl="0" algn="ctr">
              <a:spcBef>
                <a:spcPts val="0"/>
              </a:spcBef>
              <a:spcAft>
                <a:spcPts val="0"/>
              </a:spcAft>
              <a:buNone/>
            </a:pPr>
            <a:r>
              <a:rPr b="1" i="0" lang="en-US" sz="2200" u="none" cap="none" strike="noStrike">
                <a:solidFill>
                  <a:srgbClr val="89B4FA"/>
                </a:solidFill>
                <a:latin typeface="Calibri"/>
                <a:ea typeface="Calibri"/>
                <a:cs typeface="Calibri"/>
                <a:sym typeface="Calibri"/>
              </a:rPr>
              <a:t>OBSERVE  ──&gt;  THINK  ──&gt;  ACT  ──&gt;  (loop back)  ──&gt;  OBSERVE  ──&gt;  ...  until goal is done</a:t>
            </a:r>
            <a:endParaRPr/>
          </a:p>
        </p:txBody>
      </p:sp>
      <p:sp>
        <p:nvSpPr>
          <p:cNvPr id="246" name="Google Shape;246;p19"/>
          <p:cNvSpPr txBox="1"/>
          <p:nvPr/>
        </p:nvSpPr>
        <p:spPr>
          <a:xfrm>
            <a:off x="731520" y="4754880"/>
            <a:ext cx="5029200" cy="18288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800" u="none" cap="none" strike="noStrike">
                <a:solidFill>
                  <a:srgbClr val="CDD6F4"/>
                </a:solidFill>
                <a:latin typeface="Calibri"/>
                <a:ea typeface="Calibri"/>
                <a:cs typeface="Calibri"/>
                <a:sym typeface="Calibri"/>
              </a:rPr>
              <a:t>Most goals need multiple loops</a:t>
            </a:r>
            <a:endParaRPr/>
          </a:p>
          <a:p>
            <a:pPr indent="0" lvl="0" marL="0" marR="0" rtl="0" algn="l">
              <a:spcBef>
                <a:spcPts val="1000"/>
              </a:spcBef>
              <a:spcAft>
                <a:spcPts val="0"/>
              </a:spcAft>
              <a:buNone/>
            </a:pPr>
            <a:r>
              <a:rPr b="0" i="0" lang="en-US" sz="1800" u="none" cap="none" strike="noStrike">
                <a:solidFill>
                  <a:srgbClr val="CDD6F4"/>
                </a:solidFill>
                <a:latin typeface="Calibri"/>
                <a:ea typeface="Calibri"/>
                <a:cs typeface="Calibri"/>
                <a:sym typeface="Calibri"/>
              </a:rPr>
              <a:t>"What is 2+2?" = 1 loop</a:t>
            </a:r>
            <a:endParaRPr/>
          </a:p>
          <a:p>
            <a:pPr indent="0" lvl="0" marL="0" marR="0" rtl="0" algn="l">
              <a:spcBef>
                <a:spcPts val="1000"/>
              </a:spcBef>
              <a:spcAft>
                <a:spcPts val="0"/>
              </a:spcAft>
              <a:buNone/>
            </a:pPr>
            <a:r>
              <a:rPr b="0" i="0" lang="en-US" sz="1800" u="none" cap="none" strike="noStrike">
                <a:solidFill>
                  <a:srgbClr val="CDD6F4"/>
                </a:solidFill>
                <a:latin typeface="Calibri"/>
                <a:ea typeface="Calibri"/>
                <a:cs typeface="Calibri"/>
                <a:sym typeface="Calibri"/>
              </a:rPr>
              <a:t>"Plan a trip to Goa" = 20-30 loops</a:t>
            </a:r>
            <a:endParaRPr/>
          </a:p>
        </p:txBody>
      </p:sp>
      <p:sp>
        <p:nvSpPr>
          <p:cNvPr id="247" name="Google Shape;247;p19"/>
          <p:cNvSpPr/>
          <p:nvPr/>
        </p:nvSpPr>
        <p:spPr>
          <a:xfrm>
            <a:off x="6400800" y="4572000"/>
            <a:ext cx="5029200" cy="1828800"/>
          </a:xfrm>
          <a:prstGeom prst="roundRect">
            <a:avLst>
              <a:gd fmla="val 16667" name="adj"/>
            </a:avLst>
          </a:prstGeom>
          <a:solidFill>
            <a:srgbClr val="27274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9E2AF"/>
                </a:solidFill>
                <a:latin typeface="Calibri"/>
                <a:ea typeface="Calibri"/>
                <a:cs typeface="Calibri"/>
                <a:sym typeface="Calibri"/>
              </a:rPr>
              <a:t>Why a Loop, Not a Straight Line?</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After every action, the agent gets NEW</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information. That must be observed</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and reasoned about before the next step.</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Like cooking: add, taste, adjust, repeat.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251" name="Shape 251"/>
        <p:cNvGrpSpPr/>
        <p:nvPr/>
      </p:nvGrpSpPr>
      <p:grpSpPr>
        <a:xfrm>
          <a:off x="0" y="0"/>
          <a:ext cx="0" cy="0"/>
          <a:chOff x="0" y="0"/>
          <a:chExt cx="0" cy="0"/>
        </a:xfrm>
      </p:grpSpPr>
      <p:sp>
        <p:nvSpPr>
          <p:cNvPr id="252" name="Google Shape;252;p20"/>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Loop in Action — Order Cancellation</a:t>
            </a:r>
            <a:endParaRPr/>
          </a:p>
        </p:txBody>
      </p:sp>
      <p:sp>
        <p:nvSpPr>
          <p:cNvPr id="253" name="Google Shape;253;p20"/>
          <p:cNvSpPr txBox="1"/>
          <p:nvPr/>
        </p:nvSpPr>
        <p:spPr>
          <a:xfrm>
            <a:off x="731520" y="1371600"/>
            <a:ext cx="3200400" cy="36576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000" u="none" cap="none" strike="noStrike">
                <a:solidFill>
                  <a:srgbClr val="89B4FA"/>
                </a:solidFill>
                <a:latin typeface="Calibri"/>
                <a:ea typeface="Calibri"/>
                <a:cs typeface="Calibri"/>
                <a:sym typeface="Calibri"/>
              </a:rPr>
              <a:t>Round 1</a:t>
            </a:r>
            <a:endParaRPr/>
          </a:p>
        </p:txBody>
      </p:sp>
      <p:sp>
        <p:nvSpPr>
          <p:cNvPr id="254" name="Google Shape;254;p20"/>
          <p:cNvSpPr txBox="1"/>
          <p:nvPr/>
        </p:nvSpPr>
        <p:spPr>
          <a:xfrm>
            <a:off x="731520" y="1737360"/>
            <a:ext cx="3200400" cy="164592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600" u="none" cap="none" strike="noStrike">
                <a:solidFill>
                  <a:srgbClr val="CDD6F4"/>
                </a:solidFill>
                <a:latin typeface="Calibri"/>
                <a:ea typeface="Calibri"/>
                <a:cs typeface="Calibri"/>
                <a:sym typeface="Calibri"/>
              </a:rPr>
              <a:t>OBSERVE: User says "Cancel order #98765"</a:t>
            </a:r>
            <a:endParaRPr/>
          </a:p>
          <a:p>
            <a:pPr indent="0" lvl="0" marL="0" marR="0" rtl="0" algn="l">
              <a:spcBef>
                <a:spcPts val="600"/>
              </a:spcBef>
              <a:spcAft>
                <a:spcPts val="0"/>
              </a:spcAft>
              <a:buNone/>
            </a:pPr>
            <a:r>
              <a:rPr b="0" i="0" lang="en-US" sz="1600" u="none" cap="none" strike="noStrike">
                <a:solidFill>
                  <a:srgbClr val="CDD6F4"/>
                </a:solidFill>
                <a:latin typeface="Calibri"/>
                <a:ea typeface="Calibri"/>
                <a:cs typeface="Calibri"/>
                <a:sym typeface="Calibri"/>
              </a:rPr>
              <a:t>THINK: Need to check cancellation eligibility</a:t>
            </a:r>
            <a:endParaRPr/>
          </a:p>
          <a:p>
            <a:pPr indent="0" lvl="0" marL="0" marR="0" rtl="0" algn="l">
              <a:spcBef>
                <a:spcPts val="600"/>
              </a:spcBef>
              <a:spcAft>
                <a:spcPts val="0"/>
              </a:spcAft>
              <a:buNone/>
            </a:pPr>
            <a:r>
              <a:rPr b="0" i="0" lang="en-US" sz="1600" u="none" cap="none" strike="noStrike">
                <a:solidFill>
                  <a:srgbClr val="CDD6F4"/>
                </a:solidFill>
                <a:latin typeface="Calibri"/>
                <a:ea typeface="Calibri"/>
                <a:cs typeface="Calibri"/>
                <a:sym typeface="Calibri"/>
              </a:rPr>
              <a:t>ACT: Call order details API</a:t>
            </a:r>
            <a:endParaRPr/>
          </a:p>
        </p:txBody>
      </p:sp>
      <p:sp>
        <p:nvSpPr>
          <p:cNvPr id="255" name="Google Shape;255;p20"/>
          <p:cNvSpPr txBox="1"/>
          <p:nvPr/>
        </p:nvSpPr>
        <p:spPr>
          <a:xfrm>
            <a:off x="4389120" y="1371600"/>
            <a:ext cx="3383280" cy="36576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000" u="none" cap="none" strike="noStrike">
                <a:solidFill>
                  <a:srgbClr val="A6E3A1"/>
                </a:solidFill>
                <a:latin typeface="Calibri"/>
                <a:ea typeface="Calibri"/>
                <a:cs typeface="Calibri"/>
                <a:sym typeface="Calibri"/>
              </a:rPr>
              <a:t>Round 2</a:t>
            </a:r>
            <a:endParaRPr/>
          </a:p>
        </p:txBody>
      </p:sp>
      <p:sp>
        <p:nvSpPr>
          <p:cNvPr id="256" name="Google Shape;256;p20"/>
          <p:cNvSpPr txBox="1"/>
          <p:nvPr/>
        </p:nvSpPr>
        <p:spPr>
          <a:xfrm>
            <a:off x="4389120" y="1737360"/>
            <a:ext cx="3383280" cy="164592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600" u="none" cap="none" strike="noStrike">
                <a:solidFill>
                  <a:srgbClr val="CDD6F4"/>
                </a:solidFill>
                <a:latin typeface="Calibri"/>
                <a:ea typeface="Calibri"/>
                <a:cs typeface="Calibri"/>
                <a:sym typeface="Calibri"/>
              </a:rPr>
              <a:t>OBSERVE: Order placed 2hrs ago, not shipped</a:t>
            </a:r>
            <a:endParaRPr/>
          </a:p>
          <a:p>
            <a:pPr indent="0" lvl="0" marL="0" marR="0" rtl="0" algn="l">
              <a:spcBef>
                <a:spcPts val="600"/>
              </a:spcBef>
              <a:spcAft>
                <a:spcPts val="0"/>
              </a:spcAft>
              <a:buNone/>
            </a:pPr>
            <a:r>
              <a:rPr b="0" i="0" lang="en-US" sz="1600" u="none" cap="none" strike="noStrike">
                <a:solidFill>
                  <a:srgbClr val="CDD6F4"/>
                </a:solidFill>
                <a:latin typeface="Calibri"/>
                <a:ea typeface="Calibri"/>
                <a:cs typeface="Calibri"/>
                <a:sym typeface="Calibri"/>
              </a:rPr>
              <a:t>THINK: Eligible! Call cancellation API</a:t>
            </a:r>
            <a:endParaRPr/>
          </a:p>
          <a:p>
            <a:pPr indent="0" lvl="0" marL="0" marR="0" rtl="0" algn="l">
              <a:spcBef>
                <a:spcPts val="600"/>
              </a:spcBef>
              <a:spcAft>
                <a:spcPts val="0"/>
              </a:spcAft>
              <a:buNone/>
            </a:pPr>
            <a:r>
              <a:rPr b="0" i="0" lang="en-US" sz="1600" u="none" cap="none" strike="noStrike">
                <a:solidFill>
                  <a:srgbClr val="CDD6F4"/>
                </a:solidFill>
                <a:latin typeface="Calibri"/>
                <a:ea typeface="Calibri"/>
                <a:cs typeface="Calibri"/>
                <a:sym typeface="Calibri"/>
              </a:rPr>
              <a:t>ACT: Cancel order, get refund info</a:t>
            </a:r>
            <a:endParaRPr/>
          </a:p>
        </p:txBody>
      </p:sp>
      <p:sp>
        <p:nvSpPr>
          <p:cNvPr id="257" name="Google Shape;257;p20"/>
          <p:cNvSpPr txBox="1"/>
          <p:nvPr/>
        </p:nvSpPr>
        <p:spPr>
          <a:xfrm>
            <a:off x="8229600" y="1371600"/>
            <a:ext cx="3474720" cy="36576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000" u="none" cap="none" strike="noStrike">
                <a:solidFill>
                  <a:srgbClr val="F9E2AF"/>
                </a:solidFill>
                <a:latin typeface="Calibri"/>
                <a:ea typeface="Calibri"/>
                <a:cs typeface="Calibri"/>
                <a:sym typeface="Calibri"/>
              </a:rPr>
              <a:t>Round 3</a:t>
            </a:r>
            <a:endParaRPr/>
          </a:p>
        </p:txBody>
      </p:sp>
      <p:sp>
        <p:nvSpPr>
          <p:cNvPr id="258" name="Google Shape;258;p20"/>
          <p:cNvSpPr txBox="1"/>
          <p:nvPr/>
        </p:nvSpPr>
        <p:spPr>
          <a:xfrm>
            <a:off x="8229600" y="1737360"/>
            <a:ext cx="3474720" cy="164592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600" u="none" cap="none" strike="noStrike">
                <a:solidFill>
                  <a:srgbClr val="CDD6F4"/>
                </a:solidFill>
                <a:latin typeface="Calibri"/>
                <a:ea typeface="Calibri"/>
                <a:cs typeface="Calibri"/>
                <a:sym typeface="Calibri"/>
              </a:rPr>
              <a:t>OBSERVE: Cancellation confirmed</a:t>
            </a:r>
            <a:endParaRPr/>
          </a:p>
          <a:p>
            <a:pPr indent="0" lvl="0" marL="0" marR="0" rtl="0" algn="l">
              <a:spcBef>
                <a:spcPts val="600"/>
              </a:spcBef>
              <a:spcAft>
                <a:spcPts val="0"/>
              </a:spcAft>
              <a:buNone/>
            </a:pPr>
            <a:r>
              <a:rPr b="0" i="0" lang="en-US" sz="1600" u="none" cap="none" strike="noStrike">
                <a:solidFill>
                  <a:srgbClr val="CDD6F4"/>
                </a:solidFill>
                <a:latin typeface="Calibri"/>
                <a:ea typeface="Calibri"/>
                <a:cs typeface="Calibri"/>
                <a:sym typeface="Calibri"/>
              </a:rPr>
              <a:t>THINK: Task done, inform user</a:t>
            </a:r>
            <a:endParaRPr/>
          </a:p>
          <a:p>
            <a:pPr indent="0" lvl="0" marL="0" marR="0" rtl="0" algn="l">
              <a:spcBef>
                <a:spcPts val="600"/>
              </a:spcBef>
              <a:spcAft>
                <a:spcPts val="0"/>
              </a:spcAft>
              <a:buNone/>
            </a:pPr>
            <a:r>
              <a:rPr b="0" i="0" lang="en-US" sz="1600" u="none" cap="none" strike="noStrike">
                <a:solidFill>
                  <a:srgbClr val="CDD6F4"/>
                </a:solidFill>
                <a:latin typeface="Calibri"/>
                <a:ea typeface="Calibri"/>
                <a:cs typeface="Calibri"/>
                <a:sym typeface="Calibri"/>
              </a:rPr>
              <a:t>ACT: "Your order is cancelled.</a:t>
            </a:r>
            <a:br>
              <a:rPr b="0" i="0" lang="en-US" sz="1600" u="none" cap="none" strike="noStrike">
                <a:solidFill>
                  <a:srgbClr val="CDD6F4"/>
                </a:solidFill>
                <a:latin typeface="Calibri"/>
                <a:ea typeface="Calibri"/>
                <a:cs typeface="Calibri"/>
                <a:sym typeface="Calibri"/>
              </a:rPr>
            </a:br>
            <a:r>
              <a:rPr b="0" i="0" lang="en-US" sz="1600" u="none" cap="none" strike="noStrike">
                <a:solidFill>
                  <a:srgbClr val="CDD6F4"/>
                </a:solidFill>
                <a:latin typeface="Calibri"/>
                <a:ea typeface="Calibri"/>
                <a:cs typeface="Calibri"/>
                <a:sym typeface="Calibri"/>
              </a:rPr>
              <a:t>  Refund of Rs.450 in 5-7 days."</a:t>
            </a:r>
            <a:endParaRPr/>
          </a:p>
        </p:txBody>
      </p:sp>
      <p:sp>
        <p:nvSpPr>
          <p:cNvPr id="259" name="Google Shape;259;p20"/>
          <p:cNvSpPr txBox="1"/>
          <p:nvPr/>
        </p:nvSpPr>
        <p:spPr>
          <a:xfrm>
            <a:off x="731520" y="3749039"/>
            <a:ext cx="10515600" cy="457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200" u="none" cap="none" strike="noStrike">
                <a:solidFill>
                  <a:srgbClr val="FAB387"/>
                </a:solidFill>
                <a:latin typeface="Calibri"/>
                <a:ea typeface="Calibri"/>
                <a:cs typeface="Calibri"/>
                <a:sym typeface="Calibri"/>
              </a:rPr>
              <a:t>What If the Order Was Already Shipped?</a:t>
            </a:r>
            <a:endParaRPr/>
          </a:p>
        </p:txBody>
      </p:sp>
      <p:sp>
        <p:nvSpPr>
          <p:cNvPr id="260" name="Google Shape;260;p20"/>
          <p:cNvSpPr txBox="1"/>
          <p:nvPr/>
        </p:nvSpPr>
        <p:spPr>
          <a:xfrm>
            <a:off x="731520" y="4206240"/>
            <a:ext cx="10515600" cy="109728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800" u="none" cap="none" strike="noStrike">
                <a:solidFill>
                  <a:srgbClr val="CDD6F4"/>
                </a:solidFill>
                <a:latin typeface="Calibri"/>
                <a:ea typeface="Calibri"/>
                <a:cs typeface="Calibri"/>
                <a:sym typeface="Calibri"/>
              </a:rPr>
              <a:t>THINK (different reasoning): "Cancellation not possible. Inform user and offer return instead."</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ACT: "Your order has been shipped. Would you like to request a return after delivery?"</a:t>
            </a:r>
            <a:endParaRPr/>
          </a:p>
        </p:txBody>
      </p:sp>
      <p:sp>
        <p:nvSpPr>
          <p:cNvPr id="261" name="Google Shape;261;p20"/>
          <p:cNvSpPr/>
          <p:nvPr/>
        </p:nvSpPr>
        <p:spPr>
          <a:xfrm>
            <a:off x="731520" y="5486400"/>
            <a:ext cx="10515600" cy="914400"/>
          </a:xfrm>
          <a:prstGeom prst="roundRect">
            <a:avLst>
              <a:gd fmla="val 16667" name="adj"/>
            </a:avLst>
          </a:prstGeom>
          <a:solidFill>
            <a:srgbClr val="2735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A6E3A1"/>
                </a:solidFill>
                <a:latin typeface="Calibri"/>
                <a:ea typeface="Calibri"/>
                <a:cs typeface="Calibri"/>
                <a:sym typeface="Calibri"/>
              </a:rPr>
              <a:t>This is Reasoning in action!</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The agent adapts its response based on what it discovers — it doesn't follow a fixed script.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243A"/>
        </a:solidFill>
      </p:bgPr>
    </p:bg>
    <p:spTree>
      <p:nvGrpSpPr>
        <p:cNvPr id="265" name="Shape 265"/>
        <p:cNvGrpSpPr/>
        <p:nvPr/>
      </p:nvGrpSpPr>
      <p:grpSpPr>
        <a:xfrm>
          <a:off x="0" y="0"/>
          <a:ext cx="0" cy="0"/>
          <a:chOff x="0" y="0"/>
          <a:chExt cx="0" cy="0"/>
        </a:xfrm>
      </p:grpSpPr>
      <p:sp>
        <p:nvSpPr>
          <p:cNvPr id="266" name="Google Shape;266;p21"/>
          <p:cNvSpPr/>
          <p:nvPr/>
        </p:nvSpPr>
        <p:spPr>
          <a:xfrm>
            <a:off x="0" y="2926080"/>
            <a:ext cx="137160" cy="1005840"/>
          </a:xfrm>
          <a:prstGeom prst="rect">
            <a:avLst/>
          </a:prstGeom>
          <a:solidFill>
            <a:srgbClr val="89B4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7" name="Google Shape;267;p21"/>
          <p:cNvSpPr txBox="1"/>
          <p:nvPr/>
        </p:nvSpPr>
        <p:spPr>
          <a:xfrm>
            <a:off x="731520" y="2286000"/>
            <a:ext cx="10058400" cy="13716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4400" u="none" cap="none" strike="noStrike">
                <a:solidFill>
                  <a:srgbClr val="FFFFFF"/>
                </a:solidFill>
                <a:latin typeface="Calibri"/>
                <a:ea typeface="Calibri"/>
                <a:cs typeface="Calibri"/>
                <a:sym typeface="Calibri"/>
              </a:rPr>
              <a:t>Putting It All Together</a:t>
            </a:r>
            <a:endParaRPr/>
          </a:p>
        </p:txBody>
      </p:sp>
      <p:sp>
        <p:nvSpPr>
          <p:cNvPr id="268" name="Google Shape;268;p21"/>
          <p:cNvSpPr txBox="1"/>
          <p:nvPr/>
        </p:nvSpPr>
        <p:spPr>
          <a:xfrm>
            <a:off x="731520" y="384048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0" i="0" lang="en-US" sz="2200" u="none" cap="none" strike="noStrike">
                <a:solidFill>
                  <a:srgbClr val="CDD6F4"/>
                </a:solidFill>
                <a:latin typeface="Calibri"/>
                <a:ea typeface="Calibri"/>
                <a:cs typeface="Calibri"/>
                <a:sym typeface="Calibri"/>
              </a:rPr>
              <a:t>How the four components work as one system</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272" name="Shape 272"/>
        <p:cNvGrpSpPr/>
        <p:nvPr/>
      </p:nvGrpSpPr>
      <p:grpSpPr>
        <a:xfrm>
          <a:off x="0" y="0"/>
          <a:ext cx="0" cy="0"/>
          <a:chOff x="0" y="0"/>
          <a:chExt cx="0" cy="0"/>
        </a:xfrm>
      </p:grpSpPr>
      <p:sp>
        <p:nvSpPr>
          <p:cNvPr id="273" name="Google Shape;273;p22"/>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The Full Chain — Not Isolated Boxes</a:t>
            </a:r>
            <a:endParaRPr/>
          </a:p>
        </p:txBody>
      </p:sp>
      <p:graphicFrame>
        <p:nvGraphicFramePr>
          <p:cNvPr id="274" name="Google Shape;274;p22"/>
          <p:cNvGraphicFramePr/>
          <p:nvPr/>
        </p:nvGraphicFramePr>
        <p:xfrm>
          <a:off x="731520" y="1371600"/>
          <a:ext cx="3000000" cy="3000000"/>
        </p:xfrm>
        <a:graphic>
          <a:graphicData uri="http://schemas.openxmlformats.org/drawingml/2006/table">
            <a:tbl>
              <a:tblPr bandRow="1" firstRow="1">
                <a:noFill/>
                <a:tableStyleId>{FCCA089B-9318-4F43-A4A2-6AA9B0BD1243}</a:tableStyleId>
              </a:tblPr>
              <a:tblGrid>
                <a:gridCol w="3505200"/>
                <a:gridCol w="3505200"/>
                <a:gridCol w="3505200"/>
              </a:tblGrid>
              <a:tr h="400000">
                <a:tc>
                  <a:txBody>
                    <a:bodyPr/>
                    <a:lstStyle/>
                    <a:p>
                      <a:pPr indent="0" lvl="0" marL="0" marR="0" rtl="0" algn="l">
                        <a:spcBef>
                          <a:spcPts val="0"/>
                        </a:spcBef>
                        <a:spcAft>
                          <a:spcPts val="0"/>
                        </a:spcAft>
                        <a:buNone/>
                      </a:pPr>
                      <a:r>
                        <a:rPr b="1" lang="en-US" sz="1600" u="none" cap="none" strike="noStrike">
                          <a:solidFill>
                            <a:srgbClr val="1E1E2E"/>
                          </a:solidFill>
                          <a:latin typeface="Calibri"/>
                          <a:ea typeface="Calibri"/>
                          <a:cs typeface="Calibri"/>
                          <a:sym typeface="Calibri"/>
                        </a:rPr>
                        <a:t>Component</a:t>
                      </a:r>
                      <a:endParaRPr/>
                    </a:p>
                  </a:txBody>
                  <a:tcPr marT="76200" marB="76200" marR="127000" marL="127000">
                    <a:solidFill>
                      <a:srgbClr val="89B4FA"/>
                    </a:solidFill>
                  </a:tcPr>
                </a:tc>
                <a:tc>
                  <a:txBody>
                    <a:bodyPr/>
                    <a:lstStyle/>
                    <a:p>
                      <a:pPr indent="0" lvl="0" marL="0" marR="0" rtl="0" algn="l">
                        <a:spcBef>
                          <a:spcPts val="0"/>
                        </a:spcBef>
                        <a:spcAft>
                          <a:spcPts val="0"/>
                        </a:spcAft>
                        <a:buNone/>
                      </a:pPr>
                      <a:r>
                        <a:rPr b="1" lang="en-US" sz="1600" u="none" cap="none" strike="noStrike">
                          <a:solidFill>
                            <a:srgbClr val="1E1E2E"/>
                          </a:solidFill>
                          <a:latin typeface="Calibri"/>
                          <a:ea typeface="Calibri"/>
                          <a:cs typeface="Calibri"/>
                          <a:sym typeface="Calibri"/>
                        </a:rPr>
                        <a:t>Secretary Equivalent</a:t>
                      </a:r>
                      <a:endParaRPr/>
                    </a:p>
                  </a:txBody>
                  <a:tcPr marT="76200" marB="76200" marR="127000" marL="127000">
                    <a:solidFill>
                      <a:srgbClr val="89B4FA"/>
                    </a:solidFill>
                  </a:tcPr>
                </a:tc>
                <a:tc>
                  <a:txBody>
                    <a:bodyPr/>
                    <a:lstStyle/>
                    <a:p>
                      <a:pPr indent="0" lvl="0" marL="0" marR="0" rtl="0" algn="l">
                        <a:spcBef>
                          <a:spcPts val="0"/>
                        </a:spcBef>
                        <a:spcAft>
                          <a:spcPts val="0"/>
                        </a:spcAft>
                        <a:buNone/>
                      </a:pPr>
                      <a:r>
                        <a:rPr b="1" lang="en-US" sz="1600" u="none" cap="none" strike="noStrike">
                          <a:solidFill>
                            <a:srgbClr val="1E1E2E"/>
                          </a:solidFill>
                          <a:latin typeface="Calibri"/>
                          <a:ea typeface="Calibri"/>
                          <a:cs typeface="Calibri"/>
                          <a:sym typeface="Calibri"/>
                        </a:rPr>
                        <a:t>What It Does</a:t>
                      </a:r>
                      <a:endParaRPr/>
                    </a:p>
                  </a:txBody>
                  <a:tcPr marT="76200" marB="76200" marR="127000" marL="127000">
                    <a:solidFill>
                      <a:srgbClr val="89B4FA"/>
                    </a:solidFill>
                  </a:tcPr>
                </a:tc>
              </a:tr>
              <a:tr h="400000">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Planning</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Making a project to-do list</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Breaks goal into ordered steps</a:t>
                      </a:r>
                      <a:endParaRPr/>
                    </a:p>
                  </a:txBody>
                  <a:tcPr marT="76200" marB="76200" marR="127000" marL="127000">
                    <a:solidFill>
                      <a:srgbClr val="24243A"/>
                    </a:solidFill>
                  </a:tcPr>
                </a:tc>
              </a:tr>
              <a:tr h="400000">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Reasoning</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Thinking through a choice</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Picks best option at every decision</a:t>
                      </a:r>
                      <a:endParaRPr/>
                    </a:p>
                  </a:txBody>
                  <a:tcPr marT="76200" marB="76200" marR="127000" marL="127000">
                    <a:solidFill>
                      <a:srgbClr val="24243A"/>
                    </a:solidFill>
                  </a:tcPr>
                </a:tc>
              </a:tr>
              <a:tr h="400000">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Memory</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Past notes and client files</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Stores and retrieves relevant info</a:t>
                      </a:r>
                      <a:endParaRPr/>
                    </a:p>
                  </a:txBody>
                  <a:tcPr marT="76200" marB="76200" marR="127000" marL="127000">
                    <a:solidFill>
                      <a:srgbClr val="24243A"/>
                    </a:solidFill>
                  </a:tcPr>
                </a:tc>
              </a:tr>
              <a:tr h="400000">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Action</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Making the call / sending email</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600" u="none" cap="none" strike="noStrike">
                          <a:solidFill>
                            <a:srgbClr val="CDD6F4"/>
                          </a:solidFill>
                          <a:latin typeface="Calibri"/>
                          <a:ea typeface="Calibri"/>
                          <a:cs typeface="Calibri"/>
                          <a:sym typeface="Calibri"/>
                        </a:rPr>
                        <a:t>Executes real steps that change the world</a:t>
                      </a:r>
                      <a:endParaRPr/>
                    </a:p>
                  </a:txBody>
                  <a:tcPr marT="76200" marB="76200" marR="127000" marL="127000">
                    <a:solidFill>
                      <a:srgbClr val="24243A"/>
                    </a:solidFill>
                  </a:tcPr>
                </a:tc>
              </a:tr>
            </a:tbl>
          </a:graphicData>
        </a:graphic>
      </p:graphicFrame>
      <p:sp>
        <p:nvSpPr>
          <p:cNvPr id="275" name="Google Shape;275;p22"/>
          <p:cNvSpPr txBox="1"/>
          <p:nvPr/>
        </p:nvSpPr>
        <p:spPr>
          <a:xfrm>
            <a:off x="731520" y="3840480"/>
            <a:ext cx="10515600" cy="457200"/>
          </a:xfrm>
          <a:prstGeom prst="rect">
            <a:avLst/>
          </a:prstGeom>
          <a:noFill/>
          <a:ln>
            <a:noFill/>
          </a:ln>
        </p:spPr>
        <p:txBody>
          <a:bodyPr anchorCtr="0" anchor="t" bIns="25400" lIns="50800" spcFirstLastPara="1" rIns="50800" wrap="square" tIns="25400">
            <a:spAutoFit/>
          </a:bodyPr>
          <a:lstStyle/>
          <a:p>
            <a:pPr indent="0" lvl="0" marL="0" marR="0" rtl="0" algn="ctr">
              <a:spcBef>
                <a:spcPts val="0"/>
              </a:spcBef>
              <a:spcAft>
                <a:spcPts val="0"/>
              </a:spcAft>
              <a:buNone/>
            </a:pPr>
            <a:r>
              <a:rPr b="1" i="0" lang="en-US" sz="2000" u="none" cap="none" strike="noStrike">
                <a:solidFill>
                  <a:srgbClr val="89B4FA"/>
                </a:solidFill>
                <a:latin typeface="Calibri"/>
                <a:ea typeface="Calibri"/>
                <a:cs typeface="Calibri"/>
                <a:sym typeface="Calibri"/>
              </a:rPr>
              <a:t>Goal -&gt; Plan -&gt; Reason -&gt; Memory -&gt; Act -&gt; Memory -&gt; Loop continues...</a:t>
            </a:r>
            <a:endParaRPr/>
          </a:p>
        </p:txBody>
      </p:sp>
      <p:sp>
        <p:nvSpPr>
          <p:cNvPr id="276" name="Google Shape;276;p22"/>
          <p:cNvSpPr txBox="1"/>
          <p:nvPr/>
        </p:nvSpPr>
        <p:spPr>
          <a:xfrm>
            <a:off x="731520" y="4297675"/>
            <a:ext cx="10515600" cy="3900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200" u="none" cap="none" strike="noStrike">
                <a:solidFill>
                  <a:srgbClr val="FAB387"/>
                </a:solidFill>
                <a:latin typeface="Calibri"/>
                <a:ea typeface="Calibri"/>
                <a:cs typeface="Calibri"/>
                <a:sym typeface="Calibri"/>
              </a:rPr>
              <a:t>When One Link Breaks:</a:t>
            </a:r>
            <a:endParaRPr/>
          </a:p>
        </p:txBody>
      </p:sp>
      <p:graphicFrame>
        <p:nvGraphicFramePr>
          <p:cNvPr id="277" name="Google Shape;277;p22"/>
          <p:cNvGraphicFramePr/>
          <p:nvPr/>
        </p:nvGraphicFramePr>
        <p:xfrm>
          <a:off x="731520" y="4743450"/>
          <a:ext cx="3000000" cy="3000000"/>
        </p:xfrm>
        <a:graphic>
          <a:graphicData uri="http://schemas.openxmlformats.org/drawingml/2006/table">
            <a:tbl>
              <a:tblPr bandRow="1" firstRow="1">
                <a:noFill/>
                <a:tableStyleId>{FCCA089B-9318-4F43-A4A2-6AA9B0BD1243}</a:tableStyleId>
              </a:tblPr>
              <a:tblGrid>
                <a:gridCol w="5257800"/>
                <a:gridCol w="5257800"/>
              </a:tblGrid>
              <a:tr h="350000">
                <a:tc>
                  <a:txBody>
                    <a:bodyPr/>
                    <a:lstStyle/>
                    <a:p>
                      <a:pPr indent="0" lvl="0" marL="0" marR="0" rtl="0" algn="l">
                        <a:spcBef>
                          <a:spcPts val="0"/>
                        </a:spcBef>
                        <a:spcAft>
                          <a:spcPts val="0"/>
                        </a:spcAft>
                        <a:buNone/>
                      </a:pPr>
                      <a:r>
                        <a:rPr b="1" lang="en-US" sz="1500" u="none" cap="none" strike="noStrike">
                          <a:solidFill>
                            <a:srgbClr val="1E1E2E"/>
                          </a:solidFill>
                          <a:latin typeface="Calibri"/>
                          <a:ea typeface="Calibri"/>
                          <a:cs typeface="Calibri"/>
                          <a:sym typeface="Calibri"/>
                        </a:rPr>
                        <a:t>Weak Link</a:t>
                      </a:r>
                      <a:endParaRPr/>
                    </a:p>
                  </a:txBody>
                  <a:tcPr marT="76200" marB="76200" marR="127000" marL="127000">
                    <a:solidFill>
                      <a:srgbClr val="89B4FA"/>
                    </a:solidFill>
                  </a:tcPr>
                </a:tc>
                <a:tc>
                  <a:txBody>
                    <a:bodyPr/>
                    <a:lstStyle/>
                    <a:p>
                      <a:pPr indent="0" lvl="0" marL="0" marR="0" rtl="0" algn="l">
                        <a:spcBef>
                          <a:spcPts val="0"/>
                        </a:spcBef>
                        <a:spcAft>
                          <a:spcPts val="0"/>
                        </a:spcAft>
                        <a:buNone/>
                      </a:pPr>
                      <a:r>
                        <a:rPr b="1" lang="en-US" sz="1500" u="none" cap="none" strike="noStrike">
                          <a:solidFill>
                            <a:srgbClr val="1E1E2E"/>
                          </a:solidFill>
                          <a:latin typeface="Calibri"/>
                          <a:ea typeface="Calibri"/>
                          <a:cs typeface="Calibri"/>
                          <a:sym typeface="Calibri"/>
                        </a:rPr>
                        <a:t>Consequence</a:t>
                      </a:r>
                      <a:endParaRPr/>
                    </a:p>
                  </a:txBody>
                  <a:tcPr marT="76200" marB="76200" marR="127000" marL="127000">
                    <a:solidFill>
                      <a:srgbClr val="89B4FA"/>
                    </a:solidFill>
                  </a:tcPr>
                </a:tc>
              </a:tr>
              <a:tr h="350000">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Poor Memory</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Reasoning has wrong info -&gt; bad decision</a:t>
                      </a:r>
                      <a:endParaRPr/>
                    </a:p>
                  </a:txBody>
                  <a:tcPr marT="76200" marB="76200" marR="127000" marL="127000">
                    <a:solidFill>
                      <a:srgbClr val="24243A"/>
                    </a:solidFill>
                  </a:tcPr>
                </a:tc>
              </a:tr>
              <a:tr h="350000">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Poor Reasoning</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Steps executed wrong way -&gt; wrong result</a:t>
                      </a:r>
                      <a:endParaRPr/>
                    </a:p>
                  </a:txBody>
                  <a:tcPr marT="76200" marB="76200" marR="127000" marL="127000">
                    <a:solidFill>
                      <a:srgbClr val="24243A"/>
                    </a:solidFill>
                  </a:tcPr>
                </a:tc>
              </a:tr>
              <a:tr h="350000">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Poor Planning</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Missing/wrong steps -&gt; goal never reached</a:t>
                      </a:r>
                      <a:endParaRPr/>
                    </a:p>
                  </a:txBody>
                  <a:tcPr marT="76200" marB="76200" marR="127000" marL="127000">
                    <a:solidFill>
                      <a:srgbClr val="24243A"/>
                    </a:solidFill>
                  </a:tcPr>
                </a:tc>
              </a:tr>
              <a:tr h="350000">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Poor Action</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500" u="none" cap="none" strike="noStrike">
                          <a:solidFill>
                            <a:srgbClr val="CDD6F4"/>
                          </a:solidFill>
                          <a:latin typeface="Calibri"/>
                          <a:ea typeface="Calibri"/>
                          <a:cs typeface="Calibri"/>
                          <a:sym typeface="Calibri"/>
                        </a:rPr>
                        <a:t>Perfect plan, zero results if actions fail</a:t>
                      </a:r>
                      <a:endParaRPr/>
                    </a:p>
                  </a:txBody>
                  <a:tcPr marT="76200" marB="76200" marR="127000" marL="127000">
                    <a:solidFill>
                      <a:srgbClr val="24243A"/>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281" name="Shape 281"/>
        <p:cNvGrpSpPr/>
        <p:nvPr/>
      </p:nvGrpSpPr>
      <p:grpSpPr>
        <a:xfrm>
          <a:off x="0" y="0"/>
          <a:ext cx="0" cy="0"/>
          <a:chOff x="0" y="0"/>
          <a:chExt cx="0" cy="0"/>
        </a:xfrm>
      </p:grpSpPr>
      <p:sp>
        <p:nvSpPr>
          <p:cNvPr id="282" name="Google Shape;282;p23"/>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Use Case — Food Ordering Agent</a:t>
            </a:r>
            <a:endParaRPr/>
          </a:p>
        </p:txBody>
      </p:sp>
      <p:sp>
        <p:nvSpPr>
          <p:cNvPr id="283" name="Google Shape;283;p23"/>
          <p:cNvSpPr txBox="1"/>
          <p:nvPr/>
        </p:nvSpPr>
        <p:spPr>
          <a:xfrm>
            <a:off x="731520" y="1188720"/>
            <a:ext cx="10515600" cy="457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000" u="none" cap="none" strike="noStrike">
                <a:solidFill>
                  <a:srgbClr val="F9E2AF"/>
                </a:solidFill>
                <a:latin typeface="Calibri"/>
                <a:ea typeface="Calibri"/>
                <a:cs typeface="Calibri"/>
                <a:sym typeface="Calibri"/>
              </a:rPr>
              <a:t>User: "Order me a paneer tikka masala from a good restaurant nearby. I'm hungry."</a:t>
            </a:r>
            <a:endParaRPr/>
          </a:p>
        </p:txBody>
      </p:sp>
      <p:sp>
        <p:nvSpPr>
          <p:cNvPr id="284" name="Google Shape;284;p23"/>
          <p:cNvSpPr txBox="1"/>
          <p:nvPr/>
        </p:nvSpPr>
        <p:spPr>
          <a:xfrm>
            <a:off x="731520" y="1828800"/>
            <a:ext cx="5029200" cy="36576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000" u="none" cap="none" strike="noStrike">
                <a:solidFill>
                  <a:srgbClr val="89B4FA"/>
                </a:solidFill>
                <a:latin typeface="Calibri"/>
                <a:ea typeface="Calibri"/>
                <a:cs typeface="Calibri"/>
                <a:sym typeface="Calibri"/>
              </a:rPr>
              <a:t>Round 1</a:t>
            </a:r>
            <a:endParaRPr/>
          </a:p>
        </p:txBody>
      </p:sp>
      <p:sp>
        <p:nvSpPr>
          <p:cNvPr id="285" name="Google Shape;285;p23"/>
          <p:cNvSpPr txBox="1"/>
          <p:nvPr/>
        </p:nvSpPr>
        <p:spPr>
          <a:xfrm>
            <a:off x="731520" y="2194560"/>
            <a:ext cx="5029200" cy="22860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700" u="none" cap="none" strike="noStrike">
                <a:solidFill>
                  <a:srgbClr val="CDD6F4"/>
                </a:solidFill>
                <a:latin typeface="Calibri"/>
                <a:ea typeface="Calibri"/>
                <a:cs typeface="Calibri"/>
                <a:sym typeface="Calibri"/>
              </a:rPr>
              <a:t>OBSERVE: dish=paneer tikka masala,</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preference=good, location=nearby,</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urgency=hungry</a:t>
            </a:r>
            <a:endParaRPr/>
          </a:p>
          <a:p>
            <a:pPr indent="0" lvl="0" marL="0" marR="0" rtl="0" algn="l">
              <a:spcBef>
                <a:spcPts val="800"/>
              </a:spcBef>
              <a:spcAft>
                <a:spcPts val="0"/>
              </a:spcAft>
              <a:buNone/>
            </a:pPr>
            <a:r>
              <a:rPr b="0" i="0" lang="en-US" sz="1700" u="none" cap="none" strike="noStrike">
                <a:solidFill>
                  <a:srgbClr val="CDD6F4"/>
                </a:solidFill>
                <a:latin typeface="Calibri"/>
                <a:ea typeface="Calibri"/>
                <a:cs typeface="Calibri"/>
                <a:sym typeface="Calibri"/>
              </a:rPr>
              <a:t>THINK (Plan): find restaurants -&gt; filter</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by rating -&gt; pick fastest -&gt; check</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availability -&gt; use saved address -&gt; order</a:t>
            </a:r>
            <a:endParaRPr/>
          </a:p>
          <a:p>
            <a:pPr indent="0" lvl="0" marL="0" marR="0" rtl="0" algn="l">
              <a:spcBef>
                <a:spcPts val="800"/>
              </a:spcBef>
              <a:spcAft>
                <a:spcPts val="0"/>
              </a:spcAft>
              <a:buNone/>
            </a:pPr>
            <a:r>
              <a:rPr b="0" i="0" lang="en-US" sz="1700" u="none" cap="none" strike="noStrike">
                <a:solidFill>
                  <a:srgbClr val="CDD6F4"/>
                </a:solidFill>
                <a:latin typeface="Calibri"/>
                <a:ea typeface="Calibri"/>
                <a:cs typeface="Calibri"/>
                <a:sym typeface="Calibri"/>
              </a:rPr>
              <a:t>ACT: call food delivery API with</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location + dish name</a:t>
            </a:r>
            <a:endParaRPr/>
          </a:p>
        </p:txBody>
      </p:sp>
      <p:sp>
        <p:nvSpPr>
          <p:cNvPr id="286" name="Google Shape;286;p23"/>
          <p:cNvSpPr txBox="1"/>
          <p:nvPr/>
        </p:nvSpPr>
        <p:spPr>
          <a:xfrm>
            <a:off x="6400800" y="1828800"/>
            <a:ext cx="5029200" cy="36576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000" u="none" cap="none" strike="noStrike">
                <a:solidFill>
                  <a:srgbClr val="A6E3A1"/>
                </a:solidFill>
                <a:latin typeface="Calibri"/>
                <a:ea typeface="Calibri"/>
                <a:cs typeface="Calibri"/>
                <a:sym typeface="Calibri"/>
              </a:rPr>
              <a:t>Round 2</a:t>
            </a:r>
            <a:endParaRPr/>
          </a:p>
        </p:txBody>
      </p:sp>
      <p:sp>
        <p:nvSpPr>
          <p:cNvPr id="287" name="Google Shape;287;p23"/>
          <p:cNvSpPr txBox="1"/>
          <p:nvPr/>
        </p:nvSpPr>
        <p:spPr>
          <a:xfrm>
            <a:off x="6400800" y="2194560"/>
            <a:ext cx="5029200" cy="22860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700" u="none" cap="none" strike="noStrike">
                <a:solidFill>
                  <a:srgbClr val="CDD6F4"/>
                </a:solidFill>
                <a:latin typeface="Calibri"/>
                <a:ea typeface="Calibri"/>
                <a:cs typeface="Calibri"/>
                <a:sym typeface="Calibri"/>
              </a:rPr>
              <a:t>OBSERVE: 8 restaurants found, 2 have</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the dish. Spice Garden: 4.6 stars, 25 min.</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Punjabi Tadka: 4.2 stars, 15 min.</a:t>
            </a:r>
            <a:endParaRPr/>
          </a:p>
          <a:p>
            <a:pPr indent="0" lvl="0" marL="0" marR="0" rtl="0" algn="l">
              <a:spcBef>
                <a:spcPts val="800"/>
              </a:spcBef>
              <a:spcAft>
                <a:spcPts val="0"/>
              </a:spcAft>
              <a:buNone/>
            </a:pPr>
            <a:r>
              <a:rPr b="0" i="0" lang="en-US" sz="1700" u="none" cap="none" strike="noStrike">
                <a:solidFill>
                  <a:srgbClr val="CDD6F4"/>
                </a:solidFill>
                <a:latin typeface="Calibri"/>
                <a:ea typeface="Calibri"/>
                <a:cs typeface="Calibri"/>
                <a:sym typeface="Calibri"/>
              </a:rPr>
              <a:t>THINK (Reason): user said "hungry" =</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speed matters. Punjabi Tadka is faster.</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Check long-term memory: address saved!</a:t>
            </a:r>
            <a:endParaRPr/>
          </a:p>
          <a:p>
            <a:pPr indent="0" lvl="0" marL="0" marR="0" rtl="0" algn="l">
              <a:spcBef>
                <a:spcPts val="800"/>
              </a:spcBef>
              <a:spcAft>
                <a:spcPts val="0"/>
              </a:spcAft>
              <a:buNone/>
            </a:pPr>
            <a:r>
              <a:rPr b="0" i="0" lang="en-US" sz="1700" u="none" cap="none" strike="noStrike">
                <a:solidFill>
                  <a:srgbClr val="CDD6F4"/>
                </a:solidFill>
                <a:latin typeface="Calibri"/>
                <a:ea typeface="Calibri"/>
                <a:cs typeface="Calibri"/>
                <a:sym typeface="Calibri"/>
              </a:rPr>
              <a:t>ACT: place order via API. Result:</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Order #PT-44123, delivery 18 min.</a:t>
            </a:r>
            <a:endParaRPr/>
          </a:p>
        </p:txBody>
      </p:sp>
      <p:sp>
        <p:nvSpPr>
          <p:cNvPr id="288" name="Google Shape;288;p23"/>
          <p:cNvSpPr/>
          <p:nvPr/>
        </p:nvSpPr>
        <p:spPr>
          <a:xfrm>
            <a:off x="731520" y="5029200"/>
            <a:ext cx="10515600" cy="1371600"/>
          </a:xfrm>
          <a:prstGeom prst="roundRect">
            <a:avLst>
              <a:gd fmla="val 16667" name="adj"/>
            </a:avLst>
          </a:prstGeom>
          <a:solidFill>
            <a:srgbClr val="2735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100" u="none" cap="none" strike="noStrike">
                <a:solidFill>
                  <a:srgbClr val="A6E3A1"/>
                </a:solidFill>
                <a:latin typeface="Calibri"/>
                <a:ea typeface="Calibri"/>
                <a:cs typeface="Calibri"/>
                <a:sym typeface="Calibri"/>
              </a:rPr>
              <a:t>Round 3: OBSERVE confirmation -&gt; THINK "task done" -&gt; ACT "Your paneer tikka masala from Punjabi Tadka is ordered! Delivery: 18 min."</a:t>
            </a:r>
            <a:endParaRPr sz="1300"/>
          </a:p>
          <a:p>
            <a:pPr indent="0" lvl="0" marL="0" marR="0" rtl="0" algn="l">
              <a:spcBef>
                <a:spcPts val="800"/>
              </a:spcBef>
              <a:spcAft>
                <a:spcPts val="0"/>
              </a:spcAft>
              <a:buNone/>
            </a:pPr>
            <a:r>
              <a:rPr b="0" i="0" lang="en-US" sz="1700" u="none" cap="none" strike="noStrike">
                <a:solidFill>
                  <a:srgbClr val="CDD6F4"/>
                </a:solidFill>
                <a:latin typeface="Calibri"/>
                <a:ea typeface="Calibri"/>
                <a:cs typeface="Calibri"/>
                <a:sym typeface="Calibri"/>
              </a:rPr>
              <a:t>Didn't ask for address (Memory) | Prioritized speed over rating (Reasoning) | 3 loops, no human interruption (Autonomy)</a:t>
            </a:r>
            <a:endParaRPr sz="13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292" name="Shape 292"/>
        <p:cNvGrpSpPr/>
        <p:nvPr/>
      </p:nvGrpSpPr>
      <p:grpSpPr>
        <a:xfrm>
          <a:off x="0" y="0"/>
          <a:ext cx="0" cy="0"/>
          <a:chOff x="0" y="0"/>
          <a:chExt cx="0" cy="0"/>
        </a:xfrm>
      </p:grpSpPr>
      <p:sp>
        <p:nvSpPr>
          <p:cNvPr id="293" name="Google Shape;293;p24"/>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Use Case — Job Application Agent</a:t>
            </a:r>
            <a:endParaRPr/>
          </a:p>
        </p:txBody>
      </p:sp>
      <p:sp>
        <p:nvSpPr>
          <p:cNvPr id="294" name="Google Shape;294;p24"/>
          <p:cNvSpPr txBox="1"/>
          <p:nvPr/>
        </p:nvSpPr>
        <p:spPr>
          <a:xfrm>
            <a:off x="731520" y="1188720"/>
            <a:ext cx="10515600" cy="4572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000" u="none" cap="none" strike="noStrike">
                <a:solidFill>
                  <a:srgbClr val="F9E2AF"/>
                </a:solidFill>
                <a:latin typeface="Calibri"/>
                <a:ea typeface="Calibri"/>
                <a:cs typeface="Calibri"/>
                <a:sym typeface="Calibri"/>
              </a:rPr>
              <a:t>User: "Find me 3 Python developer jobs in Bangalore and send my resume."</a:t>
            </a:r>
            <a:endParaRPr/>
          </a:p>
        </p:txBody>
      </p:sp>
      <p:sp>
        <p:nvSpPr>
          <p:cNvPr id="295" name="Google Shape;295;p24"/>
          <p:cNvSpPr txBox="1"/>
          <p:nvPr/>
        </p:nvSpPr>
        <p:spPr>
          <a:xfrm>
            <a:off x="731520" y="1828800"/>
            <a:ext cx="5029200" cy="36576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000" u="none" cap="none" strike="noStrike">
                <a:solidFill>
                  <a:srgbClr val="89B4FA"/>
                </a:solidFill>
                <a:latin typeface="Calibri"/>
                <a:ea typeface="Calibri"/>
                <a:cs typeface="Calibri"/>
                <a:sym typeface="Calibri"/>
              </a:rPr>
              <a:t>The Plan (7 Steps)</a:t>
            </a:r>
            <a:endParaRPr/>
          </a:p>
        </p:txBody>
      </p:sp>
      <p:sp>
        <p:nvSpPr>
          <p:cNvPr id="296" name="Google Shape;296;p24"/>
          <p:cNvSpPr txBox="1"/>
          <p:nvPr/>
        </p:nvSpPr>
        <p:spPr>
          <a:xfrm>
            <a:off x="731520" y="2194560"/>
            <a:ext cx="5029200" cy="27432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700" u="none" cap="none" strike="noStrike">
                <a:solidFill>
                  <a:srgbClr val="CDD6F4"/>
                </a:solidFill>
                <a:latin typeface="Calibri"/>
                <a:ea typeface="Calibri"/>
                <a:cs typeface="Calibri"/>
                <a:sym typeface="Calibri"/>
              </a:rPr>
              <a:t>1. Search for Python dev jobs in Bangalore</a:t>
            </a:r>
            <a:endParaRPr/>
          </a:p>
          <a:p>
            <a:pPr indent="0" lvl="0" marL="0" marR="0" rtl="0" algn="l">
              <a:spcBef>
                <a:spcPts val="600"/>
              </a:spcBef>
              <a:spcAft>
                <a:spcPts val="0"/>
              </a:spcAft>
              <a:buNone/>
            </a:pPr>
            <a:r>
              <a:rPr b="0" i="0" lang="en-US" sz="1700" u="none" cap="none" strike="noStrike">
                <a:solidFill>
                  <a:srgbClr val="CDD6F4"/>
                </a:solidFill>
                <a:latin typeface="Calibri"/>
                <a:ea typeface="Calibri"/>
                <a:cs typeface="Calibri"/>
                <a:sym typeface="Calibri"/>
              </a:rPr>
              <a:t>2. Filter to find 3 relevant, recent ones</a:t>
            </a:r>
            <a:endParaRPr/>
          </a:p>
          <a:p>
            <a:pPr indent="0" lvl="0" marL="0" marR="0" rtl="0" algn="l">
              <a:spcBef>
                <a:spcPts val="600"/>
              </a:spcBef>
              <a:spcAft>
                <a:spcPts val="0"/>
              </a:spcAft>
              <a:buNone/>
            </a:pPr>
            <a:r>
              <a:rPr b="0" i="0" lang="en-US" sz="1700" u="none" cap="none" strike="noStrike">
                <a:solidFill>
                  <a:srgbClr val="CDD6F4"/>
                </a:solidFill>
                <a:latin typeface="Calibri"/>
                <a:ea typeface="Calibri"/>
                <a:cs typeface="Calibri"/>
                <a:sym typeface="Calibri"/>
              </a:rPr>
              <a:t>3. Extract application link / email for each</a:t>
            </a:r>
            <a:endParaRPr/>
          </a:p>
          <a:p>
            <a:pPr indent="0" lvl="0" marL="0" marR="0" rtl="0" algn="l">
              <a:spcBef>
                <a:spcPts val="600"/>
              </a:spcBef>
              <a:spcAft>
                <a:spcPts val="0"/>
              </a:spcAft>
              <a:buNone/>
            </a:pPr>
            <a:r>
              <a:rPr b="0" i="0" lang="en-US" sz="1700" u="none" cap="none" strike="noStrike">
                <a:solidFill>
                  <a:srgbClr val="CDD6F4"/>
                </a:solidFill>
                <a:latin typeface="Calibri"/>
                <a:ea typeface="Calibri"/>
                <a:cs typeface="Calibri"/>
                <a:sym typeface="Calibri"/>
              </a:rPr>
              <a:t>4. Retrieve user's resume (saved from before)</a:t>
            </a:r>
            <a:endParaRPr/>
          </a:p>
          <a:p>
            <a:pPr indent="0" lvl="0" marL="0" marR="0" rtl="0" algn="l">
              <a:spcBef>
                <a:spcPts val="600"/>
              </a:spcBef>
              <a:spcAft>
                <a:spcPts val="0"/>
              </a:spcAft>
              <a:buNone/>
            </a:pPr>
            <a:r>
              <a:rPr b="0" i="0" lang="en-US" sz="1700" u="none" cap="none" strike="noStrike">
                <a:solidFill>
                  <a:srgbClr val="CDD6F4"/>
                </a:solidFill>
                <a:latin typeface="Calibri"/>
                <a:ea typeface="Calibri"/>
                <a:cs typeface="Calibri"/>
                <a:sym typeface="Calibri"/>
              </a:rPr>
              <a:t>5. Customize cover letter per company</a:t>
            </a:r>
            <a:endParaRPr/>
          </a:p>
          <a:p>
            <a:pPr indent="0" lvl="0" marL="0" marR="0" rtl="0" algn="l">
              <a:spcBef>
                <a:spcPts val="600"/>
              </a:spcBef>
              <a:spcAft>
                <a:spcPts val="0"/>
              </a:spcAft>
              <a:buNone/>
            </a:pPr>
            <a:r>
              <a:rPr b="0" i="0" lang="en-US" sz="1700" u="none" cap="none" strike="noStrike">
                <a:solidFill>
                  <a:srgbClr val="CDD6F4"/>
                </a:solidFill>
                <a:latin typeface="Calibri"/>
                <a:ea typeface="Calibri"/>
                <a:cs typeface="Calibri"/>
                <a:sym typeface="Calibri"/>
              </a:rPr>
              <a:t>6. Send resume + cover letter to each</a:t>
            </a:r>
            <a:endParaRPr/>
          </a:p>
          <a:p>
            <a:pPr indent="0" lvl="0" marL="0" marR="0" rtl="0" algn="l">
              <a:spcBef>
                <a:spcPts val="600"/>
              </a:spcBef>
              <a:spcAft>
                <a:spcPts val="0"/>
              </a:spcAft>
              <a:buNone/>
            </a:pPr>
            <a:r>
              <a:rPr b="0" i="0" lang="en-US" sz="1700" u="none" cap="none" strike="noStrike">
                <a:solidFill>
                  <a:srgbClr val="CDD6F4"/>
                </a:solidFill>
                <a:latin typeface="Calibri"/>
                <a:ea typeface="Calibri"/>
                <a:cs typeface="Calibri"/>
                <a:sym typeface="Calibri"/>
              </a:rPr>
              <a:t>7. Log applications and confirm to user</a:t>
            </a:r>
            <a:endParaRPr/>
          </a:p>
        </p:txBody>
      </p:sp>
      <p:sp>
        <p:nvSpPr>
          <p:cNvPr id="297" name="Google Shape;297;p24"/>
          <p:cNvSpPr txBox="1"/>
          <p:nvPr/>
        </p:nvSpPr>
        <p:spPr>
          <a:xfrm>
            <a:off x="6400800" y="1828800"/>
            <a:ext cx="5029200" cy="36576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000" u="none" cap="none" strike="noStrike">
                <a:solidFill>
                  <a:srgbClr val="FAB387"/>
                </a:solidFill>
                <a:latin typeface="Calibri"/>
                <a:ea typeface="Calibri"/>
                <a:cs typeface="Calibri"/>
                <a:sym typeface="Calibri"/>
              </a:rPr>
              <a:t>Reasoning Checkpoints</a:t>
            </a:r>
            <a:endParaRPr/>
          </a:p>
        </p:txBody>
      </p:sp>
      <p:sp>
        <p:nvSpPr>
          <p:cNvPr id="298" name="Google Shape;298;p24"/>
          <p:cNvSpPr txBox="1"/>
          <p:nvPr/>
        </p:nvSpPr>
        <p:spPr>
          <a:xfrm>
            <a:off x="6400800" y="2194560"/>
            <a:ext cx="5029200" cy="27432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700" u="none" cap="none" strike="noStrike">
                <a:solidFill>
                  <a:srgbClr val="CDD6F4"/>
                </a:solidFill>
                <a:latin typeface="Calibri"/>
                <a:ea typeface="Calibri"/>
                <a:cs typeface="Calibri"/>
                <a:sym typeface="Calibri"/>
              </a:rPr>
              <a:t>"This company accepts LinkedIn only"</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-&gt; Apply via their LinkedIn link instead</a:t>
            </a:r>
            <a:endParaRPr/>
          </a:p>
          <a:p>
            <a:pPr indent="0" lvl="0" marL="0" marR="0" rtl="0" algn="l">
              <a:spcBef>
                <a:spcPts val="1200"/>
              </a:spcBef>
              <a:spcAft>
                <a:spcPts val="0"/>
              </a:spcAft>
              <a:buNone/>
            </a:pPr>
            <a:r>
              <a:rPr b="0" i="0" lang="en-US" sz="1700" u="none" cap="none" strike="noStrike">
                <a:solidFill>
                  <a:srgbClr val="CDD6F4"/>
                </a:solidFill>
                <a:latin typeface="Calibri"/>
                <a:ea typeface="Calibri"/>
                <a:cs typeface="Calibri"/>
                <a:sym typeface="Calibri"/>
              </a:rPr>
              <a:t>"This job posting is 3 months old"</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-&gt; Might be expired, note to user</a:t>
            </a:r>
            <a:endParaRPr/>
          </a:p>
          <a:p>
            <a:pPr indent="0" lvl="0" marL="0" marR="0" rtl="0" algn="l">
              <a:spcBef>
                <a:spcPts val="1200"/>
              </a:spcBef>
              <a:spcAft>
                <a:spcPts val="0"/>
              </a:spcAft>
              <a:buNone/>
            </a:pPr>
            <a:r>
              <a:rPr b="0" i="0" lang="en-US" sz="1700" u="none" cap="none" strike="noStrike">
                <a:solidFill>
                  <a:srgbClr val="CDD6F4"/>
                </a:solidFill>
                <a:latin typeface="Calibri"/>
                <a:ea typeface="Calibri"/>
                <a:cs typeface="Calibri"/>
                <a:sym typeface="Calibri"/>
              </a:rPr>
              <a:t>"User's resume is PDF but form wants</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Word" -&gt; Alert the user about format</a:t>
            </a:r>
            <a:endParaRPr/>
          </a:p>
        </p:txBody>
      </p:sp>
      <p:sp>
        <p:nvSpPr>
          <p:cNvPr id="299" name="Google Shape;299;p24"/>
          <p:cNvSpPr txBox="1"/>
          <p:nvPr/>
        </p:nvSpPr>
        <p:spPr>
          <a:xfrm>
            <a:off x="6400800" y="4846320"/>
            <a:ext cx="5029200" cy="36576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2000" u="none" cap="none" strike="noStrike">
                <a:solidFill>
                  <a:srgbClr val="A6E3A1"/>
                </a:solidFill>
                <a:latin typeface="Calibri"/>
                <a:ea typeface="Calibri"/>
                <a:cs typeface="Calibri"/>
                <a:sym typeface="Calibri"/>
              </a:rPr>
              <a:t>Memory at Work</a:t>
            </a:r>
            <a:endParaRPr/>
          </a:p>
        </p:txBody>
      </p:sp>
      <p:sp>
        <p:nvSpPr>
          <p:cNvPr id="300" name="Google Shape;300;p24"/>
          <p:cNvSpPr txBox="1"/>
          <p:nvPr/>
        </p:nvSpPr>
        <p:spPr>
          <a:xfrm>
            <a:off x="6400800" y="5212080"/>
            <a:ext cx="5029200" cy="13716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700" u="none" cap="none" strike="noStrike">
                <a:solidFill>
                  <a:srgbClr val="CDD6F4"/>
                </a:solidFill>
                <a:latin typeface="Calibri"/>
                <a:ea typeface="Calibri"/>
                <a:cs typeface="Calibri"/>
                <a:sym typeface="Calibri"/>
              </a:rPr>
              <a:t>Resume file path from previous session</a:t>
            </a:r>
            <a:endParaRPr/>
          </a:p>
          <a:p>
            <a:pPr indent="0" lvl="0" marL="0" marR="0" rtl="0" algn="l">
              <a:spcBef>
                <a:spcPts val="800"/>
              </a:spcBef>
              <a:spcAft>
                <a:spcPts val="0"/>
              </a:spcAft>
              <a:buNone/>
            </a:pPr>
            <a:r>
              <a:rPr b="0" i="0" lang="en-US" sz="1700" u="none" cap="none" strike="noStrike">
                <a:solidFill>
                  <a:srgbClr val="CDD6F4"/>
                </a:solidFill>
                <a:latin typeface="Calibri"/>
                <a:ea typeface="Calibri"/>
                <a:cs typeface="Calibri"/>
                <a:sym typeface="Calibri"/>
              </a:rPr>
              <a:t>Name, email, phone from profile — no</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need to ask again</a:t>
            </a:r>
            <a:endParaRPr/>
          </a:p>
        </p:txBody>
      </p:sp>
      <p:sp>
        <p:nvSpPr>
          <p:cNvPr id="301" name="Google Shape;301;p24"/>
          <p:cNvSpPr/>
          <p:nvPr/>
        </p:nvSpPr>
        <p:spPr>
          <a:xfrm>
            <a:off x="731520" y="5303520"/>
            <a:ext cx="5029200" cy="1188720"/>
          </a:xfrm>
          <a:prstGeom prst="roundRect">
            <a:avLst>
              <a:gd fmla="val 16667" name="adj"/>
            </a:avLst>
          </a:prstGeom>
          <a:solidFill>
            <a:srgbClr val="27274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9E2AF"/>
                </a:solidFill>
                <a:latin typeface="Calibri"/>
                <a:ea typeface="Calibri"/>
                <a:cs typeface="Calibri"/>
                <a:sym typeface="Calibri"/>
              </a:rPr>
              <a:t>Final Action</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"Applied to 2 companies directly. For</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TechCorp, please apply via LinkedIn."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243A"/>
        </a:solidFill>
      </p:bgPr>
    </p:bg>
    <p:spTree>
      <p:nvGrpSpPr>
        <p:cNvPr id="305" name="Shape 305"/>
        <p:cNvGrpSpPr/>
        <p:nvPr/>
      </p:nvGrpSpPr>
      <p:grpSpPr>
        <a:xfrm>
          <a:off x="0" y="0"/>
          <a:ext cx="0" cy="0"/>
          <a:chOff x="0" y="0"/>
          <a:chExt cx="0" cy="0"/>
        </a:xfrm>
      </p:grpSpPr>
      <p:sp>
        <p:nvSpPr>
          <p:cNvPr id="306" name="Google Shape;306;p25"/>
          <p:cNvSpPr/>
          <p:nvPr/>
        </p:nvSpPr>
        <p:spPr>
          <a:xfrm>
            <a:off x="0" y="2926080"/>
            <a:ext cx="137160" cy="1005840"/>
          </a:xfrm>
          <a:prstGeom prst="rect">
            <a:avLst/>
          </a:prstGeom>
          <a:solidFill>
            <a:srgbClr val="89B4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25"/>
          <p:cNvSpPr txBox="1"/>
          <p:nvPr/>
        </p:nvSpPr>
        <p:spPr>
          <a:xfrm>
            <a:off x="731520" y="2286000"/>
            <a:ext cx="10058400" cy="13716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4400" u="none" cap="none" strike="noStrike">
                <a:solidFill>
                  <a:srgbClr val="FFFFFF"/>
                </a:solidFill>
                <a:latin typeface="Calibri"/>
                <a:ea typeface="Calibri"/>
                <a:cs typeface="Calibri"/>
                <a:sym typeface="Calibri"/>
              </a:rPr>
              <a:t>When Agents Go Wrong</a:t>
            </a:r>
            <a:endParaRPr/>
          </a:p>
        </p:txBody>
      </p:sp>
      <p:sp>
        <p:nvSpPr>
          <p:cNvPr id="308" name="Google Shape;308;p25"/>
          <p:cNvSpPr txBox="1"/>
          <p:nvPr/>
        </p:nvSpPr>
        <p:spPr>
          <a:xfrm>
            <a:off x="731520" y="384048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0" i="0" lang="en-US" sz="2200" u="none" cap="none" strike="noStrike">
                <a:solidFill>
                  <a:srgbClr val="CDD6F4"/>
                </a:solidFill>
                <a:latin typeface="Calibri"/>
                <a:ea typeface="Calibri"/>
                <a:cs typeface="Calibri"/>
                <a:sym typeface="Calibri"/>
              </a:rPr>
              <a:t>Common failure modes and why they matter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312" name="Shape 312"/>
        <p:cNvGrpSpPr/>
        <p:nvPr/>
      </p:nvGrpSpPr>
      <p:grpSpPr>
        <a:xfrm>
          <a:off x="0" y="0"/>
          <a:ext cx="0" cy="0"/>
          <a:chOff x="0" y="0"/>
          <a:chExt cx="0" cy="0"/>
        </a:xfrm>
      </p:grpSpPr>
      <p:sp>
        <p:nvSpPr>
          <p:cNvPr id="313" name="Google Shape;313;p26"/>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FAB387"/>
                </a:solidFill>
                <a:latin typeface="Calibri"/>
                <a:ea typeface="Calibri"/>
                <a:cs typeface="Calibri"/>
                <a:sym typeface="Calibri"/>
              </a:rPr>
              <a:t>Four Common Failure Modes</a:t>
            </a:r>
            <a:endParaRPr/>
          </a:p>
        </p:txBody>
      </p:sp>
      <p:sp>
        <p:nvSpPr>
          <p:cNvPr id="314" name="Google Shape;314;p26"/>
          <p:cNvSpPr/>
          <p:nvPr/>
        </p:nvSpPr>
        <p:spPr>
          <a:xfrm>
            <a:off x="731525" y="1371600"/>
            <a:ext cx="5076600" cy="1848900"/>
          </a:xfrm>
          <a:prstGeom prst="roundRect">
            <a:avLst>
              <a:gd fmla="val 16667" name="adj"/>
            </a:avLst>
          </a:prstGeom>
          <a:solidFill>
            <a:srgbClr val="4527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100" u="none" cap="none" strike="noStrike">
                <a:solidFill>
                  <a:srgbClr val="FAB387"/>
                </a:solidFill>
                <a:latin typeface="Calibri"/>
                <a:ea typeface="Calibri"/>
                <a:cs typeface="Calibri"/>
                <a:sym typeface="Calibri"/>
              </a:rPr>
              <a:t>1. Bad Planning — Wrong Steps or Order</a:t>
            </a:r>
            <a:endParaRPr sz="1300"/>
          </a:p>
          <a:p>
            <a:pPr indent="0" lvl="0" marL="0" marR="0" rtl="0" algn="l">
              <a:spcBef>
                <a:spcPts val="800"/>
              </a:spcBef>
              <a:spcAft>
                <a:spcPts val="0"/>
              </a:spcAft>
              <a:buNone/>
            </a:pPr>
            <a:r>
              <a:rPr b="0" i="0" lang="en-US" sz="1700" u="none" cap="none" strike="noStrike">
                <a:solidFill>
                  <a:srgbClr val="CDD6F4"/>
                </a:solidFill>
                <a:latin typeface="Calibri"/>
                <a:ea typeface="Calibri"/>
                <a:cs typeface="Calibri"/>
                <a:sym typeface="Calibri"/>
              </a:rPr>
              <a:t>Agent sends sales report but skips checking</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if this month's data was updated.</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Fix: account for dependencies + add</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verification steps in every plan.</a:t>
            </a:r>
            <a:endParaRPr sz="1300"/>
          </a:p>
        </p:txBody>
      </p:sp>
      <p:sp>
        <p:nvSpPr>
          <p:cNvPr id="315" name="Google Shape;315;p26"/>
          <p:cNvSpPr/>
          <p:nvPr/>
        </p:nvSpPr>
        <p:spPr>
          <a:xfrm>
            <a:off x="6400800" y="1371600"/>
            <a:ext cx="5118900" cy="1848900"/>
          </a:xfrm>
          <a:prstGeom prst="roundRect">
            <a:avLst>
              <a:gd fmla="val 16667" name="adj"/>
            </a:avLst>
          </a:prstGeom>
          <a:solidFill>
            <a:srgbClr val="4527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100" u="none" cap="none" strike="noStrike">
                <a:solidFill>
                  <a:srgbClr val="FAB387"/>
                </a:solidFill>
                <a:latin typeface="Calibri"/>
                <a:ea typeface="Calibri"/>
                <a:cs typeface="Calibri"/>
                <a:sym typeface="Calibri"/>
              </a:rPr>
              <a:t>2. Memory Failure — Forgetting Context</a:t>
            </a:r>
            <a:endParaRPr sz="1300"/>
          </a:p>
          <a:p>
            <a:pPr indent="0" lvl="0" marL="0" marR="0" rtl="0" algn="l">
              <a:spcBef>
                <a:spcPts val="800"/>
              </a:spcBef>
              <a:spcAft>
                <a:spcPts val="0"/>
              </a:spcAft>
              <a:buNone/>
            </a:pPr>
            <a:r>
              <a:rPr b="0" i="0" lang="en-US" sz="1700" u="none" cap="none" strike="noStrike">
                <a:solidFill>
                  <a:srgbClr val="CDD6F4"/>
                </a:solidFill>
                <a:latin typeface="Calibri"/>
                <a:ea typeface="Calibri"/>
                <a:cs typeface="Calibri"/>
                <a:sym typeface="Calibri"/>
              </a:rPr>
              <a:t>User gave date of birth in message #2.</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By message #10, agent asks again.</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Fix: maintain active context + save</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key facts to long-term memory.</a:t>
            </a:r>
            <a:endParaRPr sz="1300"/>
          </a:p>
        </p:txBody>
      </p:sp>
      <p:sp>
        <p:nvSpPr>
          <p:cNvPr id="316" name="Google Shape;316;p26"/>
          <p:cNvSpPr/>
          <p:nvPr/>
        </p:nvSpPr>
        <p:spPr>
          <a:xfrm>
            <a:off x="731525" y="3383274"/>
            <a:ext cx="5118900" cy="1830600"/>
          </a:xfrm>
          <a:prstGeom prst="roundRect">
            <a:avLst>
              <a:gd fmla="val 16667" name="adj"/>
            </a:avLst>
          </a:prstGeom>
          <a:solidFill>
            <a:srgbClr val="4527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100" u="none" cap="none" strike="noStrike">
                <a:solidFill>
                  <a:srgbClr val="FAB387"/>
                </a:solidFill>
                <a:latin typeface="Calibri"/>
                <a:ea typeface="Calibri"/>
                <a:cs typeface="Calibri"/>
                <a:sym typeface="Calibri"/>
              </a:rPr>
              <a:t>3. Reasoning Error — Wrong Decision</a:t>
            </a:r>
            <a:endParaRPr sz="1300"/>
          </a:p>
          <a:p>
            <a:pPr indent="0" lvl="0" marL="0" marR="0" rtl="0" algn="l">
              <a:spcBef>
                <a:spcPts val="800"/>
              </a:spcBef>
              <a:spcAft>
                <a:spcPts val="0"/>
              </a:spcAft>
              <a:buNone/>
            </a:pPr>
            <a:r>
              <a:rPr b="0" i="0" lang="en-US" sz="1700" u="none" cap="none" strike="noStrike">
                <a:solidFill>
                  <a:srgbClr val="CDD6F4"/>
                </a:solidFill>
                <a:latin typeface="Calibri"/>
                <a:ea typeface="Calibri"/>
                <a:cs typeface="Calibri"/>
                <a:sym typeface="Calibri"/>
              </a:rPr>
              <a:t>User says "budget hotel near airport."</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Agent picks expensive one (closer, not</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cheaper). Prioritized wrong factor.</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Fix: ground reasoning in user's priority.</a:t>
            </a:r>
            <a:endParaRPr sz="1300"/>
          </a:p>
        </p:txBody>
      </p:sp>
      <p:sp>
        <p:nvSpPr>
          <p:cNvPr id="317" name="Google Shape;317;p26"/>
          <p:cNvSpPr/>
          <p:nvPr/>
        </p:nvSpPr>
        <p:spPr>
          <a:xfrm>
            <a:off x="6400800" y="3383275"/>
            <a:ext cx="5118900" cy="1787100"/>
          </a:xfrm>
          <a:prstGeom prst="roundRect">
            <a:avLst>
              <a:gd fmla="val 16667" name="adj"/>
            </a:avLst>
          </a:prstGeom>
          <a:solidFill>
            <a:srgbClr val="4527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100" u="none" cap="none" strike="noStrike">
                <a:solidFill>
                  <a:srgbClr val="FAB387"/>
                </a:solidFill>
                <a:latin typeface="Calibri"/>
                <a:ea typeface="Calibri"/>
                <a:cs typeface="Calibri"/>
                <a:sym typeface="Calibri"/>
              </a:rPr>
              <a:t>4. Wrong Action — Bad Execution</a:t>
            </a:r>
            <a:endParaRPr sz="1300"/>
          </a:p>
          <a:p>
            <a:pPr indent="0" lvl="0" marL="0" marR="0" rtl="0" algn="l">
              <a:spcBef>
                <a:spcPts val="800"/>
              </a:spcBef>
              <a:spcAft>
                <a:spcPts val="0"/>
              </a:spcAft>
              <a:buNone/>
            </a:pPr>
            <a:r>
              <a:rPr b="0" i="0" lang="en-US" sz="1700" u="none" cap="none" strike="noStrike">
                <a:solidFill>
                  <a:srgbClr val="CDD6F4"/>
                </a:solidFill>
                <a:latin typeface="Calibri"/>
                <a:ea typeface="Calibri"/>
                <a:cs typeface="Calibri"/>
                <a:sym typeface="Calibri"/>
              </a:rPr>
              <a:t>Agent sends confirmation email to an old,</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outdated address. User never receives it.</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Fix: verify action results before</a:t>
            </a:r>
            <a:br>
              <a:rPr b="0" i="0" lang="en-US" sz="1700" u="none" cap="none" strike="noStrike">
                <a:solidFill>
                  <a:srgbClr val="CDD6F4"/>
                </a:solidFill>
                <a:latin typeface="Calibri"/>
                <a:ea typeface="Calibri"/>
                <a:cs typeface="Calibri"/>
                <a:sym typeface="Calibri"/>
              </a:rPr>
            </a:br>
            <a:r>
              <a:rPr b="0" i="0" lang="en-US" sz="1700" u="none" cap="none" strike="noStrike">
                <a:solidFill>
                  <a:srgbClr val="CDD6F4"/>
                </a:solidFill>
                <a:latin typeface="Calibri"/>
                <a:ea typeface="Calibri"/>
                <a:cs typeface="Calibri"/>
                <a:sym typeface="Calibri"/>
              </a:rPr>
              <a:t>reporting success to the user.</a:t>
            </a:r>
            <a:endParaRPr sz="1300"/>
          </a:p>
        </p:txBody>
      </p:sp>
      <p:sp>
        <p:nvSpPr>
          <p:cNvPr id="318" name="Google Shape;318;p26"/>
          <p:cNvSpPr/>
          <p:nvPr/>
        </p:nvSpPr>
        <p:spPr>
          <a:xfrm>
            <a:off x="731520" y="5394960"/>
            <a:ext cx="10515600" cy="1097280"/>
          </a:xfrm>
          <a:prstGeom prst="roundRect">
            <a:avLst>
              <a:gd fmla="val 16667" name="adj"/>
            </a:avLst>
          </a:prstGeom>
          <a:solidFill>
            <a:srgbClr val="27274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9E2AF"/>
                </a:solidFill>
                <a:latin typeface="Calibri"/>
                <a:ea typeface="Calibri"/>
                <a:cs typeface="Calibri"/>
                <a:sym typeface="Calibri"/>
              </a:rPr>
              <a:t>Why Agent Failures Are Serious</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Chatbot error = wrong answer (annoying). Agent error = wrong email sent, wrong order placed, wrong file deleted — real, immediate, sometimes irreversible consequences.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322" name="Shape 322"/>
        <p:cNvGrpSpPr/>
        <p:nvPr/>
      </p:nvGrpSpPr>
      <p:grpSpPr>
        <a:xfrm>
          <a:off x="0" y="0"/>
          <a:ext cx="0" cy="0"/>
          <a:chOff x="0" y="0"/>
          <a:chExt cx="0" cy="0"/>
        </a:xfrm>
      </p:grpSpPr>
      <p:sp>
        <p:nvSpPr>
          <p:cNvPr id="323" name="Google Shape;323;p27"/>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What Makes a System "Agentic"?</a:t>
            </a:r>
            <a:endParaRPr/>
          </a:p>
        </p:txBody>
      </p:sp>
      <p:sp>
        <p:nvSpPr>
          <p:cNvPr id="324" name="Google Shape;324;p27"/>
          <p:cNvSpPr/>
          <p:nvPr/>
        </p:nvSpPr>
        <p:spPr>
          <a:xfrm>
            <a:off x="731520" y="1371600"/>
            <a:ext cx="5029200" cy="1188720"/>
          </a:xfrm>
          <a:prstGeom prst="roundRect">
            <a:avLst>
              <a:gd fmla="val 16667" name="adj"/>
            </a:avLst>
          </a:prstGeom>
          <a:solidFill>
            <a:srgbClr val="27274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89B4FA"/>
                </a:solidFill>
                <a:latin typeface="Calibri"/>
                <a:ea typeface="Calibri"/>
                <a:cs typeface="Calibri"/>
                <a:sym typeface="Calibri"/>
              </a:rPr>
              <a:t>Autonomy</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Works toward a goal without needing</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human instructions at every step.</a:t>
            </a:r>
            <a:endParaRPr/>
          </a:p>
        </p:txBody>
      </p:sp>
      <p:sp>
        <p:nvSpPr>
          <p:cNvPr id="325" name="Google Shape;325;p27"/>
          <p:cNvSpPr/>
          <p:nvPr/>
        </p:nvSpPr>
        <p:spPr>
          <a:xfrm>
            <a:off x="6400800" y="1371600"/>
            <a:ext cx="5029200" cy="1188720"/>
          </a:xfrm>
          <a:prstGeom prst="roundRect">
            <a:avLst>
              <a:gd fmla="val 16667" name="adj"/>
            </a:avLst>
          </a:prstGeom>
          <a:solidFill>
            <a:srgbClr val="2735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A6E3A1"/>
                </a:solidFill>
                <a:latin typeface="Calibri"/>
                <a:ea typeface="Calibri"/>
                <a:cs typeface="Calibri"/>
                <a:sym typeface="Calibri"/>
              </a:rPr>
              <a:t>Goal-Driven Behavior</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Everything it does is in service of</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completing the defined goal.</a:t>
            </a:r>
            <a:endParaRPr/>
          </a:p>
        </p:txBody>
      </p:sp>
      <p:sp>
        <p:nvSpPr>
          <p:cNvPr id="326" name="Google Shape;326;p27"/>
          <p:cNvSpPr/>
          <p:nvPr/>
        </p:nvSpPr>
        <p:spPr>
          <a:xfrm>
            <a:off x="731520" y="2834640"/>
            <a:ext cx="5029200" cy="1188720"/>
          </a:xfrm>
          <a:prstGeom prst="roundRect">
            <a:avLst>
              <a:gd fmla="val 16667" name="adj"/>
            </a:avLst>
          </a:prstGeom>
          <a:solidFill>
            <a:srgbClr val="35273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9E2AF"/>
                </a:solidFill>
                <a:latin typeface="Calibri"/>
                <a:ea typeface="Calibri"/>
                <a:cs typeface="Calibri"/>
                <a:sym typeface="Calibri"/>
              </a:rPr>
              <a:t>Multi-Step Capability</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Handles complex tasks requiring many</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rounds of thinking and acting.</a:t>
            </a:r>
            <a:endParaRPr/>
          </a:p>
        </p:txBody>
      </p:sp>
      <p:sp>
        <p:nvSpPr>
          <p:cNvPr id="327" name="Google Shape;327;p27"/>
          <p:cNvSpPr/>
          <p:nvPr/>
        </p:nvSpPr>
        <p:spPr>
          <a:xfrm>
            <a:off x="6400800" y="2834640"/>
            <a:ext cx="5029200" cy="1188720"/>
          </a:xfrm>
          <a:prstGeom prst="roundRect">
            <a:avLst>
              <a:gd fmla="val 16667" name="adj"/>
            </a:avLst>
          </a:prstGeom>
          <a:solidFill>
            <a:srgbClr val="452727"/>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AB387"/>
                </a:solidFill>
                <a:latin typeface="Calibri"/>
                <a:ea typeface="Calibri"/>
                <a:cs typeface="Calibri"/>
                <a:sym typeface="Calibri"/>
              </a:rPr>
              <a:t>Adaptability</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When something unexpected happens,</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it reasons through it and adjusts.</a:t>
            </a:r>
            <a:endParaRPr/>
          </a:p>
        </p:txBody>
      </p:sp>
      <p:sp>
        <p:nvSpPr>
          <p:cNvPr id="328" name="Google Shape;328;p27"/>
          <p:cNvSpPr/>
          <p:nvPr/>
        </p:nvSpPr>
        <p:spPr>
          <a:xfrm>
            <a:off x="731520" y="4389120"/>
            <a:ext cx="10515600" cy="2011680"/>
          </a:xfrm>
          <a:prstGeom prst="roundRect">
            <a:avLst>
              <a:gd fmla="val 16667" name="adj"/>
            </a:avLst>
          </a:prstGeom>
          <a:solidFill>
            <a:srgbClr val="27274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9E2AF"/>
                </a:solidFill>
                <a:latin typeface="Calibri"/>
                <a:ea typeface="Calibri"/>
                <a:cs typeface="Calibri"/>
                <a:sym typeface="Calibri"/>
              </a:rPr>
              <a:t>The Big Picture</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Four components: Planning (what steps) + Reasoning (what's smartest) + Memory (what do I know) + Action (do it)</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The Loop: OBSERVE -&gt; THINK -&gt; ACT -&gt; repeat until goal is done</a:t>
            </a:r>
            <a:br>
              <a:rPr b="0" i="0" lang="en-US" sz="1800" u="none" cap="none" strike="noStrike">
                <a:solidFill>
                  <a:srgbClr val="CDD6F4"/>
                </a:solidFill>
                <a:latin typeface="Calibri"/>
                <a:ea typeface="Calibri"/>
                <a:cs typeface="Calibri"/>
                <a:sym typeface="Calibri"/>
              </a:rPr>
            </a:br>
            <a:r>
              <a:rPr b="0" i="0" lang="en-US" sz="1800" u="none" cap="none" strike="noStrike">
                <a:solidFill>
                  <a:srgbClr val="CDD6F4"/>
                </a:solidFill>
                <a:latin typeface="Calibri"/>
                <a:ea typeface="Calibri"/>
                <a:cs typeface="Calibri"/>
                <a:sym typeface="Calibri"/>
              </a:rPr>
              <a:t>Next sessions: you'll build these in Python!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332" name="Shape 332"/>
        <p:cNvGrpSpPr/>
        <p:nvPr/>
      </p:nvGrpSpPr>
      <p:grpSpPr>
        <a:xfrm>
          <a:off x="0" y="0"/>
          <a:ext cx="0" cy="0"/>
          <a:chOff x="0" y="0"/>
          <a:chExt cx="0" cy="0"/>
        </a:xfrm>
      </p:grpSpPr>
      <p:sp>
        <p:nvSpPr>
          <p:cNvPr id="333" name="Google Shape;333;p28"/>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Quick Reference — Key Terms</a:t>
            </a:r>
            <a:endParaRPr/>
          </a:p>
        </p:txBody>
      </p:sp>
      <p:graphicFrame>
        <p:nvGraphicFramePr>
          <p:cNvPr id="334" name="Google Shape;334;p28"/>
          <p:cNvGraphicFramePr/>
          <p:nvPr/>
        </p:nvGraphicFramePr>
        <p:xfrm>
          <a:off x="731520" y="1371600"/>
          <a:ext cx="3000000" cy="3000000"/>
        </p:xfrm>
        <a:graphic>
          <a:graphicData uri="http://schemas.openxmlformats.org/drawingml/2006/table">
            <a:tbl>
              <a:tblPr bandRow="1" firstRow="1">
                <a:noFill/>
                <a:tableStyleId>{FCCA089B-9318-4F43-A4A2-6AA9B0BD1243}</a:tableStyleId>
              </a:tblPr>
              <a:tblGrid>
                <a:gridCol w="3505200"/>
                <a:gridCol w="3505200"/>
                <a:gridCol w="3505200"/>
              </a:tblGrid>
              <a:tr h="380000">
                <a:tc>
                  <a:txBody>
                    <a:bodyPr/>
                    <a:lstStyle/>
                    <a:p>
                      <a:pPr indent="0" lvl="0" marL="0" marR="0" rtl="0" algn="l">
                        <a:spcBef>
                          <a:spcPts val="0"/>
                        </a:spcBef>
                        <a:spcAft>
                          <a:spcPts val="0"/>
                        </a:spcAft>
                        <a:buNone/>
                      </a:pPr>
                      <a:r>
                        <a:rPr b="1" lang="en-US" sz="1400" u="none" cap="none" strike="noStrike">
                          <a:solidFill>
                            <a:srgbClr val="1E1E2E"/>
                          </a:solidFill>
                          <a:latin typeface="Calibri"/>
                          <a:ea typeface="Calibri"/>
                          <a:cs typeface="Calibri"/>
                          <a:sym typeface="Calibri"/>
                        </a:rPr>
                        <a:t>Term</a:t>
                      </a:r>
                      <a:endParaRPr/>
                    </a:p>
                  </a:txBody>
                  <a:tcPr marT="76200" marB="76200" marR="127000" marL="127000">
                    <a:solidFill>
                      <a:srgbClr val="89B4FA"/>
                    </a:solidFill>
                  </a:tcPr>
                </a:tc>
                <a:tc>
                  <a:txBody>
                    <a:bodyPr/>
                    <a:lstStyle/>
                    <a:p>
                      <a:pPr indent="0" lvl="0" marL="0" marR="0" rtl="0" algn="l">
                        <a:spcBef>
                          <a:spcPts val="0"/>
                        </a:spcBef>
                        <a:spcAft>
                          <a:spcPts val="0"/>
                        </a:spcAft>
                        <a:buNone/>
                      </a:pPr>
                      <a:r>
                        <a:rPr b="1" lang="en-US" sz="1400" u="none" cap="none" strike="noStrike">
                          <a:solidFill>
                            <a:srgbClr val="1E1E2E"/>
                          </a:solidFill>
                          <a:latin typeface="Calibri"/>
                          <a:ea typeface="Calibri"/>
                          <a:cs typeface="Calibri"/>
                          <a:sym typeface="Calibri"/>
                        </a:rPr>
                        <a:t>Simple Meaning</a:t>
                      </a:r>
                      <a:endParaRPr/>
                    </a:p>
                  </a:txBody>
                  <a:tcPr marT="76200" marB="76200" marR="127000" marL="127000">
                    <a:solidFill>
                      <a:srgbClr val="89B4FA"/>
                    </a:solidFill>
                  </a:tcPr>
                </a:tc>
                <a:tc>
                  <a:txBody>
                    <a:bodyPr/>
                    <a:lstStyle/>
                    <a:p>
                      <a:pPr indent="0" lvl="0" marL="0" marR="0" rtl="0" algn="l">
                        <a:spcBef>
                          <a:spcPts val="0"/>
                        </a:spcBef>
                        <a:spcAft>
                          <a:spcPts val="0"/>
                        </a:spcAft>
                        <a:buNone/>
                      </a:pPr>
                      <a:r>
                        <a:rPr b="1" lang="en-US" sz="1400" u="none" cap="none" strike="noStrike">
                          <a:solidFill>
                            <a:srgbClr val="1E1E2E"/>
                          </a:solidFill>
                          <a:latin typeface="Calibri"/>
                          <a:ea typeface="Calibri"/>
                          <a:cs typeface="Calibri"/>
                          <a:sym typeface="Calibri"/>
                        </a:rPr>
                        <a:t>Example</a:t>
                      </a:r>
                      <a:endParaRPr/>
                    </a:p>
                  </a:txBody>
                  <a:tcPr marT="76200" marB="76200" marR="127000" marL="127000">
                    <a:solidFill>
                      <a:srgbClr val="89B4F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AI Agent</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System that thinks &amp; acts toward a goal</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Travel booking assistant</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Traditional System</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Follows only fixed pre-written rules</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ATM, Traffic Light</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Planning</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Breaking goal into ordered steps</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To-do list before a project</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Reasoning</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Analyzing info, making best decision</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Choosing faster restaurant</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Short-Term Memory</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Temporary, current session only</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Current chat history</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Long-Term Memory</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Permanent, across sessions</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Saved user profile</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Action</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Any real operation the agent performs</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Calling API, sending email</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Observe-Think-Act</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Core loop every agent runs</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Input -&gt; decision -&gt; execute</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Autonomy</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Works without human guidance per step</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Bot resolving complaint end-to-end</a:t>
                      </a:r>
                      <a:endParaRPr/>
                    </a:p>
                  </a:txBody>
                  <a:tcPr marT="76200" marB="76200" marR="127000" marL="127000">
                    <a:solidFill>
                      <a:srgbClr val="24243A"/>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338" name="Shape 338"/>
        <p:cNvGrpSpPr/>
        <p:nvPr/>
      </p:nvGrpSpPr>
      <p:grpSpPr>
        <a:xfrm>
          <a:off x="0" y="0"/>
          <a:ext cx="0" cy="0"/>
          <a:chOff x="0" y="0"/>
          <a:chExt cx="0" cy="0"/>
        </a:xfrm>
      </p:grpSpPr>
      <p:sp>
        <p:nvSpPr>
          <p:cNvPr id="339" name="Google Shape;339;p29"/>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Quick Reference — More Terms</a:t>
            </a:r>
            <a:endParaRPr/>
          </a:p>
        </p:txBody>
      </p:sp>
      <p:graphicFrame>
        <p:nvGraphicFramePr>
          <p:cNvPr id="340" name="Google Shape;340;p29"/>
          <p:cNvGraphicFramePr/>
          <p:nvPr/>
        </p:nvGraphicFramePr>
        <p:xfrm>
          <a:off x="731520" y="1371600"/>
          <a:ext cx="3000000" cy="3000000"/>
        </p:xfrm>
        <a:graphic>
          <a:graphicData uri="http://schemas.openxmlformats.org/drawingml/2006/table">
            <a:tbl>
              <a:tblPr bandRow="1" firstRow="1">
                <a:noFill/>
                <a:tableStyleId>{FCCA089B-9318-4F43-A4A2-6AA9B0BD1243}</a:tableStyleId>
              </a:tblPr>
              <a:tblGrid>
                <a:gridCol w="3505200"/>
                <a:gridCol w="3505200"/>
                <a:gridCol w="3505200"/>
              </a:tblGrid>
              <a:tr h="380000">
                <a:tc>
                  <a:txBody>
                    <a:bodyPr/>
                    <a:lstStyle/>
                    <a:p>
                      <a:pPr indent="0" lvl="0" marL="0" marR="0" rtl="0" algn="l">
                        <a:spcBef>
                          <a:spcPts val="0"/>
                        </a:spcBef>
                        <a:spcAft>
                          <a:spcPts val="0"/>
                        </a:spcAft>
                        <a:buNone/>
                      </a:pPr>
                      <a:r>
                        <a:rPr b="1" lang="en-US" sz="1400" u="none" cap="none" strike="noStrike">
                          <a:solidFill>
                            <a:srgbClr val="1E1E2E"/>
                          </a:solidFill>
                          <a:latin typeface="Calibri"/>
                          <a:ea typeface="Calibri"/>
                          <a:cs typeface="Calibri"/>
                          <a:sym typeface="Calibri"/>
                        </a:rPr>
                        <a:t>Term</a:t>
                      </a:r>
                      <a:endParaRPr/>
                    </a:p>
                  </a:txBody>
                  <a:tcPr marT="76200" marB="76200" marR="127000" marL="127000">
                    <a:solidFill>
                      <a:srgbClr val="89B4FA"/>
                    </a:solidFill>
                  </a:tcPr>
                </a:tc>
                <a:tc>
                  <a:txBody>
                    <a:bodyPr/>
                    <a:lstStyle/>
                    <a:p>
                      <a:pPr indent="0" lvl="0" marL="0" marR="0" rtl="0" algn="l">
                        <a:spcBef>
                          <a:spcPts val="0"/>
                        </a:spcBef>
                        <a:spcAft>
                          <a:spcPts val="0"/>
                        </a:spcAft>
                        <a:buNone/>
                      </a:pPr>
                      <a:r>
                        <a:rPr b="1" lang="en-US" sz="1400" u="none" cap="none" strike="noStrike">
                          <a:solidFill>
                            <a:srgbClr val="1E1E2E"/>
                          </a:solidFill>
                          <a:latin typeface="Calibri"/>
                          <a:ea typeface="Calibri"/>
                          <a:cs typeface="Calibri"/>
                          <a:sym typeface="Calibri"/>
                        </a:rPr>
                        <a:t>Simple Meaning</a:t>
                      </a:r>
                      <a:endParaRPr/>
                    </a:p>
                  </a:txBody>
                  <a:tcPr marT="76200" marB="76200" marR="127000" marL="127000">
                    <a:solidFill>
                      <a:srgbClr val="89B4FA"/>
                    </a:solidFill>
                  </a:tcPr>
                </a:tc>
                <a:tc>
                  <a:txBody>
                    <a:bodyPr/>
                    <a:lstStyle/>
                    <a:p>
                      <a:pPr indent="0" lvl="0" marL="0" marR="0" rtl="0" algn="l">
                        <a:spcBef>
                          <a:spcPts val="0"/>
                        </a:spcBef>
                        <a:spcAft>
                          <a:spcPts val="0"/>
                        </a:spcAft>
                        <a:buNone/>
                      </a:pPr>
                      <a:r>
                        <a:rPr b="1" lang="en-US" sz="1400" u="none" cap="none" strike="noStrike">
                          <a:solidFill>
                            <a:srgbClr val="1E1E2E"/>
                          </a:solidFill>
                          <a:latin typeface="Calibri"/>
                          <a:ea typeface="Calibri"/>
                          <a:cs typeface="Calibri"/>
                          <a:sym typeface="Calibri"/>
                        </a:rPr>
                        <a:t>Example</a:t>
                      </a:r>
                      <a:endParaRPr/>
                    </a:p>
                  </a:txBody>
                  <a:tcPr marT="76200" marB="76200" marR="127000" marL="127000">
                    <a:solidFill>
                      <a:srgbClr val="89B4F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Goal Decomposition</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Breaking high-level goal into sub-tasks</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"Book vacation" -&gt; flight, hotel, cab</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If-Else Reasoning</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"If X -&gt; do A, else -&gt; do B"</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Seat available? Book. Else, next train.</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Fallback Reasoning</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Switch to Plan B when A fails</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Email fails? Try SMS instead.</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Clarification</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Agent knows when it needs more info</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"Which email?" — agent asks, not guesses</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Context Window</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Working memory kept active in session</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Last N messages in a conversation</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API Call</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Request data from external service</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Weather API, booking API</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Tool Use</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Agent using external tools</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Search engine, calculator, file system</a:t>
                      </a:r>
                      <a:endParaRPr/>
                    </a:p>
                  </a:txBody>
                  <a:tcPr marT="76200" marB="76200" marR="127000" marL="127000">
                    <a:solidFill>
                      <a:srgbClr val="24243A"/>
                    </a:solidFill>
                  </a:tcPr>
                </a:tc>
              </a:tr>
              <a:tr h="380000">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Adaptability</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Adjusting when unexpected things happen</a:t>
                      </a:r>
                      <a:endParaRPr/>
                    </a:p>
                  </a:txBody>
                  <a:tcPr marT="76200" marB="76200" marR="127000" marL="127000">
                    <a:solidFill>
                      <a:srgbClr val="24243A"/>
                    </a:solidFill>
                  </a:tcPr>
                </a:tc>
                <a:tc>
                  <a:txBody>
                    <a:bodyPr/>
                    <a:lstStyle/>
                    <a:p>
                      <a:pPr indent="0" lvl="0" marL="0" marR="0" rtl="0" algn="l">
                        <a:spcBef>
                          <a:spcPts val="0"/>
                        </a:spcBef>
                        <a:spcAft>
                          <a:spcPts val="0"/>
                        </a:spcAft>
                        <a:buNone/>
                      </a:pPr>
                      <a:r>
                        <a:rPr lang="en-US" sz="1400" u="none" cap="none" strike="noStrike">
                          <a:solidFill>
                            <a:srgbClr val="CDD6F4"/>
                          </a:solidFill>
                          <a:latin typeface="Calibri"/>
                          <a:ea typeface="Calibri"/>
                          <a:cs typeface="Calibri"/>
                          <a:sym typeface="Calibri"/>
                        </a:rPr>
                        <a:t>Switching trains when first is full</a:t>
                      </a:r>
                      <a:endParaRPr/>
                    </a:p>
                  </a:txBody>
                  <a:tcPr marT="76200" marB="76200" marR="127000" marL="127000">
                    <a:solidFill>
                      <a:srgbClr val="24243A"/>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344" name="Shape 344"/>
        <p:cNvGrpSpPr/>
        <p:nvPr/>
      </p:nvGrpSpPr>
      <p:grpSpPr>
        <a:xfrm>
          <a:off x="0" y="0"/>
          <a:ext cx="0" cy="0"/>
          <a:chOff x="0" y="0"/>
          <a:chExt cx="0" cy="0"/>
        </a:xfrm>
      </p:grpSpPr>
      <p:sp>
        <p:nvSpPr>
          <p:cNvPr id="345" name="Google Shape;345;p30"/>
          <p:cNvSpPr txBox="1"/>
          <p:nvPr/>
        </p:nvSpPr>
        <p:spPr>
          <a:xfrm>
            <a:off x="731520" y="457200"/>
            <a:ext cx="10058400" cy="914400"/>
          </a:xfrm>
          <a:prstGeom prst="rect">
            <a:avLst/>
          </a:prstGeom>
          <a:noFill/>
          <a:ln>
            <a:noFill/>
          </a:ln>
        </p:spPr>
        <p:txBody>
          <a:bodyPr anchorCtr="0" anchor="t" bIns="25400" lIns="50800" spcFirstLastPara="1" rIns="50800" wrap="square" tIns="25400">
            <a:spAutoFit/>
          </a:bodyPr>
          <a:lstStyle/>
          <a:p>
            <a:pPr indent="0" lvl="0" marL="0" marR="0" rtl="0" algn="l">
              <a:spcBef>
                <a:spcPts val="0"/>
              </a:spcBef>
              <a:spcAft>
                <a:spcPts val="0"/>
              </a:spcAft>
              <a:buNone/>
            </a:pPr>
            <a:r>
              <a:rPr b="1" i="0" lang="en-US" sz="3600" u="none" cap="none" strike="noStrike">
                <a:solidFill>
                  <a:srgbClr val="89B4FA"/>
                </a:solidFill>
                <a:latin typeface="Calibri"/>
                <a:ea typeface="Calibri"/>
                <a:cs typeface="Calibri"/>
                <a:sym typeface="Calibri"/>
              </a:rPr>
              <a:t>Session 07 — Key Takeaways</a:t>
            </a:r>
            <a:endParaRPr/>
          </a:p>
        </p:txBody>
      </p:sp>
      <p:sp>
        <p:nvSpPr>
          <p:cNvPr id="346" name="Google Shape;346;p30"/>
          <p:cNvSpPr txBox="1"/>
          <p:nvPr/>
        </p:nvSpPr>
        <p:spPr>
          <a:xfrm>
            <a:off x="731520" y="1371600"/>
            <a:ext cx="5029200" cy="45720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900" u="none" cap="none" strike="noStrike">
                <a:solidFill>
                  <a:srgbClr val="CDD6F4"/>
                </a:solidFill>
                <a:latin typeface="Calibri"/>
                <a:ea typeface="Calibri"/>
                <a:cs typeface="Calibri"/>
                <a:sym typeface="Calibri"/>
              </a:rPr>
              <a:t>AI Agent: perceives, decides, acts</a:t>
            </a:r>
            <a:br>
              <a:rPr b="0" i="0" lang="en-US" sz="1900" u="none" cap="none" strike="noStrike">
                <a:solidFill>
                  <a:srgbClr val="CDD6F4"/>
                </a:solidFill>
                <a:latin typeface="Calibri"/>
                <a:ea typeface="Calibri"/>
                <a:cs typeface="Calibri"/>
                <a:sym typeface="Calibri"/>
              </a:rPr>
            </a:br>
            <a:r>
              <a:rPr b="0" i="0" lang="en-US" sz="1900" u="none" cap="none" strike="noStrike">
                <a:solidFill>
                  <a:srgbClr val="CDD6F4"/>
                </a:solidFill>
                <a:latin typeface="Calibri"/>
                <a:ea typeface="Calibri"/>
                <a:cs typeface="Calibri"/>
                <a:sym typeface="Calibri"/>
              </a:rPr>
              <a:t>autonomously toward a goal</a:t>
            </a:r>
            <a:endParaRPr/>
          </a:p>
          <a:p>
            <a:pPr indent="0" lvl="0" marL="0" marR="0" rtl="0" algn="l">
              <a:spcBef>
                <a:spcPts val="1400"/>
              </a:spcBef>
              <a:spcAft>
                <a:spcPts val="0"/>
              </a:spcAft>
              <a:buNone/>
            </a:pPr>
            <a:r>
              <a:rPr b="0" i="0" lang="en-US" sz="1900" u="none" cap="none" strike="noStrike">
                <a:solidFill>
                  <a:srgbClr val="CDD6F4"/>
                </a:solidFill>
                <a:latin typeface="Calibri"/>
                <a:ea typeface="Calibri"/>
                <a:cs typeface="Calibri"/>
                <a:sym typeface="Calibri"/>
              </a:rPr>
              <a:t>Traditional systems follow fixed rules;</a:t>
            </a:r>
            <a:br>
              <a:rPr b="0" i="0" lang="en-US" sz="1900" u="none" cap="none" strike="noStrike">
                <a:solidFill>
                  <a:srgbClr val="CDD6F4"/>
                </a:solidFill>
                <a:latin typeface="Calibri"/>
                <a:ea typeface="Calibri"/>
                <a:cs typeface="Calibri"/>
                <a:sym typeface="Calibri"/>
              </a:rPr>
            </a:br>
            <a:r>
              <a:rPr b="0" i="0" lang="en-US" sz="1900" u="none" cap="none" strike="noStrike">
                <a:solidFill>
                  <a:srgbClr val="CDD6F4"/>
                </a:solidFill>
                <a:latin typeface="Calibri"/>
                <a:ea typeface="Calibri"/>
                <a:cs typeface="Calibri"/>
                <a:sym typeface="Calibri"/>
              </a:rPr>
              <a:t>agents reason and adapt</a:t>
            </a:r>
            <a:endParaRPr/>
          </a:p>
          <a:p>
            <a:pPr indent="0" lvl="0" marL="0" marR="0" rtl="0" algn="l">
              <a:spcBef>
                <a:spcPts val="1400"/>
              </a:spcBef>
              <a:spcAft>
                <a:spcPts val="0"/>
              </a:spcAft>
              <a:buNone/>
            </a:pPr>
            <a:r>
              <a:rPr b="0" i="0" lang="en-US" sz="1900" u="none" cap="none" strike="noStrike">
                <a:solidFill>
                  <a:srgbClr val="CDD6F4"/>
                </a:solidFill>
                <a:latin typeface="Calibri"/>
                <a:ea typeface="Calibri"/>
                <a:cs typeface="Calibri"/>
                <a:sym typeface="Calibri"/>
              </a:rPr>
              <a:t>Planning: breaks goals into ordered</a:t>
            </a:r>
            <a:br>
              <a:rPr b="0" i="0" lang="en-US" sz="1900" u="none" cap="none" strike="noStrike">
                <a:solidFill>
                  <a:srgbClr val="CDD6F4"/>
                </a:solidFill>
                <a:latin typeface="Calibri"/>
                <a:ea typeface="Calibri"/>
                <a:cs typeface="Calibri"/>
                <a:sym typeface="Calibri"/>
              </a:rPr>
            </a:br>
            <a:r>
              <a:rPr b="0" i="0" lang="en-US" sz="1900" u="none" cap="none" strike="noStrike">
                <a:solidFill>
                  <a:srgbClr val="CDD6F4"/>
                </a:solidFill>
                <a:latin typeface="Calibri"/>
                <a:ea typeface="Calibri"/>
                <a:cs typeface="Calibri"/>
                <a:sym typeface="Calibri"/>
              </a:rPr>
              <a:t>steps (the to-do list)</a:t>
            </a:r>
            <a:endParaRPr/>
          </a:p>
          <a:p>
            <a:pPr indent="0" lvl="0" marL="0" marR="0" rtl="0" algn="l">
              <a:spcBef>
                <a:spcPts val="1400"/>
              </a:spcBef>
              <a:spcAft>
                <a:spcPts val="0"/>
              </a:spcAft>
              <a:buNone/>
            </a:pPr>
            <a:r>
              <a:rPr b="0" i="0" lang="en-US" sz="1900" u="none" cap="none" strike="noStrike">
                <a:solidFill>
                  <a:srgbClr val="CDD6F4"/>
                </a:solidFill>
                <a:latin typeface="Calibri"/>
                <a:ea typeface="Calibri"/>
                <a:cs typeface="Calibri"/>
                <a:sym typeface="Calibri"/>
              </a:rPr>
              <a:t>Reasoning: makes smart decisions</a:t>
            </a:r>
            <a:br>
              <a:rPr b="0" i="0" lang="en-US" sz="1900" u="none" cap="none" strike="noStrike">
                <a:solidFill>
                  <a:srgbClr val="CDD6F4"/>
                </a:solidFill>
                <a:latin typeface="Calibri"/>
                <a:ea typeface="Calibri"/>
                <a:cs typeface="Calibri"/>
                <a:sym typeface="Calibri"/>
              </a:rPr>
            </a:br>
            <a:r>
              <a:rPr b="0" i="0" lang="en-US" sz="1900" u="none" cap="none" strike="noStrike">
                <a:solidFill>
                  <a:srgbClr val="CDD6F4"/>
                </a:solidFill>
                <a:latin typeface="Calibri"/>
                <a:ea typeface="Calibri"/>
                <a:cs typeface="Calibri"/>
                <a:sym typeface="Calibri"/>
              </a:rPr>
              <a:t>as situations change (the brain)</a:t>
            </a:r>
            <a:endParaRPr/>
          </a:p>
        </p:txBody>
      </p:sp>
      <p:sp>
        <p:nvSpPr>
          <p:cNvPr id="347" name="Google Shape;347;p30"/>
          <p:cNvSpPr txBox="1"/>
          <p:nvPr/>
        </p:nvSpPr>
        <p:spPr>
          <a:xfrm>
            <a:off x="6400800" y="1371600"/>
            <a:ext cx="5029200" cy="4572000"/>
          </a:xfrm>
          <a:prstGeom prst="rect">
            <a:avLst/>
          </a:prstGeom>
          <a:noFill/>
          <a:ln>
            <a:noFill/>
          </a:ln>
        </p:spPr>
        <p:txBody>
          <a:bodyPr anchorCtr="0" anchor="t" bIns="25400" lIns="50800" spcFirstLastPara="1" rIns="50800" wrap="square" tIns="0">
            <a:spAutoFit/>
          </a:bodyPr>
          <a:lstStyle/>
          <a:p>
            <a:pPr indent="0" lvl="0" marL="0" marR="0" rtl="0" algn="l">
              <a:spcBef>
                <a:spcPts val="0"/>
              </a:spcBef>
              <a:spcAft>
                <a:spcPts val="0"/>
              </a:spcAft>
              <a:buNone/>
            </a:pPr>
            <a:r>
              <a:rPr b="0" i="0" lang="en-US" sz="1900" u="none" cap="none" strike="noStrike">
                <a:solidFill>
                  <a:srgbClr val="CDD6F4"/>
                </a:solidFill>
                <a:latin typeface="Calibri"/>
                <a:ea typeface="Calibri"/>
                <a:cs typeface="Calibri"/>
                <a:sym typeface="Calibri"/>
              </a:rPr>
              <a:t>Memory: short-term (session) +</a:t>
            </a:r>
            <a:br>
              <a:rPr b="0" i="0" lang="en-US" sz="1900" u="none" cap="none" strike="noStrike">
                <a:solidFill>
                  <a:srgbClr val="CDD6F4"/>
                </a:solidFill>
                <a:latin typeface="Calibri"/>
                <a:ea typeface="Calibri"/>
                <a:cs typeface="Calibri"/>
                <a:sym typeface="Calibri"/>
              </a:rPr>
            </a:br>
            <a:r>
              <a:rPr b="0" i="0" lang="en-US" sz="1900" u="none" cap="none" strike="noStrike">
                <a:solidFill>
                  <a:srgbClr val="CDD6F4"/>
                </a:solidFill>
                <a:latin typeface="Calibri"/>
                <a:ea typeface="Calibri"/>
                <a:cs typeface="Calibri"/>
                <a:sym typeface="Calibri"/>
              </a:rPr>
              <a:t>long-term (persistent) — both needed</a:t>
            </a:r>
            <a:endParaRPr/>
          </a:p>
          <a:p>
            <a:pPr indent="0" lvl="0" marL="0" marR="0" rtl="0" algn="l">
              <a:spcBef>
                <a:spcPts val="1400"/>
              </a:spcBef>
              <a:spcAft>
                <a:spcPts val="0"/>
              </a:spcAft>
              <a:buNone/>
            </a:pPr>
            <a:r>
              <a:rPr b="0" i="0" lang="en-US" sz="1900" u="none" cap="none" strike="noStrike">
                <a:solidFill>
                  <a:srgbClr val="CDD6F4"/>
                </a:solidFill>
                <a:latin typeface="Calibri"/>
                <a:ea typeface="Calibri"/>
                <a:cs typeface="Calibri"/>
                <a:sym typeface="Calibri"/>
              </a:rPr>
              <a:t>Action: where the agent interacts</a:t>
            </a:r>
            <a:br>
              <a:rPr b="0" i="0" lang="en-US" sz="1900" u="none" cap="none" strike="noStrike">
                <a:solidFill>
                  <a:srgbClr val="CDD6F4"/>
                </a:solidFill>
                <a:latin typeface="Calibri"/>
                <a:ea typeface="Calibri"/>
                <a:cs typeface="Calibri"/>
                <a:sym typeface="Calibri"/>
              </a:rPr>
            </a:br>
            <a:r>
              <a:rPr b="0" i="0" lang="en-US" sz="1900" u="none" cap="none" strike="noStrike">
                <a:solidFill>
                  <a:srgbClr val="CDD6F4"/>
                </a:solidFill>
                <a:latin typeface="Calibri"/>
                <a:ea typeface="Calibri"/>
                <a:cs typeface="Calibri"/>
                <a:sym typeface="Calibri"/>
              </a:rPr>
              <a:t>with the real world (what you see)</a:t>
            </a:r>
            <a:endParaRPr/>
          </a:p>
          <a:p>
            <a:pPr indent="0" lvl="0" marL="0" marR="0" rtl="0" algn="l">
              <a:spcBef>
                <a:spcPts val="1400"/>
              </a:spcBef>
              <a:spcAft>
                <a:spcPts val="0"/>
              </a:spcAft>
              <a:buNone/>
            </a:pPr>
            <a:r>
              <a:rPr b="0" i="0" lang="en-US" sz="1900" u="none" cap="none" strike="noStrike">
                <a:solidFill>
                  <a:srgbClr val="CDD6F4"/>
                </a:solidFill>
                <a:latin typeface="Calibri"/>
                <a:ea typeface="Calibri"/>
                <a:cs typeface="Calibri"/>
                <a:sym typeface="Calibri"/>
              </a:rPr>
              <a:t>The Loop: Observe -&gt; Think -&gt; Act</a:t>
            </a:r>
            <a:br>
              <a:rPr b="0" i="0" lang="en-US" sz="1900" u="none" cap="none" strike="noStrike">
                <a:solidFill>
                  <a:srgbClr val="CDD6F4"/>
                </a:solidFill>
                <a:latin typeface="Calibri"/>
                <a:ea typeface="Calibri"/>
                <a:cs typeface="Calibri"/>
                <a:sym typeface="Calibri"/>
              </a:rPr>
            </a:br>
            <a:r>
              <a:rPr b="0" i="0" lang="en-US" sz="1900" u="none" cap="none" strike="noStrike">
                <a:solidFill>
                  <a:srgbClr val="CDD6F4"/>
                </a:solidFill>
                <a:latin typeface="Calibri"/>
                <a:ea typeface="Calibri"/>
                <a:cs typeface="Calibri"/>
                <a:sym typeface="Calibri"/>
              </a:rPr>
              <a:t>repeat until goal is complete</a:t>
            </a:r>
            <a:endParaRPr/>
          </a:p>
          <a:p>
            <a:pPr indent="0" lvl="0" marL="0" marR="0" rtl="0" algn="l">
              <a:spcBef>
                <a:spcPts val="1400"/>
              </a:spcBef>
              <a:spcAft>
                <a:spcPts val="0"/>
              </a:spcAft>
              <a:buNone/>
            </a:pPr>
            <a:r>
              <a:rPr b="0" i="0" lang="en-US" sz="1900" u="none" cap="none" strike="noStrike">
                <a:solidFill>
                  <a:srgbClr val="CDD6F4"/>
                </a:solidFill>
                <a:latin typeface="Calibri"/>
                <a:ea typeface="Calibri"/>
                <a:cs typeface="Calibri"/>
                <a:sym typeface="Calibri"/>
              </a:rPr>
              <a:t>Failures are real: wrong email, wrong</a:t>
            </a:r>
            <a:br>
              <a:rPr b="0" i="0" lang="en-US" sz="1900" u="none" cap="none" strike="noStrike">
                <a:solidFill>
                  <a:srgbClr val="CDD6F4"/>
                </a:solidFill>
                <a:latin typeface="Calibri"/>
                <a:ea typeface="Calibri"/>
                <a:cs typeface="Calibri"/>
                <a:sym typeface="Calibri"/>
              </a:rPr>
            </a:br>
            <a:r>
              <a:rPr b="0" i="0" lang="en-US" sz="1900" u="none" cap="none" strike="noStrike">
                <a:solidFill>
                  <a:srgbClr val="CDD6F4"/>
                </a:solidFill>
                <a:latin typeface="Calibri"/>
                <a:ea typeface="Calibri"/>
                <a:cs typeface="Calibri"/>
                <a:sym typeface="Calibri"/>
              </a:rPr>
              <a:t>order — design agents carefully!</a:t>
            </a:r>
            <a:endParaRPr/>
          </a:p>
        </p:txBody>
      </p:sp>
      <p:sp>
        <p:nvSpPr>
          <p:cNvPr id="348" name="Google Shape;348;p30"/>
          <p:cNvSpPr/>
          <p:nvPr/>
        </p:nvSpPr>
        <p:spPr>
          <a:xfrm>
            <a:off x="731520" y="5029200"/>
            <a:ext cx="10515600" cy="1371600"/>
          </a:xfrm>
          <a:prstGeom prst="roundRect">
            <a:avLst>
              <a:gd fmla="val 16667" name="adj"/>
            </a:avLst>
          </a:prstGeom>
          <a:solidFill>
            <a:srgbClr val="272745"/>
          </a:solidFill>
          <a:ln>
            <a:noFill/>
          </a:ln>
          <a:effectLst>
            <a:outerShdw blurRad="40000" rotWithShape="0" dir="5400000" dist="23000">
              <a:srgbClr val="000000">
                <a:alpha val="34901"/>
              </a:srgbClr>
            </a:outerShdw>
          </a:effectLst>
        </p:spPr>
        <p:txBody>
          <a:bodyPr anchorCtr="0" anchor="ctr" bIns="152400" lIns="228600" spcFirstLastPara="1" rIns="228600" wrap="square" tIns="152400">
            <a:noAutofit/>
          </a:bodyPr>
          <a:lstStyle/>
          <a:p>
            <a:pPr indent="0" lvl="0" marL="0" marR="0" rtl="0" algn="ctr">
              <a:spcBef>
                <a:spcPts val="0"/>
              </a:spcBef>
              <a:spcAft>
                <a:spcPts val="0"/>
              </a:spcAft>
              <a:buNone/>
            </a:pPr>
            <a:r>
              <a:rPr b="1" i="0" lang="en-US" sz="2200" u="none" cap="none" strike="noStrike">
                <a:solidFill>
                  <a:srgbClr val="F9E2AF"/>
                </a:solidFill>
                <a:latin typeface="Calibri"/>
                <a:ea typeface="Calibri"/>
                <a:cs typeface="Calibri"/>
                <a:sym typeface="Calibri"/>
              </a:rPr>
              <a:t>What's Next?</a:t>
            </a:r>
            <a:endParaRPr/>
          </a:p>
          <a:p>
            <a:pPr indent="0" lvl="0" marL="0" marR="0" rtl="0" algn="l">
              <a:spcBef>
                <a:spcPts val="800"/>
              </a:spcBef>
              <a:spcAft>
                <a:spcPts val="0"/>
              </a:spcAft>
              <a:buNone/>
            </a:pPr>
            <a:r>
              <a:rPr b="0" i="0" lang="en-US" sz="1800" u="none" cap="none" strike="noStrike">
                <a:solidFill>
                  <a:srgbClr val="CDD6F4"/>
                </a:solidFill>
                <a:latin typeface="Calibri"/>
                <a:ea typeface="Calibri"/>
                <a:cs typeface="Calibri"/>
                <a:sym typeface="Calibri"/>
              </a:rPr>
              <a:t>In the coming sessions, you will start building simple agents in Python. You'll write the planning logic, the reasoning logic, and the action functions yourself. Everything today is the conceptual foundation for that work.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