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6" roundtripDataSignature="AMtx7mgVTpmxBxqv/+DFH+JDK3GtcAXG1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6C941F02-FC43-49F1-A270-1A01862344CF}">
  <a:tblStyle styleId="{6C941F02-FC43-49F1-A270-1A01862344CF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36" Type="http://customschemas.google.com/relationships/presentationmetadata" Target="meta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3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3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3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3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3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3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3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3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3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3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3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3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3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4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4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4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4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4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4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4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4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4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4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4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4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4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3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linkedin.com/in/sakshamarora9575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914400" y="1645920"/>
            <a:ext cx="1828800" cy="54864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&amp; Functions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914400" y="347472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04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914400" y="4572000"/>
            <a:ext cx="10058400" cy="7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Saksham Arora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Software Engineer 2 @ Intuit  |  Ex - Microsoft  |  2x Intern @ Microsoft + 1x Intern @ Amazon</a:t>
            </a:r>
            <a:b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600" u="sng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linkedin.com/in/sakshamarora9575</a:t>
            </a:r>
            <a:r>
              <a:rPr b="0" i="0" lang="en-US" sz="1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Objectives</a:t>
            </a:r>
            <a:endParaRPr/>
          </a:p>
        </p:txBody>
      </p:sp>
      <p:sp>
        <p:nvSpPr>
          <p:cNvPr id="93" name="Google Shape;93;p2"/>
          <p:cNvSpPr txBox="1"/>
          <p:nvPr/>
        </p:nvSpPr>
        <p:spPr>
          <a:xfrm>
            <a:off x="731520" y="1463040"/>
            <a:ext cx="100584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Create and initialize lists in Python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Access list elements using indexing (positive &amp; negative)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Extract list portions using slicing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Iterate through lists using loops (for, enumerate, zip)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Define functions and call them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6.  Use function parameters and arguments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7.  Return values from functions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8.  Apply default parameters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Creating &amp; Initializing Lists</a:t>
            </a:r>
            <a:endParaRPr/>
          </a:p>
        </p:txBody>
      </p:sp>
      <p:sp>
        <p:nvSpPr>
          <p:cNvPr id="100" name="Google Shape;100;p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Ordered, mutable collections of data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Why Lists?</a:t>
            </a:r>
            <a:endParaRPr/>
          </a:p>
        </p:txBody>
      </p:sp>
      <p:sp>
        <p:nvSpPr>
          <p:cNvPr id="106" name="Google Shape;106;p4"/>
          <p:cNvSpPr txBox="1"/>
          <p:nvPr/>
        </p:nvSpPr>
        <p:spPr>
          <a:xfrm>
            <a:off x="731520" y="137160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One name, many items — no more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student1, student2, student3...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Ordered: items have positions (indices)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Mutable: add, remove, change anytime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Mixed types: strings, ints, floats together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Dynamic sizing: grows/shrinks automatically</a:t>
            </a:r>
            <a:endParaRPr/>
          </a:p>
        </p:txBody>
      </p:sp>
      <p:sp>
        <p:nvSpPr>
          <p:cNvPr id="107" name="Google Shape;107;p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Creating Lists</a:t>
            </a:r>
            <a:endParaRPr/>
          </a:p>
        </p:txBody>
      </p:sp>
      <p:sp>
        <p:nvSpPr>
          <p:cNvPr id="108" name="Google Shape;108;p4"/>
          <p:cNvSpPr/>
          <p:nvPr/>
        </p:nvSpPr>
        <p:spPr>
          <a:xfrm>
            <a:off x="6400800" y="1920240"/>
            <a:ext cx="5029200" cy="38404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Empty list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empty = []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empty = list()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With values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[1, 2, 3, 4,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['apple', 'banana', 'orange']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prices = [19.99, 29.99, 9.99]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Mixed types!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student = ['Alice', 21, 3.8, True]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Duplicates allowed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2, 3, 3, 3]</a:t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731520" y="438912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Analogy: A Playlist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Ordered (songs play in sequence)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Accessible by position (play song #5)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Mutable (add/remove songs anytime)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Lists — From Other Types &amp; Patterns</a:t>
            </a:r>
            <a:endParaRPr/>
          </a:p>
        </p:txBody>
      </p:sp>
      <p:sp>
        <p:nvSpPr>
          <p:cNvPr id="115" name="Google Shape;115;p5"/>
          <p:cNvSpPr txBox="1"/>
          <p:nvPr/>
        </p:nvSpPr>
        <p:spPr>
          <a:xfrm>
            <a:off x="731520" y="13716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From range()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731520" y="1828800"/>
            <a:ext cx="3383280" cy="146304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 = list(range(10))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[0, 1, 2, ..., 9]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evens = list(range(2, 11, 2))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[2, 4, 6, 8, 10]</a:t>
            </a:r>
            <a:endParaRPr/>
          </a:p>
        </p:txBody>
      </p:sp>
      <p:sp>
        <p:nvSpPr>
          <p:cNvPr id="117" name="Google Shape;117;p5"/>
          <p:cNvSpPr txBox="1"/>
          <p:nvPr/>
        </p:nvSpPr>
        <p:spPr>
          <a:xfrm>
            <a:off x="4389120" y="137160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From strings</a:t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4389120" y="1828800"/>
            <a:ext cx="3383280" cy="146304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chars = list("hello")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['h','e','l','l','o']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words = "a b c".split()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['a', 'b', 'c']</a:t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8229600" y="137160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Special Patterns</a:t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8229600" y="1828800"/>
            <a:ext cx="3474720" cy="146304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zeros = [0] * 5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[0, 0, 0, 0, 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combined = [1,2] + [3,4]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[1, 2, 3, 4]</a:t>
            </a:r>
            <a:endParaRPr/>
          </a:p>
        </p:txBody>
      </p:sp>
      <p:sp>
        <p:nvSpPr>
          <p:cNvPr id="121" name="Google Shape;121;p5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Nested Lists (Matrices)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731520" y="41148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matrix = [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[1, 2, 3],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[4, 5, 6],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[7, 8, 9]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row = matrix[0]       # [1, 2, 3]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element = matrix[0][1] # 2</a:t>
            </a:r>
            <a:endParaRPr/>
          </a:p>
        </p:txBody>
      </p:sp>
      <p:sp>
        <p:nvSpPr>
          <p:cNvPr id="123" name="Google Shape;123;p5"/>
          <p:cNvSpPr/>
          <p:nvPr/>
        </p:nvSpPr>
        <p:spPr>
          <a:xfrm>
            <a:off x="6400800" y="41148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Key Points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[] for empty lists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Lists are mutable and ordered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list(range(n)) for number sequences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string.split() to get word lists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+ concatenates, * repeats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Indexing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Access any element by position — O(1) random access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Positive &amp; Negative Indexing</a:t>
            </a:r>
            <a:endParaRPr/>
          </a:p>
        </p:txBody>
      </p:sp>
      <p:sp>
        <p:nvSpPr>
          <p:cNvPr id="136" name="Google Shape;136;p7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Positive Indexing (from start)</a:t>
            </a:r>
            <a:endParaRPr/>
          </a:p>
        </p:txBody>
      </p:sp>
      <p:sp>
        <p:nvSpPr>
          <p:cNvPr id="137" name="Google Shape;137;p7"/>
          <p:cNvSpPr/>
          <p:nvPr/>
        </p:nvSpPr>
        <p:spPr>
          <a:xfrm>
            <a:off x="333200" y="1920250"/>
            <a:ext cx="57216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['apple','banana','orange']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           0        1        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first = fruits[0]   # 'apple'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second = fruits[1]  # 'banana'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last = fruits[2]    # 'orange'</a:t>
            </a:r>
            <a:endParaRPr/>
          </a:p>
        </p:txBody>
      </p:sp>
      <p:sp>
        <p:nvSpPr>
          <p:cNvPr id="138" name="Google Shape;138;p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Negative Indexing (from end)</a:t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6400800" y="1920250"/>
            <a:ext cx="5323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 = [10, 20, 30, 40, 50]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       -5  -4  -3  -2  -1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last = items[-1]         # 50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second_last = items[-2]  # 40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first = items[-5]        # 10</a:t>
            </a:r>
            <a:endParaRPr/>
          </a:p>
        </p:txBody>
      </p:sp>
      <p:sp>
        <p:nvSpPr>
          <p:cNvPr id="140" name="Google Shape;140;p7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Zero-based: first element is index 0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Out of bounds raises IndexError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-1 always gets last element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6400800" y="457200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Analogy: Apartment Numbers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Building = the list. Apartment number = index.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Go straight to Apt #7 without checking #1-6.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Constant time regardless of building size!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Nested Indexing &amp; Finding Elements</a:t>
            </a:r>
            <a:endParaRPr/>
          </a:p>
        </p:txBody>
      </p:sp>
      <p:sp>
        <p:nvSpPr>
          <p:cNvPr id="147" name="Google Shape;147;p8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Nested Lists</a:t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3152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matrix = [[1, 2, 3], [4, 5, 6]]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row = matrix[0]       # [1, 2, 3]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element = matrix[0][1] # 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last = matrix[-1][-1]  # 6</a:t>
            </a:r>
            <a:endParaRPr/>
          </a:p>
        </p:txBody>
      </p:sp>
      <p:sp>
        <p:nvSpPr>
          <p:cNvPr id="149" name="Google Shape;149;p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Finding Elements</a:t>
            </a:r>
            <a:endParaRPr/>
          </a:p>
        </p:txBody>
      </p:sp>
      <p:sp>
        <p:nvSpPr>
          <p:cNvPr id="150" name="Google Shape;150;p8"/>
          <p:cNvSpPr/>
          <p:nvPr/>
        </p:nvSpPr>
        <p:spPr>
          <a:xfrm>
            <a:off x="640080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 = ['a', 'b', 'c']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'b' in items        # True (check)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items.index('b')    # 1 (find index)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len(items)          # 3 (length)</a:t>
            </a:r>
            <a:endParaRPr/>
          </a:p>
        </p:txBody>
      </p:sp>
      <p:sp>
        <p:nvSpPr>
          <p:cNvPr id="151" name="Google Shape;151;p8"/>
          <p:cNvSpPr txBox="1"/>
          <p:nvPr/>
        </p:nvSpPr>
        <p:spPr>
          <a:xfrm>
            <a:off x="731520" y="429768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Error Handling</a:t>
            </a:r>
            <a:endParaRPr/>
          </a:p>
        </p:txBody>
      </p:sp>
      <p:sp>
        <p:nvSpPr>
          <p:cNvPr id="152" name="Google Shape;152;p8"/>
          <p:cNvSpPr/>
          <p:nvPr/>
        </p:nvSpPr>
        <p:spPr>
          <a:xfrm>
            <a:off x="731520" y="475488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[1, 2, 3]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Safe access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if 0 &lt;= index &lt; len(numbers):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value = numbers[index]</a:t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6400800" y="429768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Indexing Key Takeaways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0-based indexing (first = index 0)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Negative from end (-1 = last)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Nested: matrix[row][col]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'in' to check, .index() to find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Always check bounds to avoid IndexError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Slicing</a:t>
            </a:r>
            <a:endParaRPr/>
          </a:p>
        </p:txBody>
      </p:sp>
      <p:sp>
        <p:nvSpPr>
          <p:cNvPr id="160" name="Google Shape;160;p9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Extract portions with [start:stop:step]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Slicing Basics — [start:stop:step]</a:t>
            </a:r>
            <a:endParaRPr/>
          </a:p>
        </p:txBody>
      </p:sp>
      <p:sp>
        <p:nvSpPr>
          <p:cNvPr id="166" name="Google Shape;166;p10"/>
          <p:cNvSpPr/>
          <p:nvPr/>
        </p:nvSpPr>
        <p:spPr>
          <a:xfrm>
            <a:off x="731520" y="137160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[0, 1, 2, 3, 4, 5, 6, 7, 8, 9]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numbers[2:7]  # [2, 3, 4, 5, 6]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numbers[0:5]  # [0, 1, 2, 3, 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numbers[3:6]  # [3, 4, 5] (not 6!)</a:t>
            </a:r>
            <a:endParaRPr/>
          </a:p>
        </p:txBody>
      </p:sp>
      <p:sp>
        <p:nvSpPr>
          <p:cNvPr id="167" name="Google Shape;167;p10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Omitting Start &amp; Stop</a:t>
            </a:r>
            <a:endParaRPr/>
          </a:p>
        </p:txBody>
      </p:sp>
      <p:sp>
        <p:nvSpPr>
          <p:cNvPr id="168" name="Google Shape;168;p10"/>
          <p:cNvSpPr/>
          <p:nvPr/>
        </p:nvSpPr>
        <p:spPr>
          <a:xfrm>
            <a:off x="6400800" y="192024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data = [10, 20, 30, 40, 50, 60, 70]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data[:4]   # [10, 20, 30, 40]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data[3:]   # [40, 50, 60, 70]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data[:]    # Full copy of the list</a:t>
            </a:r>
            <a:endParaRPr/>
          </a:p>
        </p:txBody>
      </p:sp>
      <p:graphicFrame>
        <p:nvGraphicFramePr>
          <p:cNvPr id="169" name="Google Shape;169;p10"/>
          <p:cNvGraphicFramePr/>
          <p:nvPr/>
        </p:nvGraphicFramePr>
        <p:xfrm>
          <a:off x="731520" y="4114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{6C941F02-FC43-49F1-A270-1A01862344CF}</a:tableStyleId>
              </a:tblPr>
              <a:tblGrid>
                <a:gridCol w="5257800"/>
                <a:gridCol w="52578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Pattern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Meaning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[:n]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First n elements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[n:]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From index n to end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[:]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Shallow copy of entire list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  <p:sp>
        <p:nvSpPr>
          <p:cNvPr id="170" name="Google Shape;170;p10"/>
          <p:cNvSpPr/>
          <p:nvPr/>
        </p:nvSpPr>
        <p:spPr>
          <a:xfrm>
            <a:off x="731520" y="5669280"/>
            <a:ext cx="10515600" cy="822960"/>
          </a:xfrm>
          <a:prstGeom prst="roundRect">
            <a:avLst>
              <a:gd fmla="val 16667" name="adj"/>
            </a:avLst>
          </a:prstGeom>
          <a:solidFill>
            <a:srgbClr val="4527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Key Rule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Start is INCLUSIVE, stop is EXCLUSIVE. numbers[2:7] includes index 2 but NOT index 7.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Slicing — Negative Indices &amp; Step</a:t>
            </a:r>
            <a:endParaRPr/>
          </a:p>
        </p:txBody>
      </p:sp>
      <p:sp>
        <p:nvSpPr>
          <p:cNvPr id="176" name="Google Shape;176;p11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Negative Indices</a:t>
            </a:r>
            <a:endParaRPr/>
          </a:p>
        </p:txBody>
      </p:sp>
      <p:sp>
        <p:nvSpPr>
          <p:cNvPr id="177" name="Google Shape;177;p11"/>
          <p:cNvSpPr/>
          <p:nvPr/>
        </p:nvSpPr>
        <p:spPr>
          <a:xfrm>
            <a:off x="333200" y="1874550"/>
            <a:ext cx="5517000" cy="2651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 = [1, 2, 3, 4, 5, 6, 7, 8, 9, 10]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items[-3:]    # [8, 9, 10]  (last 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items[:-2]    # [1..8] (all except last 2)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items[2:-2]   # [3, 4, 5, 6, 7, 8]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items[-5:-2]  # [6, 7, 8]</a:t>
            </a:r>
            <a:endParaRPr/>
          </a:p>
        </p:txBody>
      </p:sp>
      <p:sp>
        <p:nvSpPr>
          <p:cNvPr id="178" name="Google Shape;178;p1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Step Parameter</a:t>
            </a:r>
            <a:endParaRPr/>
          </a:p>
        </p:txBody>
      </p:sp>
      <p:sp>
        <p:nvSpPr>
          <p:cNvPr id="179" name="Google Shape;179;p11"/>
          <p:cNvSpPr/>
          <p:nvPr/>
        </p:nvSpPr>
        <p:spPr>
          <a:xfrm>
            <a:off x="6400800" y="1920250"/>
            <a:ext cx="54276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[0, 1, 2, 3, 4, 5, 6, 7, 8, 9]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numbers[::2]    # [0, 2, 4, 6, 8]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numbers[1::2]   # [1, 3, 5, 7, 9]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numbers[1:8:2]  # [1, 3, 5, 7]</a:t>
            </a:r>
            <a:endParaRPr/>
          </a:p>
        </p:txBody>
      </p:sp>
      <p:sp>
        <p:nvSpPr>
          <p:cNvPr id="180" name="Google Shape;180;p11"/>
          <p:cNvSpPr txBox="1"/>
          <p:nvPr/>
        </p:nvSpPr>
        <p:spPr>
          <a:xfrm>
            <a:off x="731520" y="45720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Reversing with Negative Step</a:t>
            </a:r>
            <a:endParaRPr/>
          </a:p>
        </p:txBody>
      </p:sp>
      <p:sp>
        <p:nvSpPr>
          <p:cNvPr id="181" name="Google Shape;181;p11"/>
          <p:cNvSpPr/>
          <p:nvPr/>
        </p:nvSpPr>
        <p:spPr>
          <a:xfrm>
            <a:off x="333200" y="5029250"/>
            <a:ext cx="5427600" cy="13971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numbers[::-1]  # [9,8,7,6,5,4,3,2,1,0]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numbers[::-2]  # [9, 7, 5, 3, 1]</a:t>
            </a:r>
            <a:endParaRPr/>
          </a:p>
        </p:txBody>
      </p:sp>
      <p:sp>
        <p:nvSpPr>
          <p:cNvPr id="182" name="Google Shape;182;p11"/>
          <p:cNvSpPr/>
          <p:nvPr/>
        </p:nvSpPr>
        <p:spPr>
          <a:xfrm>
            <a:off x="6400800" y="457200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Common Patterns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data[-3:]  — last 3 elements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data[:-3]  — all except last 3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data[::-1] — reversed copy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lst == lst[::-1] — palindrome check!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Slice Assignment &amp; Useful Patterns</a:t>
            </a:r>
            <a:endParaRPr/>
          </a:p>
        </p:txBody>
      </p:sp>
      <p:sp>
        <p:nvSpPr>
          <p:cNvPr id="188" name="Google Shape;188;p12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Slice Assignment</a:t>
            </a:r>
            <a:endParaRPr/>
          </a:p>
        </p:txBody>
      </p:sp>
      <p:sp>
        <p:nvSpPr>
          <p:cNvPr id="189" name="Google Shape;189;p12"/>
          <p:cNvSpPr/>
          <p:nvPr/>
        </p:nvSpPr>
        <p:spPr>
          <a:xfrm>
            <a:off x="345975" y="1920250"/>
            <a:ext cx="54147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3, 4,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nums[1:3] = [20, 30]  # Replace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[1, 20, 30, 4,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nums[1:3] = []  # Delete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[1, 4,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nums[2:2] = [3, 4]  # Insert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[1, 2, 3, 4, 5]</a:t>
            </a:r>
            <a:endParaRPr/>
          </a:p>
        </p:txBody>
      </p:sp>
      <p:sp>
        <p:nvSpPr>
          <p:cNvPr id="190" name="Google Shape;190;p12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Split &amp; Copy</a:t>
            </a:r>
            <a:endParaRPr/>
          </a:p>
        </p:txBody>
      </p:sp>
      <p:sp>
        <p:nvSpPr>
          <p:cNvPr id="191" name="Google Shape;191;p12"/>
          <p:cNvSpPr/>
          <p:nvPr/>
        </p:nvSpPr>
        <p:spPr>
          <a:xfrm>
            <a:off x="6400800" y="1920250"/>
            <a:ext cx="5183700" cy="2560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data = [1, 2, 3, 4, 5, 6, 7, 8]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mid = len(data) // 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first_half = data[:mid]   # [1,2,3,4]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second_half = data[mid:]  # [5,6,7,8]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Shallow copy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copy = data[:]</a:t>
            </a:r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6400800" y="44805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Remove First/Last</a:t>
            </a:r>
            <a:endParaRPr/>
          </a:p>
        </p:txBody>
      </p:sp>
      <p:sp>
        <p:nvSpPr>
          <p:cNvPr id="193" name="Google Shape;193;p12"/>
          <p:cNvSpPr/>
          <p:nvPr/>
        </p:nvSpPr>
        <p:spPr>
          <a:xfrm>
            <a:off x="6400800" y="4937750"/>
            <a:ext cx="5414700" cy="1629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items = ['start', 'a', 'b', 'c', 'end']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core = items[1:-1]  # ['a', 'b', 'c']</a:t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345975" y="5041975"/>
            <a:ext cx="5414700" cy="16290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Slicing Key Takeaways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Creates new list (except assignment)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Stop is exclusive, start inclusive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Negative step reverses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Empty slice for insertion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3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Iterating Through Lists</a:t>
            </a:r>
            <a:endParaRPr/>
          </a:p>
        </p:txBody>
      </p:sp>
      <p:sp>
        <p:nvSpPr>
          <p:cNvPr id="201" name="Google Shape;201;p13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Process collections with loops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For Loop &amp; enumerate()</a:t>
            </a:r>
            <a:endParaRPr/>
          </a:p>
        </p:txBody>
      </p:sp>
      <p:sp>
        <p:nvSpPr>
          <p:cNvPr id="207" name="Google Shape;207;p1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Basic For Loop</a:t>
            </a:r>
            <a:endParaRPr/>
          </a:p>
        </p:txBody>
      </p:sp>
      <p:sp>
        <p:nvSpPr>
          <p:cNvPr id="208" name="Google Shape;208;p14"/>
          <p:cNvSpPr/>
          <p:nvPr/>
        </p:nvSpPr>
        <p:spPr>
          <a:xfrm>
            <a:off x="731525" y="1920251"/>
            <a:ext cx="5412600" cy="3014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['apple', 'banana', 'orange']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fruit in fruits: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print(fruit)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Accumulate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[1, 2, 3, 4, 5]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 = 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num in numbers: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total += num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print(total)  # 15</a:t>
            </a:r>
            <a:endParaRPr/>
          </a:p>
        </p:txBody>
      </p:sp>
      <p:sp>
        <p:nvSpPr>
          <p:cNvPr id="209" name="Google Shape;209;p1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enumerate() — Index + Value</a:t>
            </a:r>
            <a:endParaRPr/>
          </a:p>
        </p:txBody>
      </p:sp>
      <p:sp>
        <p:nvSpPr>
          <p:cNvPr id="210" name="Google Shape;210;p14"/>
          <p:cNvSpPr/>
          <p:nvPr/>
        </p:nvSpPr>
        <p:spPr>
          <a:xfrm>
            <a:off x="6400800" y="1920250"/>
            <a:ext cx="5604900" cy="2743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['apple', 'banana', 'orange']</a:t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i, fruit in enumerate(fruits):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print(f"{i}: {fruit}")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0: apple  1: banana  2: orange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Modify by index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grades = [75, 82, 68]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i, grade in enumerate(grades):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grade &lt; 80: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grades[i] = 80</a:t>
            </a:r>
            <a:endParaRPr/>
          </a:p>
        </p:txBody>
      </p:sp>
      <p:sp>
        <p:nvSpPr>
          <p:cNvPr id="211" name="Google Shape;211;p14"/>
          <p:cNvSpPr/>
          <p:nvPr/>
        </p:nvSpPr>
        <p:spPr>
          <a:xfrm>
            <a:off x="731520" y="5029200"/>
            <a:ext cx="10515600" cy="118872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When to use what?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for item in list  — simple iteration  |  enumerate()  — need index + value  |  for i in range(len(lst))  — need index only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zip() &amp; While Loop Iteration</a:t>
            </a:r>
            <a:endParaRPr/>
          </a:p>
        </p:txBody>
      </p:sp>
      <p:sp>
        <p:nvSpPr>
          <p:cNvPr id="217" name="Google Shape;217;p15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zip() — Parallel Iteration</a:t>
            </a: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731525" y="1920252"/>
            <a:ext cx="5246400" cy="32289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names = ['Alice', 'Bob', 'Charlie']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name, score in zip(names, scores):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print(f"{name}: {score}")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Alice: 85  Bob: 92  Charlie: 78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5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Create dict from two lists!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person = dict(zip(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['name','age'], ['Alice',25]))</a:t>
            </a:r>
            <a:endParaRPr/>
          </a:p>
        </p:txBody>
      </p:sp>
      <p:sp>
        <p:nvSpPr>
          <p:cNvPr id="219" name="Google Shape;219;p15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While Loop — Manual Control</a:t>
            </a: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6400800" y="1920251"/>
            <a:ext cx="5362500" cy="25305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fruits = ['apple', 'banana', 'orange']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 = 0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while i &lt; len(fruits):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print(fruits[i])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 +=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Use when: manual index control,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conditional termination</a:t>
            </a: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6400800" y="4904050"/>
            <a:ext cx="5362500" cy="16458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zip() Key Points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Stops at shortest list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Perfect for related data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Can zip 2+ lists</a:t>
            </a:r>
            <a:b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dict(zip(keys, values)) creates dicts!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Safe Modification While Iterating</a:t>
            </a:r>
            <a:endParaRPr/>
          </a:p>
        </p:txBody>
      </p:sp>
      <p:sp>
        <p:nvSpPr>
          <p:cNvPr id="227" name="Google Shape;227;p16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DON'T — Modify while iterating</a:t>
            </a:r>
            <a:endParaRPr/>
          </a:p>
        </p:txBody>
      </p:sp>
      <p:sp>
        <p:nvSpPr>
          <p:cNvPr id="228" name="Google Shape;228;p16"/>
          <p:cNvSpPr/>
          <p:nvPr/>
        </p:nvSpPr>
        <p:spPr>
          <a:xfrm>
            <a:off x="731520" y="192024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BAD - can skip elements!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num in numbers: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num % 2 == 0: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numbers.remove(num)  # WRONG</a:t>
            </a:r>
            <a:endParaRPr/>
          </a:p>
        </p:txBody>
      </p:sp>
      <p:sp>
        <p:nvSpPr>
          <p:cNvPr id="229" name="Google Shape;229;p16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DO — Iterate over copy</a:t>
            </a:r>
            <a:endParaRPr/>
          </a:p>
        </p:txBody>
      </p:sp>
      <p:sp>
        <p:nvSpPr>
          <p:cNvPr id="230" name="Google Shape;230;p16"/>
          <p:cNvSpPr/>
          <p:nvPr/>
        </p:nvSpPr>
        <p:spPr>
          <a:xfrm>
            <a:off x="6400800" y="192024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GOOD - iterate over copy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num in numbers[:]: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num % 2 == 0: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numbers.remove(num)</a:t>
            </a:r>
            <a:endParaRPr/>
          </a:p>
        </p:txBody>
      </p:sp>
      <p:sp>
        <p:nvSpPr>
          <p:cNvPr id="231" name="Google Shape;231;p16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BEST — List comprehension</a:t>
            </a:r>
            <a:endParaRPr/>
          </a:p>
        </p:txBody>
      </p:sp>
      <p:sp>
        <p:nvSpPr>
          <p:cNvPr id="232" name="Google Shape;232;p16"/>
          <p:cNvSpPr/>
          <p:nvPr/>
        </p:nvSpPr>
        <p:spPr>
          <a:xfrm>
            <a:off x="731520" y="411480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Create new filtered list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numbers = [n for n in numbers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if n % 2 != 0]</a:t>
            </a:r>
            <a:endParaRPr/>
          </a:p>
        </p:txBody>
      </p:sp>
      <p:sp>
        <p:nvSpPr>
          <p:cNvPr id="233" name="Google Shape;233;p16"/>
          <p:cNvSpPr txBox="1"/>
          <p:nvPr/>
        </p:nvSpPr>
        <p:spPr>
          <a:xfrm>
            <a:off x="6400800" y="3657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SAFE — Modify by index</a:t>
            </a:r>
            <a:endParaRPr/>
          </a:p>
        </p:txBody>
      </p:sp>
      <p:sp>
        <p:nvSpPr>
          <p:cNvPr id="234" name="Google Shape;234;p16"/>
          <p:cNvSpPr/>
          <p:nvPr/>
        </p:nvSpPr>
        <p:spPr>
          <a:xfrm>
            <a:off x="6400800" y="4114800"/>
            <a:ext cx="5029200" cy="11887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Safe to modify values by index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range(len(numbers)):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numbers[i] *= 2</a:t>
            </a:r>
            <a:endParaRPr/>
          </a:p>
        </p:txBody>
      </p:sp>
      <p:sp>
        <p:nvSpPr>
          <p:cNvPr id="235" name="Google Shape;235;p16"/>
          <p:cNvSpPr/>
          <p:nvPr/>
        </p:nvSpPr>
        <p:spPr>
          <a:xfrm>
            <a:off x="731520" y="5577840"/>
            <a:ext cx="10515600" cy="914400"/>
          </a:xfrm>
          <a:prstGeom prst="roundRect">
            <a:avLst>
              <a:gd fmla="val 16667" name="adj"/>
            </a:avLst>
          </a:prstGeom>
          <a:solidFill>
            <a:srgbClr val="272745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Iteration Key Takeaways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Use for item in list for simple iteration  |  enumerate() for index  |  zip() for parallel  |  Never modify while iterating directly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17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7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endParaRPr/>
          </a:p>
        </p:txBody>
      </p:sp>
      <p:sp>
        <p:nvSpPr>
          <p:cNvPr id="242" name="Google Shape;242;p17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Reusable blocks of code — write once, use anywhere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8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What Are Functions?</a:t>
            </a:r>
            <a:endParaRPr/>
          </a:p>
        </p:txBody>
      </p:sp>
      <p:sp>
        <p:nvSpPr>
          <p:cNvPr id="248" name="Google Shape;248;p18"/>
          <p:cNvSpPr txBox="1"/>
          <p:nvPr/>
        </p:nvSpPr>
        <p:spPr>
          <a:xfrm>
            <a:off x="731520" y="137160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reusable block of code that performs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a specific task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Write once, call anywhere — DRY principle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(Don't Repeat Yourself)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Hide complexity behind a simple name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(abstraction)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Fix bugs in one place, fixed everywhere</a:t>
            </a:r>
            <a:endParaRPr/>
          </a:p>
        </p:txBody>
      </p:sp>
      <p:sp>
        <p:nvSpPr>
          <p:cNvPr id="249" name="Google Shape;249;p18"/>
          <p:cNvSpPr txBox="1"/>
          <p:nvPr/>
        </p:nvSpPr>
        <p:spPr>
          <a:xfrm>
            <a:off x="731520" y="41148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Real-World Analogy</a:t>
            </a:r>
            <a:endParaRPr/>
          </a:p>
        </p:txBody>
      </p:sp>
      <p:sp>
        <p:nvSpPr>
          <p:cNvPr id="250" name="Google Shape;250;p18"/>
          <p:cNvSpPr txBox="1"/>
          <p:nvPr/>
        </p:nvSpPr>
        <p:spPr>
          <a:xfrm>
            <a:off x="731520" y="4572000"/>
            <a:ext cx="50292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a recipe: define once, cook many times</a:t>
            </a:r>
            <a:endParaRPr/>
          </a:p>
          <a:p>
            <a:pPr indent="0" lvl="0" marL="0" marR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Like Ctrl+C: complex operation, simple name</a:t>
            </a:r>
            <a:endParaRPr/>
          </a:p>
        </p:txBody>
      </p:sp>
      <p:sp>
        <p:nvSpPr>
          <p:cNvPr id="251" name="Google Shape;251;p18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Basic Syntax</a:t>
            </a:r>
            <a:endParaRPr/>
          </a:p>
        </p:txBody>
      </p:sp>
      <p:sp>
        <p:nvSpPr>
          <p:cNvPr id="252" name="Google Shape;252;p18"/>
          <p:cNvSpPr/>
          <p:nvPr/>
        </p:nvSpPr>
        <p:spPr>
          <a:xfrm>
            <a:off x="6400800" y="1920240"/>
            <a:ext cx="5029200" cy="1371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function_name():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Function body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# Code to execute</a:t>
            </a:r>
            <a:endParaRPr/>
          </a:p>
        </p:txBody>
      </p:sp>
      <p:sp>
        <p:nvSpPr>
          <p:cNvPr id="253" name="Google Shape;253;p18"/>
          <p:cNvSpPr txBox="1"/>
          <p:nvPr/>
        </p:nvSpPr>
        <p:spPr>
          <a:xfrm>
            <a:off x="6400800" y="356616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Simple Example</a:t>
            </a:r>
            <a:endParaRPr/>
          </a:p>
        </p:txBody>
      </p:sp>
      <p:sp>
        <p:nvSpPr>
          <p:cNvPr id="254" name="Google Shape;254;p18"/>
          <p:cNvSpPr/>
          <p:nvPr/>
        </p:nvSpPr>
        <p:spPr>
          <a:xfrm>
            <a:off x="6400800" y="402336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say_hello():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print("Hello, World!")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Call the function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say_hello()  # Hello, World!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say_hello()  # Call it again!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Function Naming &amp; Calling Functions</a:t>
            </a:r>
            <a:endParaRPr/>
          </a:p>
        </p:txBody>
      </p:sp>
      <p:sp>
        <p:nvSpPr>
          <p:cNvPr id="260" name="Google Shape;260;p19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Good Names (verb-based)</a:t>
            </a:r>
            <a:endParaRPr/>
          </a:p>
        </p:txBody>
      </p:sp>
      <p:sp>
        <p:nvSpPr>
          <p:cNvPr id="261" name="Google Shape;261;p19"/>
          <p:cNvSpPr/>
          <p:nvPr/>
        </p:nvSpPr>
        <p:spPr>
          <a:xfrm>
            <a:off x="731520" y="192024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calculate_total():  pass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send_email():      pass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validate_input():  pass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Avoid: func1(), do_stuff()</a:t>
            </a:r>
            <a:endParaRPr/>
          </a:p>
        </p:txBody>
      </p:sp>
      <p:sp>
        <p:nvSpPr>
          <p:cNvPr id="262" name="Google Shape;262;p1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Functions Calling Functions</a:t>
            </a:r>
            <a:endParaRPr/>
          </a:p>
        </p:txBody>
      </p:sp>
      <p:sp>
        <p:nvSpPr>
          <p:cNvPr id="263" name="Google Shape;263;p19"/>
          <p:cNvSpPr/>
          <p:nvPr/>
        </p:nvSpPr>
        <p:spPr>
          <a:xfrm>
            <a:off x="6400800" y="1920250"/>
            <a:ext cx="5490000" cy="25602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print_header():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print("=" * 40)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print("Welcome to My Program")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print("=" * 40)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show_welcome():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print_header()  # Call another fn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print("\nChoose an option:")</a:t>
            </a:r>
            <a:endParaRPr/>
          </a:p>
        </p:txBody>
      </p:sp>
      <p:sp>
        <p:nvSpPr>
          <p:cNvPr id="264" name="Google Shape;264;p19"/>
          <p:cNvSpPr/>
          <p:nvPr/>
        </p:nvSpPr>
        <p:spPr>
          <a:xfrm>
            <a:off x="838032" y="5174775"/>
            <a:ext cx="10515600" cy="137160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Function Key Takeaways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def keyword defines functions  |  Call with () parentheses  |  Verb-based naming  |  Reusable — call multiple times  |  Functions can call other functions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0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0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Function Parameters</a:t>
            </a:r>
            <a:endParaRPr/>
          </a:p>
        </p:txBody>
      </p:sp>
      <p:sp>
        <p:nvSpPr>
          <p:cNvPr id="271" name="Google Shape;271;p20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Making functions flexible with inputs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1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Function Parameters &amp; Arguments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Single Parameter</a:t>
            </a:r>
            <a:endParaRPr/>
          </a:p>
        </p:txBody>
      </p:sp>
      <p:sp>
        <p:nvSpPr>
          <p:cNvPr id="278" name="Google Shape;278;p21"/>
          <p:cNvSpPr/>
          <p:nvPr/>
        </p:nvSpPr>
        <p:spPr>
          <a:xfrm>
            <a:off x="73152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greet(name):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print(f"Hello, {name}!")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greet("Alice")  # Hello, Alice!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greet("Bob")    # Hello, Bob!</a:t>
            </a:r>
            <a:endParaRPr/>
          </a:p>
        </p:txBody>
      </p:sp>
      <p:sp>
        <p:nvSpPr>
          <p:cNvPr id="279" name="Google Shape;279;p21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Multiple Parameters</a:t>
            </a:r>
            <a:endParaRPr/>
          </a:p>
        </p:txBody>
      </p:sp>
      <p:sp>
        <p:nvSpPr>
          <p:cNvPr id="280" name="Google Shape;280;p21"/>
          <p:cNvSpPr/>
          <p:nvPr/>
        </p:nvSpPr>
        <p:spPr>
          <a:xfrm>
            <a:off x="6400800" y="1920240"/>
            <a:ext cx="5029200" cy="18288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add_numbers(a, b):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result = a + b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print(f"{a} + {b} = {result}")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add_numbers(5, 3)    # 5 + 3 = 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add_numbers(10, 20)  # 10 + 20 = 30</a:t>
            </a:r>
            <a:endParaRPr/>
          </a:p>
        </p:txBody>
      </p:sp>
      <p:sp>
        <p:nvSpPr>
          <p:cNvPr id="281" name="Google Shape;281;p21"/>
          <p:cNvSpPr txBox="1"/>
          <p:nvPr/>
        </p:nvSpPr>
        <p:spPr>
          <a:xfrm>
            <a:off x="731520" y="3931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Parameters vs Arguments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731525" y="4389127"/>
            <a:ext cx="5298600" cy="2024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greet(name):   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print(f"Hello, {name}")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greet("Alice")     # "Alice" = argument</a:t>
            </a:r>
            <a:endParaRPr/>
          </a:p>
        </p:txBody>
      </p:sp>
      <p:sp>
        <p:nvSpPr>
          <p:cNvPr id="283" name="Google Shape;283;p21"/>
          <p:cNvSpPr txBox="1"/>
          <p:nvPr/>
        </p:nvSpPr>
        <p:spPr>
          <a:xfrm>
            <a:off x="6400800" y="39319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Order Matters!</a:t>
            </a:r>
            <a:endParaRPr/>
          </a:p>
        </p:txBody>
      </p:sp>
      <p:sp>
        <p:nvSpPr>
          <p:cNvPr id="284" name="Google Shape;284;p21"/>
          <p:cNvSpPr/>
          <p:nvPr/>
        </p:nvSpPr>
        <p:spPr>
          <a:xfrm>
            <a:off x="6400800" y="4389127"/>
            <a:ext cx="5298600" cy="20244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intro(name, age):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print(f"{name} is {age} yrs old")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intro("Alice", 25)  # Correct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intro(25, "Alice")  # Wrong order!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22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2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Return Values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Sending results back from functions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3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The return Statement</a:t>
            </a:r>
            <a:endParaRPr/>
          </a:p>
        </p:txBody>
      </p:sp>
      <p:sp>
        <p:nvSpPr>
          <p:cNvPr id="297" name="Google Shape;297;p23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Return a Number</a:t>
            </a:r>
            <a:endParaRPr/>
          </a:p>
        </p:txBody>
      </p:sp>
      <p:sp>
        <p:nvSpPr>
          <p:cNvPr id="298" name="Google Shape;298;p23"/>
          <p:cNvSpPr/>
          <p:nvPr/>
        </p:nvSpPr>
        <p:spPr>
          <a:xfrm>
            <a:off x="73152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add(a, b):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a + b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add(5, 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# 8</a:t>
            </a:r>
            <a:endParaRPr/>
          </a:p>
        </p:txBody>
      </p:sp>
      <p:sp>
        <p:nvSpPr>
          <p:cNvPr id="299" name="Google Shape;299;p23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Return a String</a:t>
            </a:r>
            <a:endParaRPr/>
          </a:p>
        </p:txBody>
      </p:sp>
      <p:sp>
        <p:nvSpPr>
          <p:cNvPr id="300" name="Google Shape;300;p23"/>
          <p:cNvSpPr/>
          <p:nvPr/>
        </p:nvSpPr>
        <p:spPr>
          <a:xfrm>
            <a:off x="6400800" y="1920240"/>
            <a:ext cx="50292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make_greeting(name):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f"Hello, {name}!"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msg = make_greeting("Alice")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print(msg)  # Hello, Alice!</a:t>
            </a:r>
            <a:endParaRPr/>
          </a:p>
        </p:txBody>
      </p:sp>
      <p:sp>
        <p:nvSpPr>
          <p:cNvPr id="301" name="Google Shape;301;p23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Multiple Return Statements</a:t>
            </a: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731525" y="4389126"/>
            <a:ext cx="10827300" cy="22926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check_number(num):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if num &gt; 0:    return "Positive"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elif num &lt; 0:  return "Negative"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else:          return "Zero"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print(check_number(5))   # Positive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print(check_number(-3))  # Negative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print(check_number(0))   # Zero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4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Return vs Print — Critical Difference</a:t>
            </a:r>
            <a:endParaRPr/>
          </a:p>
        </p:txBody>
      </p:sp>
      <p:sp>
        <p:nvSpPr>
          <p:cNvPr id="308" name="Google Shape;308;p24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AB387"/>
                </a:solidFill>
                <a:latin typeface="Calibri"/>
                <a:ea typeface="Calibri"/>
                <a:cs typeface="Calibri"/>
                <a:sym typeface="Calibri"/>
              </a:rPr>
              <a:t>print() — Displays, returns None</a:t>
            </a:r>
            <a:endParaRPr/>
          </a:p>
        </p:txBody>
      </p:sp>
      <p:sp>
        <p:nvSpPr>
          <p:cNvPr id="309" name="Google Shape;309;p24"/>
          <p:cNvSpPr/>
          <p:nvPr/>
        </p:nvSpPr>
        <p:spPr>
          <a:xfrm>
            <a:off x="73152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add_print(a, b):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print(a + b)  # Displays 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add_print(5, 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# None!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Can't use it in calculations!</a:t>
            </a:r>
            <a:endParaRPr/>
          </a:p>
        </p:txBody>
      </p:sp>
      <p:sp>
        <p:nvSpPr>
          <p:cNvPr id="310" name="Google Shape;310;p24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return — Sends value back</a:t>
            </a:r>
            <a:endParaRPr/>
          </a:p>
        </p:txBody>
      </p:sp>
      <p:sp>
        <p:nvSpPr>
          <p:cNvPr id="311" name="Google Shape;311;p24"/>
          <p:cNvSpPr/>
          <p:nvPr/>
        </p:nvSpPr>
        <p:spPr>
          <a:xfrm>
            <a:off x="6400800" y="1920240"/>
            <a:ext cx="5029200" cy="201168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add_return(a, b):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a + b  # Returns 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add_return(5, 3)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print(result)  # 8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total = result * 2  # Can use it!</a:t>
            </a:r>
            <a:endParaRPr/>
          </a:p>
        </p:txBody>
      </p:sp>
      <p:graphicFrame>
        <p:nvGraphicFramePr>
          <p:cNvPr id="312" name="Google Shape;312;p24"/>
          <p:cNvGraphicFramePr/>
          <p:nvPr/>
        </p:nvGraphicFramePr>
        <p:xfrm>
          <a:off x="731520" y="42976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{6C941F02-FC43-49F1-A270-1A01862344CF}</a:tableStyleId>
              </a:tblPr>
              <a:tblGrid>
                <a:gridCol w="3505200"/>
                <a:gridCol w="3505200"/>
                <a:gridCol w="3505200"/>
              </a:tblGrid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800" u="none" cap="none" strike="noStrike">
                        <a:solidFill>
                          <a:srgbClr val="1E1E2E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print()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800" u="none" cap="none" strike="noStrike">
                          <a:solidFill>
                            <a:srgbClr val="1E1E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return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89B4F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Does what?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Shows text to user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Sends value back to code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  <a:tr h="38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Value after?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None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>
                          <a:solidFill>
                            <a:srgbClr val="CDD6F4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The computed value</a:t>
                      </a:r>
                      <a:endParaRPr/>
                    </a:p>
                  </a:txBody>
                  <a:tcPr marT="76200" marB="76200" marR="127000" marL="127000">
                    <a:solidFill>
                      <a:srgbClr val="2424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5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Return — Key Takeaways</a:t>
            </a:r>
            <a:endParaRPr/>
          </a:p>
        </p:txBody>
      </p:sp>
      <p:sp>
        <p:nvSpPr>
          <p:cNvPr id="318" name="Google Shape;318;p25"/>
          <p:cNvSpPr txBox="1"/>
          <p:nvPr/>
        </p:nvSpPr>
        <p:spPr>
          <a:xfrm>
            <a:off x="731520" y="1463040"/>
            <a:ext cx="100584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1.  return sends a value back to the caller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2.  Exits the function immediately — code after return won't run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3.  Store result in a variable: result = add(5, 3)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4.  Use in expressions: total = add(5, 3) * 2</a:t>
            </a:r>
            <a:endParaRPr/>
          </a:p>
          <a:p>
            <a:pPr indent="0" lvl="0" marL="0" marR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5.  return vs print: return gives value, print just displays</a:t>
            </a:r>
            <a:endParaRPr/>
          </a:p>
        </p:txBody>
      </p:sp>
      <p:sp>
        <p:nvSpPr>
          <p:cNvPr id="319" name="Google Shape;319;p25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The Power of Composition</a:t>
            </a:r>
            <a:endParaRPr/>
          </a:p>
        </p:txBody>
      </p:sp>
      <p:sp>
        <p:nvSpPr>
          <p:cNvPr id="320" name="Google Shape;320;p25"/>
          <p:cNvSpPr/>
          <p:nvPr/>
        </p:nvSpPr>
        <p:spPr>
          <a:xfrm>
            <a:off x="731520" y="4846320"/>
            <a:ext cx="10515600" cy="164592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Chain functions — outputs become inputs!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double(x):   return x * 2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add_one(x):  return x + 1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7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result = add_one(double(5))  # double(5)=10, add_one(10)=11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4243A"/>
        </a:solidFill>
      </p:bgPr>
    </p:bg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6"/>
          <p:cNvSpPr/>
          <p:nvPr/>
        </p:nvSpPr>
        <p:spPr>
          <a:xfrm>
            <a:off x="0" y="2926080"/>
            <a:ext cx="137160" cy="1005840"/>
          </a:xfrm>
          <a:prstGeom prst="rect">
            <a:avLst/>
          </a:prstGeom>
          <a:solidFill>
            <a:srgbClr val="89B4F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26"/>
          <p:cNvSpPr txBox="1"/>
          <p:nvPr/>
        </p:nvSpPr>
        <p:spPr>
          <a:xfrm>
            <a:off x="731520" y="2286000"/>
            <a:ext cx="100584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Default Parameters</a:t>
            </a:r>
            <a:endParaRPr/>
          </a:p>
        </p:txBody>
      </p:sp>
      <p:sp>
        <p:nvSpPr>
          <p:cNvPr id="327" name="Google Shape;327;p26"/>
          <p:cNvSpPr txBox="1"/>
          <p:nvPr/>
        </p:nvSpPr>
        <p:spPr>
          <a:xfrm>
            <a:off x="731520" y="384048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Optional arguments with sensible defaults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7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Default Parameters — Examples</a:t>
            </a:r>
            <a:endParaRPr/>
          </a:p>
        </p:txBody>
      </p:sp>
      <p:sp>
        <p:nvSpPr>
          <p:cNvPr id="333" name="Google Shape;333;p27"/>
          <p:cNvSpPr txBox="1"/>
          <p:nvPr/>
        </p:nvSpPr>
        <p:spPr>
          <a:xfrm>
            <a:off x="73152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Basic Default Parameter</a:t>
            </a:r>
            <a:endParaRPr/>
          </a:p>
        </p:txBody>
      </p:sp>
      <p:sp>
        <p:nvSpPr>
          <p:cNvPr id="334" name="Google Shape;334;p27"/>
          <p:cNvSpPr/>
          <p:nvPr/>
        </p:nvSpPr>
        <p:spPr>
          <a:xfrm>
            <a:off x="731520" y="192024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greet(name, greeting="Hello"):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f"{greeting}, {name}!"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greet("Alice")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"Hello, Alice!" (uses default)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greet("Bob", "Hi")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"Hi, Bob!" (overrides default)</a:t>
            </a:r>
            <a:endParaRPr/>
          </a:p>
        </p:txBody>
      </p:sp>
      <p:sp>
        <p:nvSpPr>
          <p:cNvPr id="335" name="Google Shape;335;p27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Multiple Defaults</a:t>
            </a:r>
            <a:endParaRPr/>
          </a:p>
        </p:txBody>
      </p:sp>
      <p:sp>
        <p:nvSpPr>
          <p:cNvPr id="336" name="Google Shape;336;p27"/>
          <p:cNvSpPr/>
          <p:nvPr/>
        </p:nvSpPr>
        <p:spPr>
          <a:xfrm>
            <a:off x="6400800" y="1920256"/>
            <a:ext cx="5477400" cy="44037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def create_user(username, email,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role="user",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active=True):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{"username": username,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"email": email,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"role": role,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"active": active}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Only required params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create_user("alice", "a@ex.com")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Override one default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create_user("bob", "b@ex.com",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role="admin")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9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Default Parameters — Design Principles</a:t>
            </a:r>
            <a:endParaRPr/>
          </a:p>
        </p:txBody>
      </p:sp>
      <p:sp>
        <p:nvSpPr>
          <p:cNvPr id="342" name="Google Shape;342;p29"/>
          <p:cNvSpPr txBox="1"/>
          <p:nvPr/>
        </p:nvSpPr>
        <p:spPr>
          <a:xfrm>
            <a:off x="731520" y="146304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Defaults should match the 90% use case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Makes common cases simple, complex</a:t>
            </a:r>
            <a:b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cases still possible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Follows Principle of Least Surprise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Required params first, then defaults</a:t>
            </a:r>
            <a:endParaRPr/>
          </a:p>
        </p:txBody>
      </p:sp>
      <p:sp>
        <p:nvSpPr>
          <p:cNvPr id="343" name="Google Shape;343;p29"/>
          <p:cNvSpPr txBox="1"/>
          <p:nvPr/>
        </p:nvSpPr>
        <p:spPr>
          <a:xfrm>
            <a:off x="6400800" y="137160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9E2AF"/>
                </a:solidFill>
                <a:latin typeface="Calibri"/>
                <a:ea typeface="Calibri"/>
                <a:cs typeface="Calibri"/>
                <a:sym typeface="Calibri"/>
              </a:rPr>
              <a:t>Python Uses This Everywhere!</a:t>
            </a:r>
            <a:endParaRPr/>
          </a:p>
        </p:txBody>
      </p:sp>
      <p:sp>
        <p:nvSpPr>
          <p:cNvPr id="344" name="Google Shape;344;p29"/>
          <p:cNvSpPr/>
          <p:nvPr/>
        </p:nvSpPr>
        <p:spPr>
          <a:xfrm>
            <a:off x="6400800" y="1920240"/>
            <a:ext cx="5029200" cy="2286000"/>
          </a:xfrm>
          <a:prstGeom prst="roundRect">
            <a:avLst>
              <a:gd fmla="val 16667" name="adj"/>
            </a:avLst>
          </a:prstGeom>
          <a:solidFill>
            <a:srgbClr val="313244"/>
          </a:solidFill>
          <a:ln>
            <a:noFill/>
          </a:ln>
        </p:spPr>
        <p:txBody>
          <a:bodyPr anchorCtr="0" anchor="ctr" bIns="177800" lIns="228600" spcFirstLastPara="1" rIns="228600" wrap="square" tIns="1778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Python's own print() function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print(value, sep=' ', end='\n')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A6E3A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You rarely change sep or end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But you CAN when needed: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print(1, 2, 3, sep=', ')</a:t>
            </a:r>
            <a:endParaRPr/>
          </a:p>
          <a:p>
            <a:pPr indent="0" lvl="0" marL="0" marR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A6E3A1"/>
                </a:solidFill>
                <a:latin typeface="Courier New"/>
                <a:ea typeface="Courier New"/>
                <a:cs typeface="Courier New"/>
                <a:sym typeface="Courier New"/>
              </a:rPr>
              <a:t># 1, 2, 3</a:t>
            </a:r>
            <a:endParaRPr/>
          </a:p>
        </p:txBody>
      </p:sp>
      <p:sp>
        <p:nvSpPr>
          <p:cNvPr id="345" name="Google Shape;345;p29"/>
          <p:cNvSpPr/>
          <p:nvPr/>
        </p:nvSpPr>
        <p:spPr>
          <a:xfrm>
            <a:off x="731520" y="4572000"/>
            <a:ext cx="10515600" cy="1645920"/>
          </a:xfrm>
          <a:prstGeom prst="roundRect">
            <a:avLst>
              <a:gd fmla="val 16667" name="adj"/>
            </a:avLst>
          </a:prstGeom>
          <a:solidFill>
            <a:srgbClr val="27352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152400" lIns="228600" spcFirstLastPara="1" rIns="228600" wrap="square" tIns="1524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A6E3A1"/>
                </a:solidFill>
                <a:latin typeface="Calibri"/>
                <a:ea typeface="Calibri"/>
                <a:cs typeface="Calibri"/>
                <a:sym typeface="Calibri"/>
              </a:rPr>
              <a:t>Default Parameters Key Takeaways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Provide sensible defaults for common cases  |  Override only when needed  |  Required params before defaults  |  Never use mutable defaults (lists, dicts) — use None instead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2E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0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254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89B4FA"/>
                </a:solidFill>
                <a:latin typeface="Calibri"/>
                <a:ea typeface="Calibri"/>
                <a:cs typeface="Calibri"/>
                <a:sym typeface="Calibri"/>
              </a:rPr>
              <a:t>Session 04 — Key Takeaways</a:t>
            </a:r>
            <a:endParaRPr/>
          </a:p>
        </p:txBody>
      </p:sp>
      <p:sp>
        <p:nvSpPr>
          <p:cNvPr id="351" name="Google Shape;351;p30"/>
          <p:cNvSpPr txBox="1"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Lists — ordered, mutable collections;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create with [], list(), range()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Indexing — 0-based, negative from end;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O(1) random access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Slicing — [start:stop:step]; stop is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exclusive; creates new list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Iteration — for, enumerate(), zip();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never modify while iterating</a:t>
            </a:r>
            <a:endParaRPr/>
          </a:p>
        </p:txBody>
      </p:sp>
      <p:sp>
        <p:nvSpPr>
          <p:cNvPr id="352" name="Google Shape;352;p30"/>
          <p:cNvSpPr txBox="1"/>
          <p:nvPr/>
        </p:nvSpPr>
        <p:spPr>
          <a:xfrm>
            <a:off x="6400800" y="1371600"/>
            <a:ext cx="50292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25400" lIns="50800" spcFirstLastPara="1" rIns="5080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Functions — def keyword; reusable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blocks; DRY principle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Parameters — inputs to functions;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positional order matters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Return — sends value back; enables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composition; return != print</a:t>
            </a:r>
            <a:endParaRPr/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Default Params — sensible defaults;</a:t>
            </a:r>
            <a:b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900" u="none" cap="none" strike="noStrike">
                <a:solidFill>
                  <a:srgbClr val="CDD6F4"/>
                </a:solidFill>
                <a:latin typeface="Calibri"/>
                <a:ea typeface="Calibri"/>
                <a:cs typeface="Calibri"/>
                <a:sym typeface="Calibri"/>
              </a:rPr>
              <a:t>never use mutable defaults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